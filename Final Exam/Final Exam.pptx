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69" r:id="rId5"/>
    <p:sldId id="257" r:id="rId6"/>
    <p:sldId id="258" r:id="rId7"/>
    <p:sldId id="260" r:id="rId8"/>
    <p:sldId id="265" r:id="rId9"/>
    <p:sldId id="261" r:id="rId10"/>
    <p:sldId id="263" r:id="rId11"/>
    <p:sldId id="264" r:id="rId12"/>
    <p:sldId id="271"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9.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30.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31.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3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4.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135.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36.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37.xml"/><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Mobile Programming</a:t>
            </a:r>
            <a:br>
              <a:rPr lang="en-US"/>
            </a:br>
            <a:r>
              <a:rPr lang="en-US"/>
              <a:t>Final Exam</a:t>
            </a:r>
            <a:endParaRPr lang="en-US"/>
          </a:p>
        </p:txBody>
      </p:sp>
      <p:sp>
        <p:nvSpPr>
          <p:cNvPr id="3" name="Subtitle 2"/>
          <p:cNvSpPr>
            <a:spLocks noGrp="1"/>
          </p:cNvSpPr>
          <p:nvPr>
            <p:ph type="subTitle" idx="1"/>
            <p:custDataLst>
              <p:tags r:id="rId2"/>
            </p:custDataLst>
          </p:nvPr>
        </p:nvSpPr>
        <p:spPr/>
        <p:txBody>
          <a:bodyPr/>
          <a:p>
            <a:r>
              <a:rPr lang="en-US"/>
              <a:t>Shukirillaev Mukhammadsodik 202438379</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87015" y="2641600"/>
            <a:ext cx="6617970" cy="1014730"/>
          </a:xfrm>
          <a:prstGeom prst="rect">
            <a:avLst/>
          </a:prstGeom>
          <a:noFill/>
        </p:spPr>
        <p:txBody>
          <a:bodyPr wrap="square" rtlCol="0">
            <a:spAutoFit/>
          </a:bodyPr>
          <a:p>
            <a:r>
              <a:rPr lang="en-US" sz="6000">
                <a:latin typeface="Arial" panose="020B0604020202090204" pitchFamily="34" charset="0"/>
                <a:cs typeface="Arial" panose="020B0604020202090204" pitchFamily="34" charset="0"/>
              </a:rPr>
              <a:t>Theory Questions</a:t>
            </a:r>
            <a:endParaRPr lang="en-US" sz="6000">
              <a:latin typeface="Arial" panose="020B0604020202090204" pitchFamily="34" charset="0"/>
              <a:cs typeface="Arial" panose="020B060402020209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762000" y="595630"/>
            <a:ext cx="10008870" cy="1291590"/>
          </a:xfrm>
          <a:prstGeom prst="rect">
            <a:avLst/>
          </a:prstGeom>
          <a:noFill/>
        </p:spPr>
        <p:txBody>
          <a:bodyPr wrap="square" rtlCol="0">
            <a:spAutoFit/>
          </a:bodyPr>
          <a:p>
            <a:r>
              <a:rPr lang="en-US" altLang="en-US" sz="2400" b="1">
                <a:latin typeface="Arial Bold" panose="020B0604020202090204" charset="0"/>
                <a:cs typeface="Arial Bold" panose="020B0604020202090204" charset="0"/>
              </a:rPr>
              <a:t>Class</a:t>
            </a:r>
            <a:endParaRPr lang="en-US" altLang="en-US" sz="2400" b="1">
              <a:latin typeface="Arial Bold" panose="020B0604020202090204" charset="0"/>
              <a:cs typeface="Arial Bold" panose="020B0604020202090204" charset="0"/>
            </a:endParaRPr>
          </a:p>
          <a:p>
            <a:pPr indent="457200"/>
            <a:r>
              <a:rPr lang="en-US" altLang="en-US"/>
              <a:t>A </a:t>
            </a:r>
            <a:r>
              <a:rPr lang="en-US" altLang="en-US" i="1">
                <a:latin typeface="Arial Italic" panose="020B0604020202090204" charset="0"/>
                <a:cs typeface="Arial Italic" panose="020B0604020202090204" charset="0"/>
              </a:rPr>
              <a:t>class</a:t>
            </a:r>
            <a:r>
              <a:rPr lang="en-US" altLang="en-US"/>
              <a:t> is a blueprint or template that defines the properties (fields) and behaviors (methods) of objects. It doesn't hold data itself, it just describes the structure. As you can see on the screenshot, there structure doesn’t hold the data but just gives a blueprint</a:t>
            </a:r>
            <a:endParaRPr lang="en-US" altLang="en-US"/>
          </a:p>
        </p:txBody>
      </p:sp>
      <p:pic>
        <p:nvPicPr>
          <p:cNvPr id="6" name="Picture 5" descr="Screenshot 2026-06-10 at 12.11.04 PM"/>
          <p:cNvPicPr>
            <a:picLocks noChangeAspect="1"/>
          </p:cNvPicPr>
          <p:nvPr/>
        </p:nvPicPr>
        <p:blipFill>
          <a:blip r:embed="rId1"/>
          <a:stretch>
            <a:fillRect/>
          </a:stretch>
        </p:blipFill>
        <p:spPr>
          <a:xfrm>
            <a:off x="2362835" y="2339975"/>
            <a:ext cx="6807200" cy="3200400"/>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653415" y="207645"/>
            <a:ext cx="8917940" cy="1014730"/>
          </a:xfrm>
          <a:prstGeom prst="rect">
            <a:avLst/>
          </a:prstGeom>
          <a:noFill/>
        </p:spPr>
        <p:txBody>
          <a:bodyPr wrap="square" rtlCol="0">
            <a:spAutoFit/>
          </a:bodyPr>
          <a:p>
            <a:r>
              <a:rPr lang="en-US" altLang="en-US" sz="2400" b="1">
                <a:latin typeface="Arial Bold" panose="020B0604020202090204" charset="0"/>
                <a:cs typeface="Arial Bold" panose="020B0604020202090204" charset="0"/>
              </a:rPr>
              <a:t>Object</a:t>
            </a:r>
            <a:endParaRPr lang="en-US" altLang="en-US" sz="2400" b="1">
              <a:latin typeface="Arial Bold" panose="020B0604020202090204" charset="0"/>
              <a:cs typeface="Arial Bold" panose="020B0604020202090204" charset="0"/>
            </a:endParaRPr>
          </a:p>
          <a:p>
            <a:pPr indent="457200"/>
            <a:r>
              <a:rPr lang="en-US" altLang="en-US"/>
              <a:t>An </a:t>
            </a:r>
            <a:r>
              <a:rPr lang="en-US" altLang="en-US" i="1">
                <a:latin typeface="Arial Italic" panose="020B0604020202090204" charset="0"/>
                <a:cs typeface="Arial Italic" panose="020B0604020202090204" charset="0"/>
              </a:rPr>
              <a:t>object </a:t>
            </a:r>
            <a:r>
              <a:rPr lang="en-US" altLang="en-US"/>
              <a:t>is an instance of a class a concrete entity created from the blueprint, with actual data stored in memory. You can see it on the screenshot:</a:t>
            </a:r>
            <a:endParaRPr lang="en-US"/>
          </a:p>
        </p:txBody>
      </p:sp>
      <p:pic>
        <p:nvPicPr>
          <p:cNvPr id="6" name="Picture 5" descr="Screenshot 2026-06-10 at 12.15.04 PM"/>
          <p:cNvPicPr>
            <a:picLocks noChangeAspect="1"/>
          </p:cNvPicPr>
          <p:nvPr/>
        </p:nvPicPr>
        <p:blipFill>
          <a:blip r:embed="rId1"/>
          <a:stretch>
            <a:fillRect/>
          </a:stretch>
        </p:blipFill>
        <p:spPr>
          <a:xfrm>
            <a:off x="653415" y="1423670"/>
            <a:ext cx="6545580" cy="4484370"/>
          </a:xfrm>
          <a:prstGeom prst="rect">
            <a:avLst/>
          </a:prstGeom>
        </p:spPr>
      </p:pic>
      <p:pic>
        <p:nvPicPr>
          <p:cNvPr id="7" name="Picture 6" descr="Screenshot 2026-06-10 at 12.15.36 PM"/>
          <p:cNvPicPr>
            <a:picLocks noChangeAspect="1"/>
          </p:cNvPicPr>
          <p:nvPr/>
        </p:nvPicPr>
        <p:blipFill>
          <a:blip r:embed="rId2"/>
          <a:stretch>
            <a:fillRect/>
          </a:stretch>
        </p:blipFill>
        <p:spPr>
          <a:xfrm>
            <a:off x="7286625" y="2682240"/>
            <a:ext cx="4400550" cy="2112010"/>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64490" y="220345"/>
            <a:ext cx="10796270" cy="1014730"/>
          </a:xfrm>
          <a:prstGeom prst="rect">
            <a:avLst/>
          </a:prstGeom>
          <a:noFill/>
        </p:spPr>
        <p:txBody>
          <a:bodyPr wrap="square" rtlCol="0">
            <a:spAutoFit/>
          </a:bodyPr>
          <a:p>
            <a:r>
              <a:rPr lang="en-US" altLang="en-US" sz="2400" b="1">
                <a:latin typeface="Arial Bold" panose="020B0604020202090204" charset="0"/>
                <a:cs typeface="Arial Bold" panose="020B0604020202090204" charset="0"/>
              </a:rPr>
              <a:t>Constructor</a:t>
            </a:r>
            <a:endParaRPr lang="en-US" altLang="en-US"/>
          </a:p>
          <a:p>
            <a:pPr indent="457200"/>
            <a:r>
              <a:rPr lang="en-US" altLang="en-US"/>
              <a:t>A </a:t>
            </a:r>
            <a:r>
              <a:rPr lang="en-US" altLang="en-US" i="1">
                <a:latin typeface="Arial Italic" panose="020B0604020202090204" charset="0"/>
                <a:cs typeface="Arial Italic" panose="020B0604020202090204" charset="0"/>
              </a:rPr>
              <a:t>constructor</a:t>
            </a:r>
            <a:r>
              <a:rPr lang="en-US" altLang="en-US"/>
              <a:t> is a special method that runs automatically when an object is created. It has the same name as the class and no return type. It's used to initialize the object's fields. And here is the example:</a:t>
            </a:r>
            <a:endParaRPr lang="en-US" altLang="en-US"/>
          </a:p>
        </p:txBody>
      </p:sp>
      <p:pic>
        <p:nvPicPr>
          <p:cNvPr id="4" name="Picture 3" descr="Screenshot 2026-06-10 at 12.16.29 PM"/>
          <p:cNvPicPr>
            <a:picLocks noChangeAspect="1"/>
          </p:cNvPicPr>
          <p:nvPr/>
        </p:nvPicPr>
        <p:blipFill>
          <a:blip r:embed="rId1"/>
          <a:stretch>
            <a:fillRect/>
          </a:stretch>
        </p:blipFill>
        <p:spPr>
          <a:xfrm>
            <a:off x="229235" y="1254760"/>
            <a:ext cx="7981315" cy="5304155"/>
          </a:xfrm>
          <a:prstGeom prst="rect">
            <a:avLst/>
          </a:prstGeom>
        </p:spPr>
      </p:pic>
      <p:pic>
        <p:nvPicPr>
          <p:cNvPr id="5" name="Picture 4" descr="Screenshot 2026-06-10 at 12.16.50 PM"/>
          <p:cNvPicPr>
            <a:picLocks noChangeAspect="1"/>
          </p:cNvPicPr>
          <p:nvPr/>
        </p:nvPicPr>
        <p:blipFill>
          <a:blip r:embed="rId2"/>
          <a:stretch>
            <a:fillRect/>
          </a:stretch>
        </p:blipFill>
        <p:spPr>
          <a:xfrm>
            <a:off x="8316595" y="2926715"/>
            <a:ext cx="3474720" cy="195961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87015" y="2143125"/>
            <a:ext cx="6617970" cy="1014730"/>
          </a:xfrm>
          <a:prstGeom prst="rect">
            <a:avLst/>
          </a:prstGeom>
          <a:noFill/>
        </p:spPr>
        <p:txBody>
          <a:bodyPr wrap="square" rtlCol="0">
            <a:spAutoFit/>
          </a:bodyPr>
          <a:p>
            <a:pPr algn="ctr"/>
            <a:r>
              <a:rPr lang="en-US" sz="6000">
                <a:latin typeface="Arial" panose="020B0604020202090204" pitchFamily="34" charset="0"/>
                <a:cs typeface="Arial" panose="020B0604020202090204" pitchFamily="34" charset="0"/>
              </a:rPr>
              <a:t>Coding Question</a:t>
            </a:r>
            <a:endParaRPr lang="en-US" sz="6000">
              <a:latin typeface="Arial" panose="020B0604020202090204" pitchFamily="34" charset="0"/>
              <a:cs typeface="Arial" panose="020B0604020202090204" pitchFamily="34" charset="0"/>
            </a:endParaRPr>
          </a:p>
        </p:txBody>
      </p:sp>
      <p:sp>
        <p:nvSpPr>
          <p:cNvPr id="3" name="Text Box 2"/>
          <p:cNvSpPr txBox="1"/>
          <p:nvPr/>
        </p:nvSpPr>
        <p:spPr>
          <a:xfrm>
            <a:off x="3422650" y="3359785"/>
            <a:ext cx="5346700" cy="768350"/>
          </a:xfrm>
          <a:prstGeom prst="rect">
            <a:avLst/>
          </a:prstGeom>
          <a:noFill/>
        </p:spPr>
        <p:txBody>
          <a:bodyPr wrap="square" rtlCol="0">
            <a:spAutoFit/>
          </a:bodyPr>
          <a:p>
            <a:pPr algn="ctr"/>
            <a:r>
              <a:rPr lang="en-US" sz="4400">
                <a:latin typeface="Arial" panose="020B0604020202090204" pitchFamily="34" charset="0"/>
                <a:cs typeface="Arial" panose="020B0604020202090204" pitchFamily="34" charset="0"/>
              </a:rPr>
              <a:t>Simple Calculator</a:t>
            </a:r>
            <a:endParaRPr lang="en-US" sz="4400">
              <a:latin typeface="Arial" panose="020B0604020202090204" pitchFamily="34" charset="0"/>
              <a:cs typeface="Arial" panose="020B060402020209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6-10 at 12.20.43 PM"/>
          <p:cNvPicPr>
            <a:picLocks noChangeAspect="1"/>
          </p:cNvPicPr>
          <p:nvPr/>
        </p:nvPicPr>
        <p:blipFill>
          <a:blip r:embed="rId1"/>
          <a:stretch>
            <a:fillRect/>
          </a:stretch>
        </p:blipFill>
        <p:spPr>
          <a:xfrm>
            <a:off x="3252470" y="2248535"/>
            <a:ext cx="5687060" cy="3864610"/>
          </a:xfrm>
          <a:prstGeom prst="rect">
            <a:avLst/>
          </a:prstGeom>
        </p:spPr>
      </p:pic>
      <p:sp>
        <p:nvSpPr>
          <p:cNvPr id="3" name="Text Box 2"/>
          <p:cNvSpPr txBox="1"/>
          <p:nvPr/>
        </p:nvSpPr>
        <p:spPr>
          <a:xfrm>
            <a:off x="337820" y="363855"/>
            <a:ext cx="4064000" cy="460375"/>
          </a:xfrm>
          <a:prstGeom prst="rect">
            <a:avLst/>
          </a:prstGeom>
          <a:noFill/>
        </p:spPr>
        <p:txBody>
          <a:bodyPr wrap="square" rtlCol="0">
            <a:spAutoFit/>
          </a:bodyPr>
          <a:p>
            <a:r>
              <a:rPr lang="en-US" sz="2400" b="1">
                <a:latin typeface="Arial Bold" panose="020B0604020202090204" charset="0"/>
                <a:cs typeface="Arial Bold" panose="020B0604020202090204" charset="0"/>
              </a:rPr>
              <a:t>Simple Calculator</a:t>
            </a:r>
            <a:endParaRPr lang="en-US" sz="2400" b="1">
              <a:latin typeface="Arial Bold" panose="020B0604020202090204" charset="0"/>
              <a:cs typeface="Arial Bold" panose="020B0604020202090204" charset="0"/>
            </a:endParaRPr>
          </a:p>
        </p:txBody>
      </p:sp>
      <p:sp>
        <p:nvSpPr>
          <p:cNvPr id="4" name="Text Box 3"/>
          <p:cNvSpPr txBox="1"/>
          <p:nvPr/>
        </p:nvSpPr>
        <p:spPr>
          <a:xfrm>
            <a:off x="544195" y="922020"/>
            <a:ext cx="10795000" cy="1326515"/>
          </a:xfrm>
          <a:prstGeom prst="rect">
            <a:avLst/>
          </a:prstGeom>
          <a:noFill/>
        </p:spPr>
        <p:txBody>
          <a:bodyPr wrap="square" rtlCol="0">
            <a:noAutofit/>
          </a:bodyPr>
          <a:p>
            <a:pPr indent="457200"/>
            <a:r>
              <a:rPr lang="en-US" altLang="en-US"/>
              <a:t>In this program, I used the </a:t>
            </a:r>
            <a:r>
              <a:rPr lang="en-US" altLang="en-US" b="1" i="1">
                <a:latin typeface="Arial Bold Italic" panose="020B0604020202090204" charset="0"/>
                <a:cs typeface="Arial Bold Italic" panose="020B0604020202090204" charset="0"/>
              </a:rPr>
              <a:t>Scanner</a:t>
            </a:r>
            <a:r>
              <a:rPr lang="en-US" altLang="en-US"/>
              <a:t> class to take input from the user specifically two numbers and an operator symbol. I stored the numbers as double so the calculator can handle decimal values, and the operator as a char since it's a single character.</a:t>
            </a:r>
            <a:endParaRPr lang="en-US"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6-10 at 12.21.20 PM"/>
          <p:cNvPicPr>
            <a:picLocks noChangeAspect="1"/>
          </p:cNvPicPr>
          <p:nvPr/>
        </p:nvPicPr>
        <p:blipFill>
          <a:blip r:embed="rId1"/>
          <a:stretch>
            <a:fillRect/>
          </a:stretch>
        </p:blipFill>
        <p:spPr>
          <a:xfrm>
            <a:off x="387350" y="688975"/>
            <a:ext cx="7799705" cy="5640705"/>
          </a:xfrm>
          <a:prstGeom prst="rect">
            <a:avLst/>
          </a:prstGeom>
        </p:spPr>
      </p:pic>
      <p:sp>
        <p:nvSpPr>
          <p:cNvPr id="3" name="Text Box 2"/>
          <p:cNvSpPr txBox="1"/>
          <p:nvPr/>
        </p:nvSpPr>
        <p:spPr>
          <a:xfrm>
            <a:off x="120650" y="110490"/>
            <a:ext cx="4064000" cy="460375"/>
          </a:xfrm>
          <a:prstGeom prst="rect">
            <a:avLst/>
          </a:prstGeom>
          <a:noFill/>
        </p:spPr>
        <p:txBody>
          <a:bodyPr wrap="square" rtlCol="0">
            <a:spAutoFit/>
          </a:bodyPr>
          <a:p>
            <a:r>
              <a:rPr lang="en-US" sz="2400" b="1">
                <a:latin typeface="Arial Bold" panose="020B0604020202090204" charset="0"/>
                <a:cs typeface="Arial Bold" panose="020B0604020202090204" charset="0"/>
              </a:rPr>
              <a:t>Simple Calculator</a:t>
            </a:r>
            <a:endParaRPr lang="en-US" sz="2400" b="1">
              <a:latin typeface="Arial Bold" panose="020B0604020202090204" charset="0"/>
              <a:cs typeface="Arial Bold" panose="020B0604020202090204" charset="0"/>
            </a:endParaRPr>
          </a:p>
        </p:txBody>
      </p:sp>
      <p:sp>
        <p:nvSpPr>
          <p:cNvPr id="4" name="Text Box 3"/>
          <p:cNvSpPr txBox="1"/>
          <p:nvPr/>
        </p:nvSpPr>
        <p:spPr>
          <a:xfrm>
            <a:off x="8341360" y="570865"/>
            <a:ext cx="3470910" cy="5876290"/>
          </a:xfrm>
          <a:prstGeom prst="rect">
            <a:avLst/>
          </a:prstGeom>
          <a:noFill/>
        </p:spPr>
        <p:txBody>
          <a:bodyPr wrap="square" rtlCol="0">
            <a:noAutofit/>
          </a:bodyPr>
          <a:p>
            <a:pPr indent="457200"/>
            <a:r>
              <a:rPr lang="en-US" altLang="en-US"/>
              <a:t>For the logic, I chose a </a:t>
            </a:r>
            <a:r>
              <a:rPr lang="en-US" altLang="en-US" b="1" i="1">
                <a:latin typeface="Arial Bold Italic" panose="020B0604020202090204" charset="0"/>
                <a:cs typeface="Arial Bold Italic" panose="020B0604020202090204" charset="0"/>
              </a:rPr>
              <a:t>switch</a:t>
            </a:r>
            <a:r>
              <a:rPr lang="en-US" altLang="en-US"/>
              <a:t> because it's cleaner than multiple </a:t>
            </a:r>
            <a:r>
              <a:rPr lang="en-US" altLang="en-US" b="1" i="1">
                <a:latin typeface="Arial Bold Italic" panose="020B0604020202090204" charset="0"/>
                <a:cs typeface="Arial Bold Italic" panose="020B0604020202090204" charset="0"/>
              </a:rPr>
              <a:t>if-else </a:t>
            </a:r>
            <a:r>
              <a:rPr lang="en-US" altLang="en-US"/>
              <a:t>blocks when checking one variable against specific values. Each case handles one operator: </a:t>
            </a:r>
            <a:r>
              <a:rPr lang="en-US" altLang="en-US" i="1">
                <a:latin typeface="Arial Italic" panose="020B0604020202090204" charset="0"/>
                <a:cs typeface="Arial Italic" panose="020B0604020202090204" charset="0"/>
              </a:rPr>
              <a:t>addition, subtraction, multiplication</a:t>
            </a:r>
            <a:r>
              <a:rPr lang="en-US" altLang="en-US"/>
              <a:t>, and </a:t>
            </a:r>
            <a:r>
              <a:rPr lang="en-US" altLang="en-US" i="1">
                <a:latin typeface="Arial Italic" panose="020B0604020202090204" charset="0"/>
                <a:cs typeface="Arial Italic" panose="020B0604020202090204" charset="0"/>
              </a:rPr>
              <a:t>division</a:t>
            </a:r>
            <a:r>
              <a:rPr lang="en-US" altLang="en-US"/>
              <a:t>. For the division case, I added an extra check to catch division by zero and print an error instead of crashing. If the user enters anything that isn't one of the four operators, the default case prints </a:t>
            </a:r>
            <a:r>
              <a:rPr lang="en-US" altLang="en-US" i="1">
                <a:latin typeface="Arial Italic" panose="020B0604020202090204" charset="0"/>
                <a:cs typeface="Arial Italic" panose="020B0604020202090204" charset="0"/>
              </a:rPr>
              <a:t>"Invalid operator"</a:t>
            </a:r>
            <a:r>
              <a:rPr lang="en-US" altLang="en-US"/>
              <a:t>.</a:t>
            </a:r>
            <a:endParaRPr lang="en-US" altLang="en-US"/>
          </a:p>
          <a:p>
            <a:endParaRPr lang="en-US" altLang="en-US"/>
          </a:p>
          <a:p>
            <a:pPr indent="457200"/>
            <a:r>
              <a:rPr lang="en-US" altLang="en-US"/>
              <a:t>Finally, I called </a:t>
            </a:r>
            <a:r>
              <a:rPr lang="en-US" altLang="en-US" b="1" i="1">
                <a:latin typeface="Arial Bold Italic" panose="020B0604020202090204" charset="0"/>
                <a:cs typeface="Arial Bold Italic" panose="020B0604020202090204" charset="0"/>
              </a:rPr>
              <a:t>scanner.close()</a:t>
            </a:r>
            <a:r>
              <a:rPr lang="en-US" altLang="en-US"/>
              <a:t> at the end to free up the resource after input is done.</a:t>
            </a:r>
            <a:endParaRPr lang="en-US" alt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86715" y="268605"/>
            <a:ext cx="4064000" cy="583565"/>
          </a:xfrm>
          <a:prstGeom prst="rect">
            <a:avLst/>
          </a:prstGeom>
          <a:noFill/>
        </p:spPr>
        <p:txBody>
          <a:bodyPr wrap="square" rtlCol="0">
            <a:spAutoFit/>
          </a:bodyPr>
          <a:p>
            <a:r>
              <a:rPr lang="en-US" sz="3200" b="1">
                <a:latin typeface="Arial Bold" panose="020B0604020202090204" charset="0"/>
                <a:cs typeface="Arial Bold" panose="020B0604020202090204" charset="0"/>
              </a:rPr>
              <a:t>Outputs:</a:t>
            </a:r>
            <a:endParaRPr lang="en-US" sz="3200" b="1">
              <a:latin typeface="Arial Bold" panose="020B0604020202090204" charset="0"/>
              <a:cs typeface="Arial Bold" panose="020B0604020202090204" charset="0"/>
            </a:endParaRPr>
          </a:p>
        </p:txBody>
      </p:sp>
      <p:pic>
        <p:nvPicPr>
          <p:cNvPr id="4" name="Picture 3" descr="Screenshot 2026-06-10 at 12.25.40 PM"/>
          <p:cNvPicPr>
            <a:picLocks noChangeAspect="1"/>
          </p:cNvPicPr>
          <p:nvPr/>
        </p:nvPicPr>
        <p:blipFill>
          <a:blip r:embed="rId1"/>
          <a:stretch>
            <a:fillRect/>
          </a:stretch>
        </p:blipFill>
        <p:spPr>
          <a:xfrm>
            <a:off x="278130" y="1640205"/>
            <a:ext cx="2576830" cy="2576830"/>
          </a:xfrm>
          <a:prstGeom prst="rect">
            <a:avLst/>
          </a:prstGeom>
          <a:ln>
            <a:solidFill>
              <a:schemeClr val="accent1"/>
            </a:solidFill>
          </a:ln>
        </p:spPr>
      </p:pic>
      <p:pic>
        <p:nvPicPr>
          <p:cNvPr id="5" name="Picture 4" descr="Screenshot 2026-06-10 at 12.25.59 PM"/>
          <p:cNvPicPr>
            <a:picLocks noChangeAspect="1"/>
          </p:cNvPicPr>
          <p:nvPr/>
        </p:nvPicPr>
        <p:blipFill>
          <a:blip r:embed="rId2"/>
          <a:stretch>
            <a:fillRect/>
          </a:stretch>
        </p:blipFill>
        <p:spPr>
          <a:xfrm>
            <a:off x="3041650" y="3429000"/>
            <a:ext cx="2586355" cy="2880995"/>
          </a:xfrm>
          <a:prstGeom prst="rect">
            <a:avLst/>
          </a:prstGeom>
          <a:ln>
            <a:solidFill>
              <a:schemeClr val="accent1"/>
            </a:solidFill>
          </a:ln>
        </p:spPr>
      </p:pic>
      <p:pic>
        <p:nvPicPr>
          <p:cNvPr id="6" name="Picture 5" descr="Screenshot 2026-06-10 at 12.26.15 PM"/>
          <p:cNvPicPr>
            <a:picLocks noChangeAspect="1"/>
          </p:cNvPicPr>
          <p:nvPr/>
        </p:nvPicPr>
        <p:blipFill>
          <a:blip r:embed="rId3"/>
          <a:stretch>
            <a:fillRect/>
          </a:stretch>
        </p:blipFill>
        <p:spPr>
          <a:xfrm>
            <a:off x="6004560" y="3429000"/>
            <a:ext cx="5727700" cy="2946400"/>
          </a:xfrm>
          <a:prstGeom prst="rect">
            <a:avLst/>
          </a:prstGeom>
          <a:ln>
            <a:solidFill>
              <a:schemeClr val="accent1"/>
            </a:solidFill>
          </a:ln>
        </p:spPr>
      </p:pic>
      <p:pic>
        <p:nvPicPr>
          <p:cNvPr id="2" name="Picture 1" descr="Screenshot 2026-06-10 at 12.23.44 PM"/>
          <p:cNvPicPr>
            <a:picLocks noChangeAspect="1"/>
          </p:cNvPicPr>
          <p:nvPr/>
        </p:nvPicPr>
        <p:blipFill>
          <a:blip r:embed="rId4"/>
          <a:stretch>
            <a:fillRect/>
          </a:stretch>
        </p:blipFill>
        <p:spPr>
          <a:xfrm>
            <a:off x="6319520" y="366395"/>
            <a:ext cx="2667000" cy="2757805"/>
          </a:xfrm>
          <a:prstGeom prst="rect">
            <a:avLst/>
          </a:prstGeom>
          <a:ln>
            <a:solidFill>
              <a:schemeClr val="accent1"/>
            </a:solidFill>
          </a:ln>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87015" y="2143125"/>
            <a:ext cx="6617970" cy="1014730"/>
          </a:xfrm>
          <a:prstGeom prst="rect">
            <a:avLst/>
          </a:prstGeom>
          <a:noFill/>
        </p:spPr>
        <p:txBody>
          <a:bodyPr wrap="square" rtlCol="0">
            <a:spAutoFit/>
          </a:bodyPr>
          <a:p>
            <a:pPr algn="ctr"/>
            <a:r>
              <a:rPr lang="en-US" sz="6000">
                <a:latin typeface="Arial" panose="020B0604020202090204" pitchFamily="34" charset="0"/>
                <a:cs typeface="Arial" panose="020B0604020202090204" pitchFamily="34" charset="0"/>
              </a:rPr>
              <a:t>Coding Question 2</a:t>
            </a:r>
            <a:endParaRPr lang="en-US" sz="6000">
              <a:latin typeface="Arial" panose="020B0604020202090204" pitchFamily="34" charset="0"/>
              <a:cs typeface="Arial" panose="020B0604020202090204" pitchFamily="34" charset="0"/>
            </a:endParaRPr>
          </a:p>
        </p:txBody>
      </p:sp>
      <p:sp>
        <p:nvSpPr>
          <p:cNvPr id="3" name="Text Box 2"/>
          <p:cNvSpPr txBox="1"/>
          <p:nvPr/>
        </p:nvSpPr>
        <p:spPr>
          <a:xfrm>
            <a:off x="3422650" y="3359785"/>
            <a:ext cx="5346700" cy="768350"/>
          </a:xfrm>
          <a:prstGeom prst="rect">
            <a:avLst/>
          </a:prstGeom>
          <a:noFill/>
        </p:spPr>
        <p:txBody>
          <a:bodyPr wrap="square" rtlCol="0">
            <a:spAutoFit/>
          </a:bodyPr>
          <a:p>
            <a:pPr algn="ctr"/>
            <a:r>
              <a:rPr lang="en-US" sz="4400">
                <a:latin typeface="Arial" panose="020B0604020202090204" pitchFamily="34" charset="0"/>
                <a:cs typeface="Arial" panose="020B0604020202090204" pitchFamily="34" charset="0"/>
              </a:rPr>
              <a:t>Student Object</a:t>
            </a:r>
            <a:endParaRPr lang="en-US" sz="4400">
              <a:latin typeface="Arial" panose="020B0604020202090204" pitchFamily="34" charset="0"/>
              <a:cs typeface="Arial" panose="020B0604020202090204" pitchFamily="34"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6-10 at 12.31.28 PM"/>
          <p:cNvPicPr>
            <a:picLocks noChangeAspect="1"/>
          </p:cNvPicPr>
          <p:nvPr/>
        </p:nvPicPr>
        <p:blipFill>
          <a:blip r:embed="rId1"/>
          <a:stretch>
            <a:fillRect/>
          </a:stretch>
        </p:blipFill>
        <p:spPr>
          <a:xfrm>
            <a:off x="97155" y="506095"/>
            <a:ext cx="7499985" cy="6055995"/>
          </a:xfrm>
          <a:prstGeom prst="rect">
            <a:avLst/>
          </a:prstGeom>
        </p:spPr>
      </p:pic>
      <p:pic>
        <p:nvPicPr>
          <p:cNvPr id="3" name="Picture 2" descr="Screenshot 2026-06-10 at 12.31.49 PM"/>
          <p:cNvPicPr>
            <a:picLocks noChangeAspect="1"/>
          </p:cNvPicPr>
          <p:nvPr/>
        </p:nvPicPr>
        <p:blipFill>
          <a:blip r:embed="rId2"/>
          <a:stretch>
            <a:fillRect/>
          </a:stretch>
        </p:blipFill>
        <p:spPr>
          <a:xfrm>
            <a:off x="4359275" y="5115560"/>
            <a:ext cx="3390900" cy="1663700"/>
          </a:xfrm>
          <a:prstGeom prst="rect">
            <a:avLst/>
          </a:prstGeom>
          <a:ln>
            <a:solidFill>
              <a:schemeClr val="accent1"/>
            </a:solidFill>
          </a:ln>
        </p:spPr>
      </p:pic>
      <p:sp>
        <p:nvSpPr>
          <p:cNvPr id="4" name="Text Box 3"/>
          <p:cNvSpPr txBox="1"/>
          <p:nvPr/>
        </p:nvSpPr>
        <p:spPr>
          <a:xfrm>
            <a:off x="7808595" y="506095"/>
            <a:ext cx="4064000" cy="5354320"/>
          </a:xfrm>
          <a:prstGeom prst="rect">
            <a:avLst/>
          </a:prstGeom>
          <a:noFill/>
        </p:spPr>
        <p:txBody>
          <a:bodyPr wrap="square" rtlCol="0">
            <a:spAutoFit/>
          </a:bodyPr>
          <a:p>
            <a:pPr indent="457200"/>
            <a:r>
              <a:rPr lang="en-US" altLang="en-US"/>
              <a:t>I created a Student class that holds three pieces of information about a student: their ID, name and GPA.</a:t>
            </a:r>
            <a:endParaRPr lang="en-US" altLang="en-US"/>
          </a:p>
          <a:p>
            <a:pPr indent="457200"/>
            <a:r>
              <a:rPr lang="en-US" altLang="en-US"/>
              <a:t>Instead of setting each field manually after creating the object, I wrote a constructor so that I can pass all the values directly when creating the object, which is cleaner and faster as I mentioned on the simple calculator above.</a:t>
            </a:r>
            <a:endParaRPr lang="en-US" altLang="en-US"/>
          </a:p>
          <a:p>
            <a:pPr indent="457200"/>
            <a:r>
              <a:rPr lang="en-US" altLang="en-US"/>
              <a:t>I also added a </a:t>
            </a:r>
            <a:r>
              <a:rPr lang="en-US" altLang="en-US" b="1" i="1">
                <a:latin typeface="Arial Bold Italic" panose="020B0604020202090204" charset="0"/>
                <a:cs typeface="Arial Bold Italic" panose="020B0604020202090204" charset="0"/>
              </a:rPr>
              <a:t>displayInfo()</a:t>
            </a:r>
            <a:r>
              <a:rPr lang="en-US" altLang="en-US"/>
              <a:t> method to avoid repeating the same print line for every student: I just call the method and it handles the printing. 	Then I created 3 student objects in main and called displayInfo() on each one to show their details.</a:t>
            </a:r>
            <a:endParaRPr lang="en-US"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2199</Words>
  <Application>WPS Presentation</Application>
  <PresentationFormat>Widescreen</PresentationFormat>
  <Paragraphs>39</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11</vt:i4>
      </vt:variant>
    </vt:vector>
  </HeadingPairs>
  <TitlesOfParts>
    <vt:vector size="26" baseType="lpstr">
      <vt:lpstr>Arial</vt:lpstr>
      <vt:lpstr>SimSun</vt:lpstr>
      <vt:lpstr>Wingdings</vt:lpstr>
      <vt:lpstr>Wingdings</vt:lpstr>
      <vt:lpstr>Microsoft YaHei</vt:lpstr>
      <vt:lpstr>汉仪旗黑</vt:lpstr>
      <vt:lpstr>Arial Unicode MS</vt:lpstr>
      <vt:lpstr>Calibri</vt:lpstr>
      <vt:lpstr>Helvetica Neue</vt:lpstr>
      <vt:lpstr>宋体-简</vt:lpstr>
      <vt:lpstr>Arial Bold</vt:lpstr>
      <vt:lpstr>Arial Bold Italic</vt:lpstr>
      <vt:lpstr>Arial Italic</vt:lpstr>
      <vt:lpstr>WPS</vt:lpstr>
      <vt:lpstr>1_WPS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Programming Final Exam</dc:title>
  <dc:creator>mclight</dc:creator>
  <cp:lastModifiedBy>mclight</cp:lastModifiedBy>
  <cp:revision>1</cp:revision>
  <dcterms:created xsi:type="dcterms:W3CDTF">2026-06-10T03:35:49Z</dcterms:created>
  <dcterms:modified xsi:type="dcterms:W3CDTF">2026-06-10T03:35:49Z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1033-12.1.25897.25897</vt:lpwstr>
  </property>
  <property fmtid="{D5CDD505-2E9C-101B-9397-08002B2CF9AE}" pid="3" name="ICV">
    <vt:lpwstr>7EA372C7042D4ADE21D5286AC282A28D_41</vt:lpwstr>
  </property>
</Properties>
</file>