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9" r:id="rId3"/>
    <p:sldId id="290" r:id="rId4"/>
    <p:sldId id="291" r:id="rId5"/>
    <p:sldId id="257" r:id="rId6"/>
    <p:sldId id="258" r:id="rId7"/>
    <p:sldId id="259" r:id="rId8"/>
    <p:sldId id="260" r:id="rId9"/>
    <p:sldId id="261" r:id="rId10"/>
    <p:sldId id="271" r:id="rId11"/>
    <p:sldId id="272" r:id="rId12"/>
    <p:sldId id="270" r:id="rId13"/>
    <p:sldId id="263" r:id="rId14"/>
    <p:sldId id="264" r:id="rId15"/>
    <p:sldId id="265" r:id="rId16"/>
    <p:sldId id="266" r:id="rId17"/>
    <p:sldId id="267" r:id="rId18"/>
    <p:sldId id="268" r:id="rId19"/>
    <p:sldId id="269"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06" autoAdjust="0"/>
    <p:restoredTop sz="94660"/>
  </p:normalViewPr>
  <p:slideViewPr>
    <p:cSldViewPr snapToGrid="0">
      <p:cViewPr varScale="1">
        <p:scale>
          <a:sx n="156" d="100"/>
          <a:sy n="156" d="100"/>
        </p:scale>
        <p:origin x="19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3/18/26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charset="0"/>
                <a:cs typeface="Times New Roman" panose="02020603050405020304" charset="0"/>
                <a:sym typeface="+mn-ea"/>
              </a:rPr>
              <a:t>Mobile programming</a:t>
            </a:r>
            <a:r>
              <a:rPr lang="en-US" dirty="0">
                <a:sym typeface="+mn-ea"/>
              </a:rPr>
              <a:t> </a:t>
            </a:r>
            <a:endParaRPr lang="en-US" dirty="0"/>
          </a:p>
        </p:txBody>
      </p:sp>
      <p:sp>
        <p:nvSpPr>
          <p:cNvPr id="3" name="Subtitle 2"/>
          <p:cNvSpPr>
            <a:spLocks noGrp="1"/>
          </p:cNvSpPr>
          <p:nvPr>
            <p:ph type="subTitle" idx="1"/>
          </p:nvPr>
        </p:nvSpPr>
        <p:spPr/>
        <p:txBody>
          <a:bodyPr/>
          <a:lstStyle/>
          <a:p>
            <a:r>
              <a:rPr lang="en-US">
                <a:latin typeface="Times New Roman" panose="02020603050405020304" charset="0"/>
                <a:cs typeface="Times New Roman" panose="02020603050405020304" charset="0"/>
              </a:rPr>
              <a:t>Lecture 3</a:t>
            </a:r>
            <a:endParaRPr lang="en-US"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charset="0"/>
                <a:cs typeface="Times New Roman" panose="02020603050405020304" charset="0"/>
              </a:rPr>
              <a:t>Recall!</a:t>
            </a:r>
          </a:p>
        </p:txBody>
      </p:sp>
      <p:sp>
        <p:nvSpPr>
          <p:cNvPr id="3" name="Content Placeholder 2"/>
          <p:cNvSpPr>
            <a:spLocks noGrp="1"/>
          </p:cNvSpPr>
          <p:nvPr>
            <p:ph idx="1"/>
          </p:nvPr>
        </p:nvSpPr>
        <p:spPr>
          <a:xfrm>
            <a:off x="771525" y="1588135"/>
            <a:ext cx="10515600" cy="4351338"/>
          </a:xfrm>
        </p:spPr>
        <p:txBody>
          <a:bodyPr/>
          <a:lstStyle/>
          <a:p>
            <a:r>
              <a:rPr lang="en-US" sz="2400">
                <a:latin typeface="Times New Roman" panose="02020603050405020304" charset="0"/>
                <a:cs typeface="Times New Roman" panose="02020603050405020304" charset="0"/>
              </a:rPr>
              <a:t>We made our first</a:t>
            </a:r>
            <a:r>
              <a:rPr lang="en-US" sz="2400"/>
              <a:t> </a:t>
            </a:r>
            <a:r>
              <a:rPr lang="en-US" altLang="en-US" sz="2400">
                <a:latin typeface="Times New Roman" panose="02020603050405020304" charset="0"/>
                <a:cs typeface="Times New Roman" panose="02020603050405020304" charset="0"/>
                <a:sym typeface="+mn-ea"/>
              </a:rPr>
              <a:t>Hello World Program in java</a:t>
            </a:r>
          </a:p>
          <a:p>
            <a:endParaRPr lang="en-US" altLang="en-US" sz="2400">
              <a:latin typeface="Times New Roman" panose="02020603050405020304" charset="0"/>
              <a:cs typeface="Times New Roman" panose="02020603050405020304" charset="0"/>
              <a:sym typeface="+mn-ea"/>
            </a:endParaRPr>
          </a:p>
          <a:p>
            <a:endParaRPr lang="en-US" altLang="en-US" sz="2400">
              <a:latin typeface="Times New Roman" panose="02020603050405020304" charset="0"/>
              <a:cs typeface="Times New Roman" panose="02020603050405020304" charset="0"/>
              <a:sym typeface="+mn-ea"/>
            </a:endParaRPr>
          </a:p>
          <a:p>
            <a:endParaRPr lang="en-US" altLang="en-US" sz="2400">
              <a:latin typeface="Times New Roman" panose="02020603050405020304" charset="0"/>
              <a:cs typeface="Times New Roman" panose="02020603050405020304" charset="0"/>
              <a:sym typeface="+mn-ea"/>
            </a:endParaRPr>
          </a:p>
          <a:p>
            <a:endParaRPr lang="en-US" altLang="en-US" sz="2400">
              <a:latin typeface="Times New Roman" panose="02020603050405020304" charset="0"/>
              <a:cs typeface="Times New Roman" panose="02020603050405020304" charset="0"/>
              <a:sym typeface="+mn-ea"/>
            </a:endParaRPr>
          </a:p>
          <a:p>
            <a:endParaRPr lang="en-US" altLang="en-US" sz="2400">
              <a:latin typeface="Times New Roman" panose="02020603050405020304" charset="0"/>
              <a:cs typeface="Times New Roman" panose="02020603050405020304" charset="0"/>
              <a:sym typeface="+mn-ea"/>
            </a:endParaRPr>
          </a:p>
          <a:p>
            <a:r>
              <a:rPr lang="en-US" altLang="en-US" sz="2400">
                <a:latin typeface="Times New Roman" panose="02020603050405020304" charset="0"/>
                <a:cs typeface="Times New Roman" panose="02020603050405020304" charset="0"/>
              </a:rPr>
              <a:t>Learn two types of comment</a:t>
            </a:r>
          </a:p>
          <a:p>
            <a:r>
              <a:rPr lang="en-US" sz="2400">
                <a:highlight>
                  <a:srgbClr val="FF0000"/>
                </a:highlight>
                <a:sym typeface="+mn-ea"/>
              </a:rPr>
              <a:t>/* * */</a:t>
            </a:r>
          </a:p>
          <a:p>
            <a:r>
              <a:rPr lang="en-US" sz="2400">
                <a:highlight>
                  <a:srgbClr val="FF0000"/>
                </a:highlight>
                <a:sym typeface="+mn-ea"/>
              </a:rPr>
              <a:t>//</a:t>
            </a:r>
            <a:endParaRPr lang="en-US" sz="2400">
              <a:highlight>
                <a:srgbClr val="FF0000"/>
              </a:highlight>
            </a:endParaRPr>
          </a:p>
          <a:p>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2"/>
          <a:stretch>
            <a:fillRect/>
          </a:stretch>
        </p:blipFill>
        <p:spPr>
          <a:xfrm>
            <a:off x="1026795" y="2126615"/>
            <a:ext cx="5069205" cy="21482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550" y="89535"/>
            <a:ext cx="10515600" cy="1325563"/>
          </a:xfrm>
        </p:spPr>
        <p:txBody>
          <a:bodyPr/>
          <a:lstStyle/>
          <a:p>
            <a:r>
              <a:rPr lang="en-US" sz="4000">
                <a:latin typeface="Times New Roman" panose="02020603050405020304" charset="0"/>
                <a:cs typeface="Times New Roman" panose="02020603050405020304" charset="0"/>
              </a:rPr>
              <a:t>Recall!</a:t>
            </a:r>
          </a:p>
        </p:txBody>
      </p:sp>
      <p:sp>
        <p:nvSpPr>
          <p:cNvPr id="3" name="Content Placeholder 2"/>
          <p:cNvSpPr>
            <a:spLocks noGrp="1"/>
          </p:cNvSpPr>
          <p:nvPr>
            <p:ph idx="1"/>
          </p:nvPr>
        </p:nvSpPr>
        <p:spPr>
          <a:xfrm>
            <a:off x="838200" y="1415415"/>
            <a:ext cx="10515600" cy="4351338"/>
          </a:xfrm>
        </p:spPr>
        <p:txBody>
          <a:bodyPr/>
          <a:lstStyle/>
          <a:p>
            <a:r>
              <a:rPr lang="en-US" sz="2400">
                <a:latin typeface="Times New Roman" panose="02020603050405020304" charset="0"/>
                <a:cs typeface="Times New Roman" panose="02020603050405020304" charset="0"/>
              </a:rPr>
              <a:t>sout (System.out.println()) method</a:t>
            </a:r>
          </a:p>
          <a:p>
            <a:r>
              <a:rPr lang="en-US" sz="2400">
                <a:latin typeface="Times New Roman" panose="02020603050405020304" charset="0"/>
                <a:cs typeface="Times New Roman" panose="02020603050405020304" charset="0"/>
                <a:sym typeface="+mn-ea"/>
              </a:rPr>
              <a:t>Main mistakes</a:t>
            </a:r>
          </a:p>
          <a:p>
            <a:endParaRPr lang="en-US">
              <a:sym typeface="+mn-ea"/>
            </a:endParaRPr>
          </a:p>
          <a:p>
            <a:endParaRPr lang="en-US">
              <a:sym typeface="+mn-ea"/>
            </a:endParaRPr>
          </a:p>
          <a:p>
            <a:endParaRPr lang="en-US">
              <a:sym typeface="+mn-ea"/>
            </a:endParaRPr>
          </a:p>
          <a:p>
            <a:r>
              <a:rPr lang="en-US" altLang="en-US" sz="2400">
                <a:latin typeface="Times New Roman" panose="02020603050405020304" charset="0"/>
                <a:cs typeface="Times New Roman" panose="02020603050405020304" charset="0"/>
                <a:sym typeface="+mn-ea"/>
              </a:rPr>
              <a:t>Java - Numbers Class</a:t>
            </a:r>
            <a:endParaRPr lang="en-US" altLang="en-US" sz="2400">
              <a:latin typeface="Times New Roman" panose="02020603050405020304" charset="0"/>
              <a:cs typeface="Times New Roman" panose="02020603050405020304" charset="0"/>
            </a:endParaRPr>
          </a:p>
          <a:p>
            <a:endParaRPr lang="en-US">
              <a:sym typeface="+mn-ea"/>
            </a:endParaRPr>
          </a:p>
          <a:p>
            <a:endParaRPr lang="en-US"/>
          </a:p>
        </p:txBody>
      </p:sp>
      <p:pic>
        <p:nvPicPr>
          <p:cNvPr id="4" name="Content Placeholder 3"/>
          <p:cNvPicPr>
            <a:picLocks noChangeAspect="1"/>
          </p:cNvPicPr>
          <p:nvPr/>
        </p:nvPicPr>
        <p:blipFill>
          <a:blip r:embed="rId2"/>
          <a:stretch>
            <a:fillRect/>
          </a:stretch>
        </p:blipFill>
        <p:spPr>
          <a:xfrm>
            <a:off x="1009650" y="2479040"/>
            <a:ext cx="5024120" cy="1307465"/>
          </a:xfrm>
          <a:prstGeom prst="rect">
            <a:avLst/>
          </a:prstGeom>
        </p:spPr>
      </p:pic>
      <p:pic>
        <p:nvPicPr>
          <p:cNvPr id="5" name="Picture 4"/>
          <p:cNvPicPr>
            <a:picLocks noChangeAspect="1"/>
          </p:cNvPicPr>
          <p:nvPr/>
        </p:nvPicPr>
        <p:blipFill>
          <a:blip r:embed="rId3"/>
          <a:stretch>
            <a:fillRect/>
          </a:stretch>
        </p:blipFill>
        <p:spPr>
          <a:xfrm>
            <a:off x="1009650" y="4476750"/>
            <a:ext cx="4606925" cy="19234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0"/>
            <a:ext cx="10515600" cy="955675"/>
          </a:xfrm>
        </p:spPr>
        <p:txBody>
          <a:bodyPr/>
          <a:lstStyle/>
          <a:p>
            <a:r>
              <a:rPr lang="en-US" sz="3600">
                <a:latin typeface="Times New Roman" panose="02020603050405020304" charset="0"/>
                <a:cs typeface="Times New Roman" panose="02020603050405020304" charset="0"/>
              </a:rPr>
              <a:t>Recall!</a:t>
            </a:r>
          </a:p>
        </p:txBody>
      </p:sp>
      <p:sp>
        <p:nvSpPr>
          <p:cNvPr id="3" name="Content Placeholder 2"/>
          <p:cNvSpPr>
            <a:spLocks noGrp="1"/>
          </p:cNvSpPr>
          <p:nvPr>
            <p:ph idx="1"/>
          </p:nvPr>
        </p:nvSpPr>
        <p:spPr>
          <a:xfrm>
            <a:off x="723900" y="955675"/>
            <a:ext cx="10515600" cy="4351338"/>
          </a:xfrm>
        </p:spPr>
        <p:txBody>
          <a:bodyPr/>
          <a:lstStyle/>
          <a:p>
            <a:r>
              <a:rPr sz="2400">
                <a:solidFill>
                  <a:srgbClr val="000000"/>
                </a:solidFill>
                <a:latin typeface="Times New Roman" panose="02020603050405020304" charset="0"/>
                <a:ea typeface="var(--ff-lato)"/>
                <a:cs typeface="Times New Roman" panose="02020603050405020304" charset="0"/>
                <a:sym typeface="+mn-ea"/>
              </a:rPr>
              <a:t>Java Type Casting (Conversion)</a:t>
            </a:r>
            <a:endParaRPr sz="2400" i="0">
              <a:solidFill>
                <a:srgbClr val="000000"/>
              </a:solidFill>
              <a:latin typeface="Times New Roman" panose="02020603050405020304" charset="0"/>
              <a:ea typeface="var(--ff-lato)"/>
              <a:cs typeface="Times New Roman" panose="02020603050405020304" charset="0"/>
            </a:endParaRPr>
          </a:p>
          <a:p>
            <a:endParaRPr lang="en-US" sz="2400" i="0">
              <a:solidFill>
                <a:srgbClr val="000000"/>
              </a:solidFill>
              <a:latin typeface="Times New Roman" panose="02020603050405020304" charset="0"/>
              <a:ea typeface="var(--ff-lato)"/>
              <a:cs typeface="Times New Roman" panose="02020603050405020304" charset="0"/>
            </a:endParaRPr>
          </a:p>
        </p:txBody>
      </p:sp>
      <p:pic>
        <p:nvPicPr>
          <p:cNvPr id="6" name="Picture 5"/>
          <p:cNvPicPr>
            <a:picLocks noChangeAspect="1"/>
          </p:cNvPicPr>
          <p:nvPr/>
        </p:nvPicPr>
        <p:blipFill>
          <a:blip r:embed="rId2"/>
          <a:stretch>
            <a:fillRect/>
          </a:stretch>
        </p:blipFill>
        <p:spPr>
          <a:xfrm>
            <a:off x="855345" y="1604010"/>
            <a:ext cx="7907020" cy="498475"/>
          </a:xfrm>
          <a:prstGeom prst="rect">
            <a:avLst/>
          </a:prstGeom>
        </p:spPr>
      </p:pic>
      <p:cxnSp>
        <p:nvCxnSpPr>
          <p:cNvPr id="8" name="Straight Arrow Connector 7"/>
          <p:cNvCxnSpPr/>
          <p:nvPr/>
        </p:nvCxnSpPr>
        <p:spPr>
          <a:xfrm>
            <a:off x="913765" y="1482725"/>
            <a:ext cx="3129280"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604895" y="514350"/>
            <a:ext cx="4064000" cy="521970"/>
          </a:xfrm>
          <a:prstGeom prst="rect">
            <a:avLst/>
          </a:prstGeom>
          <a:noFill/>
        </p:spPr>
        <p:txBody>
          <a:bodyPr wrap="square" rtlCol="0">
            <a:spAutoFit/>
          </a:bodyPr>
          <a:lstStyle/>
          <a:p>
            <a:r>
              <a:rPr lang="en-US" sz="2800">
                <a:latin typeface="Times New Roman" panose="02020603050405020304" charset="0"/>
                <a:cs typeface="Times New Roman" panose="02020603050405020304" charset="0"/>
              </a:rPr>
              <a:t>The area of the variable. </a:t>
            </a:r>
            <a:r>
              <a:rPr lang="en-US"/>
              <a:t> </a:t>
            </a:r>
          </a:p>
        </p:txBody>
      </p:sp>
      <p:pic>
        <p:nvPicPr>
          <p:cNvPr id="5" name="Picture 4"/>
          <p:cNvPicPr>
            <a:picLocks noChangeAspect="1"/>
          </p:cNvPicPr>
          <p:nvPr/>
        </p:nvPicPr>
        <p:blipFill>
          <a:blip r:embed="rId2"/>
          <a:stretch>
            <a:fillRect/>
          </a:stretch>
        </p:blipFill>
        <p:spPr>
          <a:xfrm>
            <a:off x="1689100" y="1197610"/>
            <a:ext cx="8615045" cy="5229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47065" y="268605"/>
            <a:ext cx="10767060" cy="337185"/>
          </a:xfrm>
          <a:prstGeom prst="rect">
            <a:avLst/>
          </a:prstGeom>
        </p:spPr>
        <p:txBody>
          <a:bodyPr wrap="square">
            <a:spAutoFit/>
          </a:bodyPr>
          <a:lstStyle/>
          <a:p>
            <a:pPr marL="0" indent="0"/>
            <a:r>
              <a:rPr sz="1600" b="0" i="0">
                <a:solidFill>
                  <a:srgbClr val="252525"/>
                </a:solidFill>
                <a:latin typeface="Roboto"/>
                <a:ea typeface="Roboto"/>
              </a:rPr>
              <a:t>In Java, </a:t>
            </a:r>
            <a:r>
              <a:rPr sz="1600" b="0" i="0">
                <a:solidFill>
                  <a:srgbClr val="252525"/>
                </a:solidFill>
                <a:highlight>
                  <a:srgbClr val="FF0000"/>
                </a:highlight>
                <a:latin typeface="Roboto"/>
                <a:ea typeface="Roboto"/>
              </a:rPr>
              <a:t>you cannot </a:t>
            </a:r>
            <a:r>
              <a:rPr sz="1600" b="0" i="0">
                <a:solidFill>
                  <a:srgbClr val="252525"/>
                </a:solidFill>
                <a:latin typeface="Roboto"/>
                <a:ea typeface="Roboto"/>
              </a:rPr>
              <a:t>declare a variable in a nested block that has the </a:t>
            </a:r>
            <a:r>
              <a:rPr sz="1600" b="0" i="0">
                <a:solidFill>
                  <a:srgbClr val="252525"/>
                </a:solidFill>
                <a:highlight>
                  <a:srgbClr val="FF0000"/>
                </a:highlight>
                <a:latin typeface="Roboto"/>
                <a:ea typeface="Roboto"/>
              </a:rPr>
              <a:t>same name as a variable in an outer block.</a:t>
            </a:r>
          </a:p>
        </p:txBody>
      </p:sp>
      <p:pic>
        <p:nvPicPr>
          <p:cNvPr id="5" name="Picture 4"/>
          <p:cNvPicPr>
            <a:picLocks noChangeAspect="1"/>
          </p:cNvPicPr>
          <p:nvPr/>
        </p:nvPicPr>
        <p:blipFill>
          <a:blip r:embed="rId2"/>
          <a:stretch>
            <a:fillRect/>
          </a:stretch>
        </p:blipFill>
        <p:spPr>
          <a:xfrm>
            <a:off x="2241550" y="932815"/>
            <a:ext cx="7993380" cy="2575560"/>
          </a:xfrm>
          <a:prstGeom prst="rect">
            <a:avLst/>
          </a:prstGeom>
        </p:spPr>
      </p:pic>
      <p:sp>
        <p:nvSpPr>
          <p:cNvPr id="6" name="Rectangles 5"/>
          <p:cNvSpPr/>
          <p:nvPr/>
        </p:nvSpPr>
        <p:spPr>
          <a:xfrm>
            <a:off x="3921760" y="2463165"/>
            <a:ext cx="2787015" cy="4946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pic>
        <p:nvPicPr>
          <p:cNvPr id="7" name="Picture 6"/>
          <p:cNvPicPr>
            <a:picLocks noChangeAspect="1"/>
          </p:cNvPicPr>
          <p:nvPr/>
        </p:nvPicPr>
        <p:blipFill>
          <a:blip r:embed="rId3"/>
          <a:srcRect l="11501" t="24364" r="31630" b="39150"/>
          <a:stretch>
            <a:fillRect/>
          </a:stretch>
        </p:blipFill>
        <p:spPr>
          <a:xfrm>
            <a:off x="2241550" y="3835400"/>
            <a:ext cx="7732395" cy="2777490"/>
          </a:xfrm>
          <a:prstGeom prst="rect">
            <a:avLst/>
          </a:prstGeom>
        </p:spPr>
      </p:pic>
      <p:sp>
        <p:nvSpPr>
          <p:cNvPr id="8" name="Rectangles 7"/>
          <p:cNvSpPr/>
          <p:nvPr/>
        </p:nvSpPr>
        <p:spPr>
          <a:xfrm>
            <a:off x="4342130" y="4139565"/>
            <a:ext cx="5092065" cy="4946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0" y="297180"/>
            <a:ext cx="11998960" cy="1198880"/>
          </a:xfrm>
          <a:prstGeom prst="rect">
            <a:avLst/>
          </a:prstGeom>
          <a:noFill/>
        </p:spPr>
        <p:txBody>
          <a:bodyPr wrap="square" rtlCol="0" anchor="t">
            <a:spAutoFit/>
          </a:bodyPr>
          <a:lstStyle/>
          <a:p>
            <a:r>
              <a:rPr lang="en-US" altLang="en-US"/>
              <a:t>The global variable (class field) must be declared outside any method. It is available (visible) inside any method of this class. The global variable declaration can be placed in the code even after it is used in the method. If a local variable with the same name as the global variable is declared in the method or block, then the</a:t>
            </a:r>
            <a:r>
              <a:rPr lang="en-US" altLang="en-US" u="sng">
                <a:highlight>
                  <a:srgbClr val="FFFF00"/>
                </a:highlight>
              </a:rPr>
              <a:t> local variable has priority</a:t>
            </a:r>
            <a:r>
              <a:rPr lang="en-US" altLang="en-US"/>
              <a:t> ("obscures itself" the global variable).</a:t>
            </a:r>
            <a:endParaRPr lang="en-US"/>
          </a:p>
        </p:txBody>
      </p:sp>
      <p:pic>
        <p:nvPicPr>
          <p:cNvPr id="7" name="Picture 6"/>
          <p:cNvPicPr>
            <a:picLocks noChangeAspect="1"/>
          </p:cNvPicPr>
          <p:nvPr/>
        </p:nvPicPr>
        <p:blipFill>
          <a:blip r:embed="rId2"/>
          <a:stretch>
            <a:fillRect/>
          </a:stretch>
        </p:blipFill>
        <p:spPr>
          <a:xfrm>
            <a:off x="1645920" y="1282700"/>
            <a:ext cx="8900160" cy="3741420"/>
          </a:xfrm>
          <a:prstGeom prst="rect">
            <a:avLst/>
          </a:prstGeom>
        </p:spPr>
      </p:pic>
      <p:pic>
        <p:nvPicPr>
          <p:cNvPr id="8" name="Picture 7"/>
          <p:cNvPicPr>
            <a:picLocks noChangeAspect="1"/>
          </p:cNvPicPr>
          <p:nvPr/>
        </p:nvPicPr>
        <p:blipFill>
          <a:blip r:embed="rId3"/>
          <a:stretch>
            <a:fillRect/>
          </a:stretch>
        </p:blipFill>
        <p:spPr>
          <a:xfrm>
            <a:off x="3425190" y="5153660"/>
            <a:ext cx="5608320" cy="1211580"/>
          </a:xfrm>
          <a:prstGeom prst="rect">
            <a:avLst/>
          </a:prstGeom>
        </p:spPr>
      </p:pic>
      <p:sp>
        <p:nvSpPr>
          <p:cNvPr id="9" name="Text Box 8"/>
          <p:cNvSpPr txBox="1"/>
          <p:nvPr/>
        </p:nvSpPr>
        <p:spPr>
          <a:xfrm>
            <a:off x="2065020" y="5153660"/>
            <a:ext cx="1287780" cy="368300"/>
          </a:xfrm>
          <a:prstGeom prst="rect">
            <a:avLst/>
          </a:prstGeom>
          <a:noFill/>
        </p:spPr>
        <p:txBody>
          <a:bodyPr wrap="square" rtlCol="0">
            <a:spAutoFit/>
          </a:bodyPr>
          <a:lstStyle/>
          <a:p>
            <a:r>
              <a:rPr lang="en-US"/>
              <a:t>output:</a:t>
            </a:r>
          </a:p>
        </p:txBody>
      </p:sp>
      <p:sp>
        <p:nvSpPr>
          <p:cNvPr id="10" name="Rectangles 9"/>
          <p:cNvSpPr/>
          <p:nvPr/>
        </p:nvSpPr>
        <p:spPr>
          <a:xfrm>
            <a:off x="3370580" y="1673225"/>
            <a:ext cx="1502410" cy="32385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1" name="Rectangles 10"/>
          <p:cNvSpPr/>
          <p:nvPr/>
        </p:nvSpPr>
        <p:spPr>
          <a:xfrm>
            <a:off x="2874645" y="2886075"/>
            <a:ext cx="1502410" cy="32385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2" name="Rectangles 11"/>
          <p:cNvSpPr/>
          <p:nvPr/>
        </p:nvSpPr>
        <p:spPr>
          <a:xfrm>
            <a:off x="3425190" y="5198110"/>
            <a:ext cx="1502410" cy="32385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4468495" y="398780"/>
            <a:ext cx="4064000" cy="368300"/>
          </a:xfrm>
          <a:prstGeom prst="rect">
            <a:avLst/>
          </a:prstGeom>
          <a:noFill/>
        </p:spPr>
        <p:txBody>
          <a:bodyPr wrap="square" rtlCol="0">
            <a:spAutoFit/>
          </a:bodyPr>
          <a:lstStyle/>
          <a:p>
            <a:r>
              <a:rPr lang="en-US"/>
              <a:t>Variable rules:</a:t>
            </a:r>
          </a:p>
        </p:txBody>
      </p:sp>
      <p:sp>
        <p:nvSpPr>
          <p:cNvPr id="7" name="Text Box 6"/>
          <p:cNvSpPr txBox="1"/>
          <p:nvPr/>
        </p:nvSpPr>
        <p:spPr>
          <a:xfrm>
            <a:off x="1576070" y="1508760"/>
            <a:ext cx="7964805" cy="922020"/>
          </a:xfrm>
          <a:prstGeom prst="rect">
            <a:avLst/>
          </a:prstGeom>
          <a:noFill/>
        </p:spPr>
        <p:txBody>
          <a:bodyPr wrap="square" rtlCol="0">
            <a:spAutoFit/>
          </a:bodyPr>
          <a:lstStyle/>
          <a:p>
            <a:r>
              <a:rPr lang="en-US"/>
              <a:t>// the name of the variable does not start from the number</a:t>
            </a:r>
          </a:p>
          <a:p>
            <a:r>
              <a:rPr lang="en-US"/>
              <a:t>// to write the same we can use english letters,numbers, _ and $ without space</a:t>
            </a:r>
          </a:p>
          <a:p>
            <a:r>
              <a:rPr lang="en-US"/>
              <a:t>// you cant use the key words such as; true, false, if, else if etc... </a:t>
            </a:r>
          </a:p>
        </p:txBody>
      </p:sp>
      <p:sp>
        <p:nvSpPr>
          <p:cNvPr id="9" name="Text Box 8"/>
          <p:cNvSpPr txBox="1"/>
          <p:nvPr/>
        </p:nvSpPr>
        <p:spPr>
          <a:xfrm>
            <a:off x="8130540" y="3432810"/>
            <a:ext cx="4064000" cy="368300"/>
          </a:xfrm>
          <a:prstGeom prst="rect">
            <a:avLst/>
          </a:prstGeom>
          <a:noFill/>
        </p:spPr>
        <p:txBody>
          <a:bodyPr wrap="square" rtlCol="0">
            <a:spAutoFit/>
          </a:bodyPr>
          <a:lstStyle/>
          <a:p>
            <a:r>
              <a:rPr lang="en-US"/>
              <a:t>constant value</a:t>
            </a:r>
          </a:p>
        </p:txBody>
      </p:sp>
      <p:pic>
        <p:nvPicPr>
          <p:cNvPr id="10" name="Picture 9"/>
          <p:cNvPicPr>
            <a:picLocks noChangeAspect="1"/>
          </p:cNvPicPr>
          <p:nvPr/>
        </p:nvPicPr>
        <p:blipFill>
          <a:blip r:embed="rId2"/>
          <a:stretch>
            <a:fillRect/>
          </a:stretch>
        </p:blipFill>
        <p:spPr>
          <a:xfrm>
            <a:off x="1576070" y="2620010"/>
            <a:ext cx="6096000" cy="1333500"/>
          </a:xfrm>
          <a:prstGeom prst="rect">
            <a:avLst/>
          </a:prstGeom>
        </p:spPr>
      </p:pic>
      <p:pic>
        <p:nvPicPr>
          <p:cNvPr id="11" name="Picture 10"/>
          <p:cNvPicPr>
            <a:picLocks noChangeAspect="1"/>
          </p:cNvPicPr>
          <p:nvPr/>
        </p:nvPicPr>
        <p:blipFill>
          <a:blip r:embed="rId3"/>
          <a:srcRect l="16898" t="34198" r="37513" b="44061"/>
          <a:stretch>
            <a:fillRect/>
          </a:stretch>
        </p:blipFill>
        <p:spPr>
          <a:xfrm>
            <a:off x="3233420" y="4142740"/>
            <a:ext cx="8187690" cy="2196465"/>
          </a:xfrm>
          <a:prstGeom prst="rect">
            <a:avLst/>
          </a:prstGeom>
        </p:spPr>
      </p:pic>
      <p:sp>
        <p:nvSpPr>
          <p:cNvPr id="12" name="Rectangles 11"/>
          <p:cNvSpPr/>
          <p:nvPr/>
        </p:nvSpPr>
        <p:spPr>
          <a:xfrm>
            <a:off x="4688205" y="4284345"/>
            <a:ext cx="6508115" cy="32385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45" y="0"/>
            <a:ext cx="10515600" cy="774700"/>
          </a:xfrm>
        </p:spPr>
        <p:txBody>
          <a:bodyPr/>
          <a:lstStyle/>
          <a:p>
            <a:r>
              <a:rPr lang="en-US" altLang="en-US" sz="2800"/>
              <a:t>Assignment operation</a:t>
            </a:r>
          </a:p>
        </p:txBody>
      </p:sp>
      <p:sp>
        <p:nvSpPr>
          <p:cNvPr id="5" name="Text Box 4"/>
          <p:cNvSpPr txBox="1"/>
          <p:nvPr/>
        </p:nvSpPr>
        <p:spPr>
          <a:xfrm>
            <a:off x="706120" y="3870325"/>
            <a:ext cx="11282045" cy="368300"/>
          </a:xfrm>
          <a:prstGeom prst="rect">
            <a:avLst/>
          </a:prstGeom>
          <a:noFill/>
        </p:spPr>
        <p:txBody>
          <a:bodyPr wrap="square" rtlCol="0" anchor="t">
            <a:spAutoFit/>
          </a:bodyPr>
          <a:lstStyle/>
          <a:p>
            <a:r>
              <a:rPr lang="en-US" altLang="en-US"/>
              <a:t> </a:t>
            </a:r>
            <a:endParaRPr lang="en-US"/>
          </a:p>
        </p:txBody>
      </p:sp>
      <p:pic>
        <p:nvPicPr>
          <p:cNvPr id="3" name="Picture 2"/>
          <p:cNvPicPr>
            <a:picLocks noChangeAspect="1"/>
          </p:cNvPicPr>
          <p:nvPr/>
        </p:nvPicPr>
        <p:blipFill>
          <a:blip r:embed="rId2"/>
          <a:stretch>
            <a:fillRect/>
          </a:stretch>
        </p:blipFill>
        <p:spPr>
          <a:xfrm>
            <a:off x="487680" y="723900"/>
            <a:ext cx="6347460" cy="2705100"/>
          </a:xfrm>
          <a:prstGeom prst="rect">
            <a:avLst/>
          </a:prstGeom>
        </p:spPr>
      </p:pic>
      <p:sp>
        <p:nvSpPr>
          <p:cNvPr id="12" name="Rectangles 11"/>
          <p:cNvSpPr/>
          <p:nvPr/>
        </p:nvSpPr>
        <p:spPr>
          <a:xfrm>
            <a:off x="1835150" y="1384300"/>
            <a:ext cx="1597025" cy="28638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cxnSp>
        <p:nvCxnSpPr>
          <p:cNvPr id="6" name="Straight Arrow Connector 5"/>
          <p:cNvCxnSpPr/>
          <p:nvPr/>
        </p:nvCxnSpPr>
        <p:spPr>
          <a:xfrm flipH="1">
            <a:off x="5952490" y="1778000"/>
            <a:ext cx="789305"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7" name="Straight Arrow Connector 6"/>
          <p:cNvCxnSpPr/>
          <p:nvPr/>
        </p:nvCxnSpPr>
        <p:spPr>
          <a:xfrm flipH="1">
            <a:off x="1202055" y="3031490"/>
            <a:ext cx="548005"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60960"/>
            <a:ext cx="10515600" cy="1325563"/>
          </a:xfrm>
        </p:spPr>
        <p:txBody>
          <a:bodyPr/>
          <a:lstStyle/>
          <a:p>
            <a:pPr algn="ctr"/>
            <a:r>
              <a:rPr lang="en-US" altLang="en-US"/>
              <a:t>Java - Basic Operators</a:t>
            </a:r>
          </a:p>
        </p:txBody>
      </p:sp>
      <p:sp>
        <p:nvSpPr>
          <p:cNvPr id="5" name="Text Box 4"/>
          <p:cNvSpPr txBox="1"/>
          <p:nvPr/>
        </p:nvSpPr>
        <p:spPr>
          <a:xfrm>
            <a:off x="1396365" y="1922780"/>
            <a:ext cx="9018270" cy="3611245"/>
          </a:xfrm>
          <a:prstGeom prst="rect">
            <a:avLst/>
          </a:prstGeom>
        </p:spPr>
        <p:txBody>
          <a:bodyPr>
            <a:noAutofit/>
          </a:bodyPr>
          <a:lstStyle/>
          <a:p>
            <a:pPr marL="0" indent="0"/>
            <a:r>
              <a:rPr b="0" i="0">
                <a:solidFill>
                  <a:srgbClr val="000000"/>
                </a:solidFill>
                <a:latin typeface="Verdana" panose="020B0604030504040204"/>
                <a:ea typeface="Verdana" panose="020B0604030504040204"/>
              </a:rPr>
              <a:t>There are different types of operators in Java, we have listed them below</a:t>
            </a:r>
            <a:r>
              <a:rPr lang="en-US" b="0" i="0">
                <a:solidFill>
                  <a:srgbClr val="000000"/>
                </a:solidFill>
                <a:latin typeface="Verdana" panose="020B0604030504040204"/>
                <a:ea typeface="Verdana" panose="020B0604030504040204"/>
              </a:rPr>
              <a:t>:</a:t>
            </a:r>
            <a:r>
              <a:rPr sz="1600" b="0" i="0">
                <a:solidFill>
                  <a:srgbClr val="000000"/>
                </a:solidFill>
                <a:latin typeface="Verdana" panose="020B0604030504040204"/>
                <a:ea typeface="Verdana" panose="020B0604030504040204"/>
              </a:rPr>
              <a:t> </a:t>
            </a:r>
          </a:p>
          <a:p>
            <a:pPr marL="0" indent="0"/>
            <a:endParaRPr sz="1600" b="0" i="0">
              <a:solidFill>
                <a:srgbClr val="000000"/>
              </a:solidFill>
              <a:latin typeface="Verdana" panose="020B0604030504040204"/>
              <a:ea typeface="Verdana" panose="020B0604030504040204"/>
            </a:endParaRP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Arithmetic Operators</a:t>
            </a:r>
            <a:r>
              <a:rPr lang="en-US" b="0" i="0">
                <a:solidFill>
                  <a:srgbClr val="000000"/>
                </a:solidFill>
                <a:latin typeface="Verdana" panose="020B0604030504040204"/>
                <a:ea typeface="Verdana" panose="020B0604030504040204"/>
              </a:rPr>
              <a:t> </a:t>
            </a:r>
            <a:r>
              <a:rPr lang="en-US" sz="1400" b="0" i="1">
                <a:solidFill>
                  <a:srgbClr val="000000"/>
                </a:solidFill>
                <a:latin typeface="Verdana" panose="020B0604030504040204"/>
                <a:ea typeface="Verdana" panose="020B0604030504040204"/>
              </a:rPr>
              <a:t>#some of them we saw in lecture 3</a:t>
            </a:r>
            <a:endParaRPr b="0" i="0">
              <a:solidFill>
                <a:srgbClr val="000000"/>
              </a:solidFill>
              <a:latin typeface="Verdana" panose="020B0604030504040204"/>
              <a:ea typeface="Verdana" panose="020B0604030504040204"/>
            </a:endParaRP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Relational Operators</a:t>
            </a: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Bitwise Operators</a:t>
            </a: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Logical Operators</a:t>
            </a: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Assignment Operators</a:t>
            </a:r>
          </a:p>
          <a:p>
            <a:pPr marL="0" indent="0" algn="just">
              <a:lnSpc>
                <a:spcPct val="150000"/>
              </a:lnSpc>
              <a:spcBef>
                <a:spcPct val="0"/>
              </a:spcBef>
              <a:spcAft>
                <a:spcPct val="0"/>
              </a:spcAft>
              <a:buFont typeface="Arial" panose="020B0604020202020204"/>
              <a:buChar char="•"/>
            </a:pPr>
            <a:r>
              <a:rPr b="0" i="0">
                <a:solidFill>
                  <a:srgbClr val="000000"/>
                </a:solidFill>
                <a:latin typeface="Verdana" panose="020B0604030504040204"/>
                <a:ea typeface="Verdana" panose="020B0604030504040204"/>
              </a:rPr>
              <a:t>Misc Operators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550" y="204470"/>
            <a:ext cx="10515600" cy="204470"/>
          </a:xfrm>
        </p:spPr>
        <p:txBody>
          <a:bodyPr>
            <a:normAutofit fontScale="90000"/>
          </a:bodyPr>
          <a:lstStyle/>
          <a:p>
            <a:pPr algn="ctr"/>
            <a:r>
              <a:rPr lang="en-US" altLang="en-US" sz="3200"/>
              <a:t>Java Arithmetic Operators</a:t>
            </a:r>
          </a:p>
        </p:txBody>
      </p:sp>
      <p:pic>
        <p:nvPicPr>
          <p:cNvPr id="4" name="Picture 3"/>
          <p:cNvPicPr>
            <a:picLocks noChangeAspect="1"/>
          </p:cNvPicPr>
          <p:nvPr/>
        </p:nvPicPr>
        <p:blipFill>
          <a:blip r:embed="rId2"/>
          <a:stretch>
            <a:fillRect/>
          </a:stretch>
        </p:blipFill>
        <p:spPr>
          <a:xfrm>
            <a:off x="2019300" y="1915795"/>
            <a:ext cx="7658735" cy="4310380"/>
          </a:xfrm>
          <a:prstGeom prst="rect">
            <a:avLst/>
          </a:prstGeom>
        </p:spPr>
      </p:pic>
      <p:sp>
        <p:nvSpPr>
          <p:cNvPr id="5" name="Text Box 4"/>
          <p:cNvSpPr txBox="1"/>
          <p:nvPr/>
        </p:nvSpPr>
        <p:spPr>
          <a:xfrm>
            <a:off x="169545" y="747395"/>
            <a:ext cx="11595100" cy="58356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Arithmetic operators are used in mathematical expressions in the same way that they are used in algebra.</a:t>
            </a:r>
            <a:r>
              <a:rPr lang="en-US" sz="1600" b="0" i="0">
                <a:solidFill>
                  <a:srgbClr val="000000"/>
                </a:solidFill>
                <a:latin typeface="Verdana" panose="020B0604030504040204"/>
                <a:ea typeface="Verdana" panose="020B0604030504040204"/>
              </a:rPr>
              <a:t> </a:t>
            </a:r>
            <a:r>
              <a:rPr lang="en-US" altLang="en-US" sz="1600" b="0" i="0">
                <a:solidFill>
                  <a:srgbClr val="000000"/>
                </a:solidFill>
                <a:latin typeface="Verdana" panose="020B0604030504040204"/>
                <a:ea typeface="Verdana" panose="020B0604030504040204"/>
              </a:rPr>
              <a:t>Assume integer variable A holds 10 and variable B holds 20, then;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516890" y="1622425"/>
            <a:ext cx="6224270" cy="3229610"/>
          </a:xfrm>
          <a:prstGeom prst="rect">
            <a:avLst/>
          </a:prstGeom>
        </p:spPr>
      </p:pic>
      <p:sp>
        <p:nvSpPr>
          <p:cNvPr id="8" name="Text Box 7"/>
          <p:cNvSpPr txBox="1"/>
          <p:nvPr/>
        </p:nvSpPr>
        <p:spPr>
          <a:xfrm>
            <a:off x="408940" y="962025"/>
            <a:ext cx="11003915" cy="368300"/>
          </a:xfrm>
          <a:prstGeom prst="rect">
            <a:avLst/>
          </a:prstGeom>
          <a:noFill/>
        </p:spPr>
        <p:txBody>
          <a:bodyPr wrap="square" rtlCol="0" anchor="t">
            <a:spAutoFit/>
          </a:bodyPr>
          <a:lstStyle/>
          <a:p>
            <a:r>
              <a:rPr lang="en-US" altLang="en-US"/>
              <a:t>Lets see how can we use compound assignments operations: +=,  -=, *=,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49860" y="151765"/>
            <a:ext cx="4064000" cy="368300"/>
          </a:xfrm>
          <a:prstGeom prst="rect">
            <a:avLst/>
          </a:prstGeom>
          <a:noFill/>
        </p:spPr>
        <p:txBody>
          <a:bodyPr wrap="square" rtlCol="0">
            <a:spAutoFit/>
          </a:bodyPr>
          <a:lstStyle/>
          <a:p>
            <a:r>
              <a:rPr lang="en-US" b="1">
                <a:highlight>
                  <a:srgbClr val="FFFF00"/>
                </a:highlight>
              </a:rPr>
              <a:t>Exercise:</a:t>
            </a:r>
            <a:r>
              <a:rPr lang="en-US"/>
              <a:t> </a:t>
            </a:r>
          </a:p>
        </p:txBody>
      </p:sp>
      <p:pic>
        <p:nvPicPr>
          <p:cNvPr id="9" name="Picture 8"/>
          <p:cNvPicPr>
            <a:picLocks noChangeAspect="1"/>
          </p:cNvPicPr>
          <p:nvPr/>
        </p:nvPicPr>
        <p:blipFill>
          <a:blip r:embed="rId2"/>
          <a:stretch>
            <a:fillRect/>
          </a:stretch>
        </p:blipFill>
        <p:spPr>
          <a:xfrm>
            <a:off x="774065" y="2188845"/>
            <a:ext cx="6427470" cy="3335020"/>
          </a:xfrm>
          <a:prstGeom prst="rect">
            <a:avLst/>
          </a:prstGeom>
        </p:spPr>
      </p:pic>
      <p:sp>
        <p:nvSpPr>
          <p:cNvPr id="5" name="Text Box 4"/>
          <p:cNvSpPr txBox="1"/>
          <p:nvPr/>
        </p:nvSpPr>
        <p:spPr>
          <a:xfrm>
            <a:off x="492760" y="893445"/>
            <a:ext cx="4064000" cy="922020"/>
          </a:xfrm>
          <a:prstGeom prst="rect">
            <a:avLst/>
          </a:prstGeom>
          <a:noFill/>
        </p:spPr>
        <p:txBody>
          <a:bodyPr wrap="square" rtlCol="0">
            <a:spAutoFit/>
          </a:bodyPr>
          <a:lstStyle/>
          <a:p>
            <a:r>
              <a:rPr lang="en-US"/>
              <a:t>Looking at the example you have to write same code for k = 20 and execute each line of code to check the results: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15900" y="143510"/>
            <a:ext cx="11826240" cy="368300"/>
          </a:xfrm>
          <a:prstGeom prst="rect">
            <a:avLst/>
          </a:prstGeom>
          <a:noFill/>
        </p:spPr>
        <p:txBody>
          <a:bodyPr wrap="square" rtlCol="0" anchor="t">
            <a:spAutoFit/>
          </a:bodyPr>
          <a:lstStyle/>
          <a:p>
            <a:r>
              <a:rPr lang="en-US" altLang="en-US"/>
              <a:t>Let there be two variables a and b, and you need to change their values. How do you do this using the assignment operation?</a:t>
            </a:r>
          </a:p>
        </p:txBody>
      </p:sp>
      <p:sp>
        <p:nvSpPr>
          <p:cNvPr id="5" name="Text Box 4"/>
          <p:cNvSpPr txBox="1"/>
          <p:nvPr/>
        </p:nvSpPr>
        <p:spPr>
          <a:xfrm>
            <a:off x="300990" y="604520"/>
            <a:ext cx="9881235" cy="1476375"/>
          </a:xfrm>
          <a:prstGeom prst="rect">
            <a:avLst/>
          </a:prstGeom>
          <a:noFill/>
        </p:spPr>
        <p:txBody>
          <a:bodyPr wrap="square" rtlCol="0" anchor="t">
            <a:spAutoFit/>
          </a:bodyPr>
          <a:lstStyle/>
          <a:p>
            <a:r>
              <a:rPr lang="en-US" altLang="en-US"/>
              <a:t>Let’s imagine that we have not two variables, but two glasses. In a glass 1 is water, and in a glass 2 - coffee. And I want it to be the opposite: in glass 1 - coffee, and in glass 2 - water. What do you need to pour drinks? Right, you need a third glass! We temporarily pour in it, for example, coffee. Then glass 2 will be free, and you can pour water from glass 1 into it. In the empty glass, pour 1 cup of coffee from the auxiliary glass, which will then become unnecessary.</a:t>
            </a:r>
            <a:endParaRPr lang="en-US"/>
          </a:p>
        </p:txBody>
      </p:sp>
      <p:sp>
        <p:nvSpPr>
          <p:cNvPr id="6" name="Text Box 5"/>
          <p:cNvSpPr txBox="1"/>
          <p:nvPr/>
        </p:nvSpPr>
        <p:spPr>
          <a:xfrm>
            <a:off x="360680" y="2080895"/>
            <a:ext cx="9663430" cy="891540"/>
          </a:xfrm>
          <a:prstGeom prst="rect">
            <a:avLst/>
          </a:prstGeom>
        </p:spPr>
        <p:txBody>
          <a:bodyPr wrap="square">
            <a:spAutoFit/>
          </a:bodyPr>
          <a:lstStyle/>
          <a:p>
            <a:pPr marL="0" indent="0"/>
            <a:r>
              <a:rPr lang="en-US" altLang="en-US" b="0" i="0">
                <a:solidFill>
                  <a:srgbClr val="222222"/>
                </a:solidFill>
                <a:latin typeface="Calibri" panose="020F0502020204030204" charset="0"/>
                <a:ea typeface="Roboto"/>
                <a:cs typeface="Calibri" panose="020F0502020204030204" charset="0"/>
              </a:rPr>
              <a:t>Also with variables. To change their values we need a third, auxiliary variable. Call it, for example, tmp (from English temporary). The sequence of actions will be as follows:</a:t>
            </a:r>
          </a:p>
          <a:p>
            <a:pPr marL="0" indent="0"/>
            <a:r>
              <a:rPr lang="en-US" altLang="en-US" sz="1600" b="0" i="0">
                <a:solidFill>
                  <a:srgbClr val="222222"/>
                </a:solidFill>
                <a:highlight>
                  <a:srgbClr val="00FF00"/>
                </a:highlight>
                <a:latin typeface="Roboto"/>
                <a:ea typeface="Roboto"/>
              </a:rPr>
              <a:t>It is the rule of three glasses!</a:t>
            </a:r>
          </a:p>
        </p:txBody>
      </p:sp>
      <p:pic>
        <p:nvPicPr>
          <p:cNvPr id="7" name="Picture 6"/>
          <p:cNvPicPr>
            <a:picLocks noChangeAspect="1"/>
          </p:cNvPicPr>
          <p:nvPr/>
        </p:nvPicPr>
        <p:blipFill>
          <a:blip r:embed="rId2"/>
          <a:stretch>
            <a:fillRect/>
          </a:stretch>
        </p:blipFill>
        <p:spPr>
          <a:xfrm>
            <a:off x="6096000" y="3347085"/>
            <a:ext cx="6042660" cy="2903220"/>
          </a:xfrm>
          <a:prstGeom prst="rect">
            <a:avLst/>
          </a:prstGeom>
        </p:spPr>
      </p:pic>
      <p:pic>
        <p:nvPicPr>
          <p:cNvPr id="8" name="Picture 7"/>
          <p:cNvPicPr>
            <a:picLocks noChangeAspect="1"/>
          </p:cNvPicPr>
          <p:nvPr/>
        </p:nvPicPr>
        <p:blipFill>
          <a:blip r:embed="rId3"/>
          <a:srcRect r="6799"/>
          <a:stretch>
            <a:fillRect/>
          </a:stretch>
        </p:blipFill>
        <p:spPr>
          <a:xfrm>
            <a:off x="0" y="3429000"/>
            <a:ext cx="6171565" cy="2613660"/>
          </a:xfrm>
          <a:prstGeom prst="rect">
            <a:avLst/>
          </a:prstGeom>
        </p:spPr>
      </p:pic>
      <p:sp>
        <p:nvSpPr>
          <p:cNvPr id="9" name="Oval 8"/>
          <p:cNvSpPr/>
          <p:nvPr/>
        </p:nvSpPr>
        <p:spPr>
          <a:xfrm>
            <a:off x="7322185" y="3861435"/>
            <a:ext cx="418465" cy="44704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0" name="Oval 9"/>
          <p:cNvSpPr/>
          <p:nvPr/>
        </p:nvSpPr>
        <p:spPr>
          <a:xfrm>
            <a:off x="10736580" y="3761740"/>
            <a:ext cx="418465" cy="447040"/>
          </a:xfrm>
          <a:prstGeom prst="ellips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pic>
        <p:nvPicPr>
          <p:cNvPr id="11" name="Picture 10"/>
          <p:cNvPicPr>
            <a:picLocks noChangeAspect="1"/>
          </p:cNvPicPr>
          <p:nvPr/>
        </p:nvPicPr>
        <p:blipFill>
          <a:blip r:embed="rId4"/>
          <a:stretch>
            <a:fillRect/>
          </a:stretch>
        </p:blipFill>
        <p:spPr>
          <a:xfrm>
            <a:off x="9952990" y="604520"/>
            <a:ext cx="2175510" cy="9848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1850" y="795020"/>
            <a:ext cx="8437245" cy="5673090"/>
          </a:xfrm>
          <a:prstGeom prst="rect">
            <a:avLst/>
          </a:prstGeom>
        </p:spPr>
      </p:pic>
      <p:sp>
        <p:nvSpPr>
          <p:cNvPr id="12" name="Rectangles 11"/>
          <p:cNvSpPr/>
          <p:nvPr/>
        </p:nvSpPr>
        <p:spPr>
          <a:xfrm>
            <a:off x="831850" y="5782310"/>
            <a:ext cx="680720" cy="68580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234440" y="843915"/>
            <a:ext cx="4064000" cy="368300"/>
          </a:xfrm>
          <a:prstGeom prst="rect">
            <a:avLst/>
          </a:prstGeom>
          <a:noFill/>
        </p:spPr>
        <p:txBody>
          <a:bodyPr wrap="square" rtlCol="0">
            <a:spAutoFit/>
          </a:bodyPr>
          <a:lstStyle/>
          <a:p>
            <a:r>
              <a:rPr lang="en-US"/>
              <a:t>x=y=z=100</a:t>
            </a:r>
          </a:p>
        </p:txBody>
      </p:sp>
      <p:cxnSp>
        <p:nvCxnSpPr>
          <p:cNvPr id="5" name="Straight Arrow Connector 4"/>
          <p:cNvCxnSpPr/>
          <p:nvPr/>
        </p:nvCxnSpPr>
        <p:spPr>
          <a:xfrm flipH="1" flipV="1">
            <a:off x="1167765" y="265430"/>
            <a:ext cx="3300730" cy="952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6" name="Text Box 5"/>
          <p:cNvSpPr txBox="1"/>
          <p:nvPr/>
        </p:nvSpPr>
        <p:spPr>
          <a:xfrm>
            <a:off x="1234440" y="375285"/>
            <a:ext cx="4064000" cy="368300"/>
          </a:xfrm>
          <a:prstGeom prst="rect">
            <a:avLst/>
          </a:prstGeom>
          <a:noFill/>
        </p:spPr>
        <p:txBody>
          <a:bodyPr wrap="square" rtlCol="0">
            <a:spAutoFit/>
          </a:bodyPr>
          <a:lstStyle/>
          <a:p>
            <a:r>
              <a:rPr lang="en-US"/>
              <a:t>from right to left </a:t>
            </a:r>
          </a:p>
        </p:txBody>
      </p:sp>
      <p:sp>
        <p:nvSpPr>
          <p:cNvPr id="7" name="Text Box 6"/>
          <p:cNvSpPr txBox="1"/>
          <p:nvPr/>
        </p:nvSpPr>
        <p:spPr>
          <a:xfrm>
            <a:off x="2985135" y="850265"/>
            <a:ext cx="4064000" cy="368300"/>
          </a:xfrm>
          <a:prstGeom prst="rect">
            <a:avLst/>
          </a:prstGeom>
          <a:noFill/>
        </p:spPr>
        <p:txBody>
          <a:bodyPr wrap="square" rtlCol="0">
            <a:spAutoFit/>
          </a:bodyPr>
          <a:lstStyle/>
          <a:p>
            <a:r>
              <a:rPr lang="en-US"/>
              <a:t>first z = 100, then y=z, and then x = y</a:t>
            </a:r>
          </a:p>
        </p:txBody>
      </p:sp>
      <p:sp>
        <p:nvSpPr>
          <p:cNvPr id="8" name="Text Box 7"/>
          <p:cNvSpPr txBox="1"/>
          <p:nvPr/>
        </p:nvSpPr>
        <p:spPr>
          <a:xfrm>
            <a:off x="527050" y="1781175"/>
            <a:ext cx="6096000" cy="922020"/>
          </a:xfrm>
          <a:prstGeom prst="rect">
            <a:avLst/>
          </a:prstGeom>
          <a:noFill/>
        </p:spPr>
        <p:txBody>
          <a:bodyPr wrap="square" rtlCol="0" anchor="t">
            <a:spAutoFit/>
          </a:bodyPr>
          <a:lstStyle/>
          <a:p>
            <a:r>
              <a:rPr lang="en-US" altLang="en-US">
                <a:highlight>
                  <a:srgbClr val="FFFF00"/>
                </a:highlight>
              </a:rPr>
              <a:t>Which operator allows to increase the value of variable k by 3?</a:t>
            </a:r>
          </a:p>
          <a:p>
            <a:endParaRPr lang="en-US" altLang="en-US"/>
          </a:p>
          <a:p>
            <a:endParaRPr lang="en-US" altLang="en-US"/>
          </a:p>
        </p:txBody>
      </p:sp>
      <p:sp>
        <p:nvSpPr>
          <p:cNvPr id="9" name="Text Box 8"/>
          <p:cNvSpPr txBox="1"/>
          <p:nvPr/>
        </p:nvSpPr>
        <p:spPr>
          <a:xfrm>
            <a:off x="622935" y="2346960"/>
            <a:ext cx="6096000" cy="2030095"/>
          </a:xfrm>
          <a:prstGeom prst="rect">
            <a:avLst/>
          </a:prstGeom>
          <a:noFill/>
        </p:spPr>
        <p:txBody>
          <a:bodyPr wrap="square" rtlCol="0" anchor="t">
            <a:spAutoFit/>
          </a:bodyPr>
          <a:lstStyle/>
          <a:p>
            <a:r>
              <a:rPr lang="en-US" altLang="en-US"/>
              <a:t>1. k = k + 3;</a:t>
            </a:r>
          </a:p>
          <a:p>
            <a:endParaRPr lang="en-US" altLang="en-US"/>
          </a:p>
          <a:p>
            <a:r>
              <a:rPr lang="en-US" altLang="en-US"/>
              <a:t>2. k = b + 3;</a:t>
            </a:r>
          </a:p>
          <a:p>
            <a:endParaRPr lang="en-US" altLang="en-US"/>
          </a:p>
          <a:p>
            <a:r>
              <a:rPr lang="en-US" altLang="en-US"/>
              <a:t>3. k+3 = k;</a:t>
            </a:r>
          </a:p>
          <a:p>
            <a:endParaRPr lang="en-US" altLang="en-US"/>
          </a:p>
          <a:p>
            <a:r>
              <a:rPr lang="en-US" altLang="en-US"/>
              <a:t>4. k = 3;</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64185" y="579755"/>
            <a:ext cx="10149205" cy="1753235"/>
          </a:xfrm>
          <a:prstGeom prst="rect">
            <a:avLst/>
          </a:prstGeom>
          <a:noFill/>
        </p:spPr>
        <p:txBody>
          <a:bodyPr wrap="square" rtlCol="0">
            <a:spAutoFit/>
          </a:bodyPr>
          <a:lstStyle/>
          <a:p>
            <a:r>
              <a:rPr lang="en-US">
                <a:highlight>
                  <a:srgbClr val="00FF00"/>
                </a:highlight>
              </a:rPr>
              <a:t>Exercise: </a:t>
            </a:r>
            <a:r>
              <a:rPr lang="en-US"/>
              <a:t> You are given variables x and y , your task is to change places of these valuas:</a:t>
            </a:r>
          </a:p>
          <a:p>
            <a:endParaRPr lang="en-US"/>
          </a:p>
          <a:p>
            <a:r>
              <a:rPr lang="en-US"/>
              <a:t>x = 6</a:t>
            </a:r>
          </a:p>
          <a:p>
            <a:r>
              <a:rPr lang="en-US"/>
              <a:t>y = 9</a:t>
            </a:r>
          </a:p>
          <a:p>
            <a:endParaRPr lang="en-US"/>
          </a:p>
          <a:p>
            <a:r>
              <a:rPr lang="en-US"/>
              <a:t>output : y = 9, x = 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469640" y="598488"/>
            <a:ext cx="5080000" cy="337185"/>
          </a:xfrm>
          <a:prstGeom prst="rect">
            <a:avLst/>
          </a:prstGeom>
        </p:spPr>
        <p:txBody>
          <a:bodyPr>
            <a:spAutoFit/>
          </a:bodyPr>
          <a:lstStyle/>
          <a:p>
            <a:pPr marL="0" indent="0" algn="ctr">
              <a:spcBef>
                <a:spcPts val="1000"/>
              </a:spcBef>
              <a:spcAft>
                <a:spcPts val="1000"/>
              </a:spcAft>
            </a:pPr>
            <a:r>
              <a:rPr lang="en-US" altLang="en-US" sz="1600" b="1" i="0">
                <a:solidFill>
                  <a:srgbClr val="222222"/>
                </a:solidFill>
                <a:latin typeface="Roboto"/>
                <a:ea typeface="Roboto"/>
              </a:rPr>
              <a:t>Arithmetic operations in Java</a:t>
            </a:r>
            <a:r>
              <a:rPr sz="1600" b="1" i="0">
                <a:solidFill>
                  <a:srgbClr val="222222"/>
                </a:solidFill>
                <a:latin typeface="Roboto"/>
                <a:ea typeface="Roboto"/>
              </a:rPr>
              <a:t> </a:t>
            </a:r>
          </a:p>
        </p:txBody>
      </p:sp>
      <p:sp>
        <p:nvSpPr>
          <p:cNvPr id="5" name="Text Box 4"/>
          <p:cNvSpPr txBox="1"/>
          <p:nvPr/>
        </p:nvSpPr>
        <p:spPr>
          <a:xfrm>
            <a:off x="168910" y="1163955"/>
            <a:ext cx="11823065" cy="1198880"/>
          </a:xfrm>
          <a:prstGeom prst="rect">
            <a:avLst/>
          </a:prstGeom>
          <a:noFill/>
        </p:spPr>
        <p:txBody>
          <a:bodyPr wrap="square" rtlCol="0" anchor="t">
            <a:spAutoFit/>
          </a:bodyPr>
          <a:lstStyle/>
          <a:p>
            <a:r>
              <a:rPr lang="en-US" altLang="en-US"/>
              <a:t>Java defines arithmetic operations (+, -, *, /, %) that can be applied to numeric data of basic types, as well as values of char type.</a:t>
            </a:r>
          </a:p>
          <a:p>
            <a:endParaRPr lang="en-US" altLang="en-US"/>
          </a:p>
          <a:p>
            <a:endParaRPr lang="en-US" altLang="en-US"/>
          </a:p>
        </p:txBody>
      </p:sp>
      <p:sp>
        <p:nvSpPr>
          <p:cNvPr id="6" name="Text Box 5"/>
          <p:cNvSpPr txBox="1"/>
          <p:nvPr/>
        </p:nvSpPr>
        <p:spPr>
          <a:xfrm>
            <a:off x="168910" y="2275205"/>
            <a:ext cx="10713085" cy="2306955"/>
          </a:xfrm>
          <a:prstGeom prst="rect">
            <a:avLst/>
          </a:prstGeom>
          <a:noFill/>
        </p:spPr>
        <p:txBody>
          <a:bodyPr wrap="square" rtlCol="0" anchor="t">
            <a:spAutoFit/>
          </a:bodyPr>
          <a:lstStyle/>
          <a:p>
            <a:pPr marL="285750" indent="-285750">
              <a:buFont typeface="Arial" panose="020B0604020202020204" pitchFamily="34" charset="0"/>
              <a:buChar char="•"/>
            </a:pPr>
            <a:r>
              <a:rPr lang="en-US" altLang="en-US"/>
              <a:t> </a:t>
            </a:r>
            <a:r>
              <a:rPr lang="en-US" altLang="en-US" b="1"/>
              <a:t>-x </a:t>
            </a:r>
            <a:r>
              <a:rPr lang="en-US" altLang="en-US"/>
              <a:t>    One-dimensional minus: change the number sign to opposite  : hint: </a:t>
            </a:r>
            <a:r>
              <a:rPr lang="en-US" altLang="en-US" b="1"/>
              <a:t>int value = -x</a:t>
            </a:r>
          </a:p>
          <a:p>
            <a:pPr marL="285750" indent="-285750">
              <a:buFont typeface="Arial" panose="020B0604020202020204" pitchFamily="34" charset="0"/>
              <a:buChar char="•"/>
            </a:pPr>
            <a:r>
              <a:rPr lang="en-US" altLang="en-US" b="1"/>
              <a:t>+x  </a:t>
            </a:r>
            <a:r>
              <a:rPr lang="en-US" altLang="en-US"/>
              <a:t>  Unary plus: does nothing</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b="1"/>
              <a:t>x + y</a:t>
            </a:r>
            <a:r>
              <a:rPr lang="en-US" altLang="en-US"/>
              <a:t>  addition</a:t>
            </a:r>
          </a:p>
          <a:p>
            <a:pPr marL="285750" indent="-285750">
              <a:buFont typeface="Arial" panose="020B0604020202020204" pitchFamily="34" charset="0"/>
              <a:buChar char="•"/>
            </a:pPr>
            <a:r>
              <a:rPr lang="en-US" altLang="en-US" b="1"/>
              <a:t>x - y </a:t>
            </a:r>
            <a:r>
              <a:rPr lang="en-US" altLang="en-US"/>
              <a:t>  subtraction</a:t>
            </a:r>
          </a:p>
          <a:p>
            <a:pPr marL="285750" indent="-285750">
              <a:buFont typeface="Arial" panose="020B0604020202020204" pitchFamily="34" charset="0"/>
              <a:buChar char="•"/>
            </a:pPr>
            <a:r>
              <a:rPr lang="en-US" altLang="en-US" b="1"/>
              <a:t>x * y</a:t>
            </a:r>
            <a:r>
              <a:rPr lang="en-US" altLang="en-US"/>
              <a:t>  multiplication</a:t>
            </a:r>
          </a:p>
          <a:p>
            <a:pPr marL="285750" indent="-285750">
              <a:buFont typeface="Arial" panose="020B0604020202020204" pitchFamily="34" charset="0"/>
              <a:buChar char="•"/>
            </a:pPr>
            <a:r>
              <a:rPr lang="en-US" altLang="en-US" b="1"/>
              <a:t>x / y  </a:t>
            </a:r>
            <a:r>
              <a:rPr lang="en-US" altLang="en-US"/>
              <a:t>division</a:t>
            </a:r>
          </a:p>
          <a:p>
            <a:pPr marL="285750" indent="-285750">
              <a:buFont typeface="Arial" panose="020B0604020202020204" pitchFamily="34" charset="0"/>
              <a:buChar char="•"/>
            </a:pPr>
            <a:r>
              <a:rPr lang="en-US" altLang="en-US" b="1"/>
              <a:t>x % y</a:t>
            </a:r>
            <a:r>
              <a:rPr lang="en-US" altLang="en-US"/>
              <a:t>  the remainder</a:t>
            </a:r>
            <a:endParaRPr lang="en-US"/>
          </a:p>
        </p:txBody>
      </p:sp>
      <p:sp>
        <p:nvSpPr>
          <p:cNvPr id="7" name="Text Box 6"/>
          <p:cNvSpPr txBox="1"/>
          <p:nvPr/>
        </p:nvSpPr>
        <p:spPr>
          <a:xfrm>
            <a:off x="1433830" y="4770755"/>
            <a:ext cx="6323965" cy="368300"/>
          </a:xfrm>
          <a:prstGeom prst="rect">
            <a:avLst/>
          </a:prstGeom>
          <a:noFill/>
        </p:spPr>
        <p:txBody>
          <a:bodyPr wrap="square" rtlCol="0">
            <a:spAutoFit/>
          </a:bodyPr>
          <a:lstStyle/>
          <a:p>
            <a:r>
              <a:rPr lang="en-US">
                <a:solidFill>
                  <a:srgbClr val="FF0000"/>
                </a:solidFill>
                <a:highlight>
                  <a:srgbClr val="00FF00"/>
                </a:highlight>
              </a:rPr>
              <a:t>your task make</a:t>
            </a:r>
            <a:r>
              <a:rPr lang="en-US">
                <a:solidFill>
                  <a:srgbClr val="FF0000"/>
                </a:solidFill>
              </a:rPr>
              <a:t> code for each arithmetic operation, x = 9 , y =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8615" y="846455"/>
            <a:ext cx="5427980" cy="4980305"/>
          </a:xfrm>
          <a:prstGeom prst="rect">
            <a:avLst/>
          </a:prstGeom>
        </p:spPr>
      </p:pic>
      <p:pic>
        <p:nvPicPr>
          <p:cNvPr id="5" name="Picture 4"/>
          <p:cNvPicPr>
            <a:picLocks noChangeAspect="1"/>
          </p:cNvPicPr>
          <p:nvPr/>
        </p:nvPicPr>
        <p:blipFill>
          <a:blip r:embed="rId3"/>
          <a:srcRect b="4005"/>
          <a:stretch>
            <a:fillRect/>
          </a:stretch>
        </p:blipFill>
        <p:spPr>
          <a:xfrm>
            <a:off x="6421120" y="1887220"/>
            <a:ext cx="4549775" cy="2480945"/>
          </a:xfrm>
          <a:prstGeom prst="rect">
            <a:avLst/>
          </a:prstGeom>
        </p:spPr>
      </p:pic>
      <p:sp>
        <p:nvSpPr>
          <p:cNvPr id="6" name="Text Box 5"/>
          <p:cNvSpPr txBox="1"/>
          <p:nvPr/>
        </p:nvSpPr>
        <p:spPr>
          <a:xfrm>
            <a:off x="6421120" y="1518920"/>
            <a:ext cx="4064000" cy="368300"/>
          </a:xfrm>
          <a:prstGeom prst="rect">
            <a:avLst/>
          </a:prstGeom>
          <a:noFill/>
        </p:spPr>
        <p:txBody>
          <a:bodyPr wrap="square" rtlCol="0">
            <a:spAutoFit/>
          </a:bodyPr>
          <a:lstStyle/>
          <a:p>
            <a:r>
              <a:rPr lang="en-US"/>
              <a:t>Output: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160" y="0"/>
            <a:ext cx="10515600" cy="603885"/>
          </a:xfrm>
        </p:spPr>
        <p:txBody>
          <a:bodyPr>
            <a:normAutofit fontScale="90000"/>
          </a:bodyPr>
          <a:lstStyle/>
          <a:p>
            <a:pPr algn="ctr"/>
            <a:r>
              <a:rPr lang="en-US" altLang="en-US"/>
              <a:t>Java Relational Operators</a:t>
            </a:r>
          </a:p>
        </p:txBody>
      </p:sp>
      <p:sp>
        <p:nvSpPr>
          <p:cNvPr id="4" name="Text Box 3"/>
          <p:cNvSpPr txBox="1"/>
          <p:nvPr/>
        </p:nvSpPr>
        <p:spPr>
          <a:xfrm>
            <a:off x="217805" y="603885"/>
            <a:ext cx="11223625" cy="33718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Assume variable A holds 10 and variable B holds 20, then</a:t>
            </a:r>
          </a:p>
        </p:txBody>
      </p:sp>
      <p:pic>
        <p:nvPicPr>
          <p:cNvPr id="5" name="Picture 4"/>
          <p:cNvPicPr>
            <a:picLocks noChangeAspect="1"/>
          </p:cNvPicPr>
          <p:nvPr/>
        </p:nvPicPr>
        <p:blipFill>
          <a:blip r:embed="rId2"/>
          <a:stretch>
            <a:fillRect/>
          </a:stretch>
        </p:blipFill>
        <p:spPr>
          <a:xfrm>
            <a:off x="2555240" y="1162050"/>
            <a:ext cx="7400290" cy="53149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52675" y="1331595"/>
            <a:ext cx="7323455" cy="4194175"/>
          </a:xfrm>
          <a:prstGeom prst="rect">
            <a:avLst/>
          </a:prstGeom>
        </p:spPr>
      </p:pic>
      <p:sp>
        <p:nvSpPr>
          <p:cNvPr id="6" name="Text Box 5"/>
          <p:cNvSpPr txBox="1"/>
          <p:nvPr/>
        </p:nvSpPr>
        <p:spPr>
          <a:xfrm>
            <a:off x="3668395" y="570230"/>
            <a:ext cx="4064000" cy="368300"/>
          </a:xfrm>
          <a:prstGeom prst="rect">
            <a:avLst/>
          </a:prstGeom>
          <a:noFill/>
        </p:spPr>
        <p:txBody>
          <a:bodyPr wrap="square" rtlCol="0">
            <a:spAutoFit/>
          </a:bodyPr>
          <a:lstStyle/>
          <a:p>
            <a:pPr algn="ctr"/>
            <a:r>
              <a:rPr lang="en-US"/>
              <a:t>Output of </a:t>
            </a:r>
            <a:r>
              <a:rPr lang="en-US" altLang="en-US">
                <a:sym typeface="+mn-ea"/>
              </a:rPr>
              <a:t>Relational Operators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210" y="0"/>
            <a:ext cx="10515600" cy="746125"/>
          </a:xfrm>
        </p:spPr>
        <p:txBody>
          <a:bodyPr/>
          <a:lstStyle/>
          <a:p>
            <a:pPr algn="ctr"/>
            <a:r>
              <a:rPr lang="en-US" altLang="en-US" sz="4000"/>
              <a:t>Character  types</a:t>
            </a:r>
          </a:p>
        </p:txBody>
      </p:sp>
      <p:pic>
        <p:nvPicPr>
          <p:cNvPr id="4" name="Picture 3"/>
          <p:cNvPicPr>
            <a:picLocks noChangeAspect="1"/>
          </p:cNvPicPr>
          <p:nvPr/>
        </p:nvPicPr>
        <p:blipFill>
          <a:blip r:embed="rId2"/>
          <a:stretch>
            <a:fillRect/>
          </a:stretch>
        </p:blipFill>
        <p:spPr>
          <a:xfrm>
            <a:off x="2064385" y="2588260"/>
            <a:ext cx="7449185" cy="2287270"/>
          </a:xfrm>
          <a:prstGeom prst="rect">
            <a:avLst/>
          </a:prstGeom>
        </p:spPr>
      </p:pic>
      <p:sp>
        <p:nvSpPr>
          <p:cNvPr id="5" name="Text Box 4"/>
          <p:cNvSpPr txBox="1"/>
          <p:nvPr/>
        </p:nvSpPr>
        <p:spPr>
          <a:xfrm>
            <a:off x="144145" y="929005"/>
            <a:ext cx="11488420" cy="1476375"/>
          </a:xfrm>
          <a:prstGeom prst="rect">
            <a:avLst/>
          </a:prstGeom>
          <a:noFill/>
        </p:spPr>
        <p:txBody>
          <a:bodyPr wrap="square" rtlCol="0" anchor="t">
            <a:spAutoFit/>
          </a:bodyPr>
          <a:lstStyle/>
          <a:p>
            <a:pPr algn="just"/>
            <a:r>
              <a:rPr lang="en-US" altLang="en-US"/>
              <a:t>Java uses the char data type to store symbols. Note, however, that in Java characters are represented in </a:t>
            </a:r>
            <a:r>
              <a:rPr lang="en-US" altLang="en-US">
                <a:highlight>
                  <a:srgbClr val="00FF00"/>
                </a:highlight>
              </a:rPr>
              <a:t>Unicode</a:t>
            </a:r>
            <a:r>
              <a:rPr lang="en-US" altLang="en-US"/>
              <a:t>. Unicode unifies dozens of character sets of multiple languages alphabets and other different characters. Initially, 16-bit space was needed to store characters, so a </a:t>
            </a:r>
            <a:r>
              <a:rPr lang="en-US" altLang="en-US">
                <a:highlight>
                  <a:srgbClr val="00FF00"/>
                </a:highlight>
              </a:rPr>
              <a:t>16-bit char</a:t>
            </a:r>
            <a:r>
              <a:rPr lang="en-US" altLang="en-US"/>
              <a:t> type was introduced in Java. The range of valid values for this data type is from 0</a:t>
            </a:r>
            <a:r>
              <a:rPr lang="en-US" altLang="en-US">
                <a:highlight>
                  <a:srgbClr val="00FF00"/>
                </a:highlight>
              </a:rPr>
              <a:t> to 65536</a:t>
            </a:r>
            <a:r>
              <a:rPr lang="en-US" altLang="en-US"/>
              <a:t>. </a:t>
            </a:r>
            <a:r>
              <a:rPr lang="en-US" altLang="en-US" u="sng"/>
              <a:t>Thus, a variable of type char we can assign both the number that will be converted into this number symbol and the character in single quotes.</a:t>
            </a:r>
          </a:p>
        </p:txBody>
      </p:sp>
      <p:pic>
        <p:nvPicPr>
          <p:cNvPr id="6" name="Picture 5"/>
          <p:cNvPicPr>
            <a:picLocks noChangeAspect="1"/>
          </p:cNvPicPr>
          <p:nvPr/>
        </p:nvPicPr>
        <p:blipFill>
          <a:blip r:embed="rId3"/>
          <a:stretch>
            <a:fillRect/>
          </a:stretch>
        </p:blipFill>
        <p:spPr>
          <a:xfrm>
            <a:off x="3550285" y="5227955"/>
            <a:ext cx="4477385" cy="1224915"/>
          </a:xfrm>
          <a:prstGeom prst="rect">
            <a:avLst/>
          </a:prstGeom>
        </p:spPr>
      </p:pic>
      <p:sp>
        <p:nvSpPr>
          <p:cNvPr id="7" name="Text Box 6"/>
          <p:cNvSpPr txBox="1"/>
          <p:nvPr/>
        </p:nvSpPr>
        <p:spPr>
          <a:xfrm>
            <a:off x="2032000" y="5830570"/>
            <a:ext cx="1153160" cy="368300"/>
          </a:xfrm>
          <a:prstGeom prst="rect">
            <a:avLst/>
          </a:prstGeom>
          <a:noFill/>
        </p:spPr>
        <p:txBody>
          <a:bodyPr wrap="square" rtlCol="0">
            <a:spAutoFit/>
          </a:bodyPr>
          <a:lstStyle/>
          <a:p>
            <a:r>
              <a:rPr lang="en-US"/>
              <a:t>Why?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03885"/>
          </a:xfrm>
        </p:spPr>
        <p:txBody>
          <a:bodyPr>
            <a:normAutofit fontScale="90000"/>
          </a:bodyPr>
          <a:lstStyle/>
          <a:p>
            <a:pPr algn="ctr"/>
            <a:r>
              <a:rPr lang="en-US"/>
              <a:t>Unicode</a:t>
            </a:r>
          </a:p>
        </p:txBody>
      </p:sp>
      <p:sp>
        <p:nvSpPr>
          <p:cNvPr id="4" name="Text Box 3"/>
          <p:cNvSpPr txBox="1"/>
          <p:nvPr/>
        </p:nvSpPr>
        <p:spPr>
          <a:xfrm>
            <a:off x="208280" y="775335"/>
            <a:ext cx="11879580" cy="58356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Unicode is an international character set that encompasses a vast range of characters, symbols, and scripts from many languages across the globe</a:t>
            </a:r>
            <a:r>
              <a:rPr lang="en-US" sz="1600" b="0" i="0">
                <a:solidFill>
                  <a:srgbClr val="000000"/>
                </a:solidFill>
                <a:latin typeface="Verdana" panose="020B0604030504040204"/>
                <a:ea typeface="Verdana" panose="020B0604030504040204"/>
              </a:rPr>
              <a:t>.</a:t>
            </a:r>
          </a:p>
        </p:txBody>
      </p:sp>
      <p:sp>
        <p:nvSpPr>
          <p:cNvPr id="6" name="Text Box 5"/>
          <p:cNvSpPr txBox="1"/>
          <p:nvPr/>
        </p:nvSpPr>
        <p:spPr>
          <a:xfrm>
            <a:off x="289560" y="1998345"/>
            <a:ext cx="10442575" cy="2584450"/>
          </a:xfrm>
          <a:prstGeom prst="rect">
            <a:avLst/>
          </a:prstGeom>
          <a:noFill/>
        </p:spPr>
        <p:txBody>
          <a:bodyPr wrap="square" rtlCol="0" anchor="t">
            <a:spAutoFit/>
          </a:bodyPr>
          <a:lstStyle/>
          <a:p>
            <a:r>
              <a:rPr lang="en-US" altLang="en-US">
                <a:highlight>
                  <a:srgbClr val="00FF00"/>
                </a:highlight>
              </a:rPr>
              <a:t>Before Unicode, </a:t>
            </a:r>
            <a:r>
              <a:rPr lang="en-US" altLang="en-US"/>
              <a:t>there were multiple standards to represent character encoding −</a:t>
            </a:r>
          </a:p>
          <a:p>
            <a:endParaRPr lang="en-US" altLang="en-US"/>
          </a:p>
          <a:p>
            <a:pPr marL="285750" indent="-285750">
              <a:buFont typeface="Arial" panose="020B0604020202020204" pitchFamily="34" charset="0"/>
              <a:buChar char="•"/>
            </a:pPr>
            <a:r>
              <a:rPr lang="en-US" altLang="en-US"/>
              <a:t>ASCII − for the United States.</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ISO 8859-1 − for Western European Language.</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KOI-8 − for Russian.</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GB18030 and BIG-5 − for Chinese.</a:t>
            </a:r>
            <a:endParaRPr lang="en-US"/>
          </a:p>
        </p:txBody>
      </p:sp>
      <p:sp>
        <p:nvSpPr>
          <p:cNvPr id="7" name="Text Box 6"/>
          <p:cNvSpPr txBox="1"/>
          <p:nvPr/>
        </p:nvSpPr>
        <p:spPr>
          <a:xfrm>
            <a:off x="33020" y="4766310"/>
            <a:ext cx="12054840" cy="1753235"/>
          </a:xfrm>
          <a:prstGeom prst="rect">
            <a:avLst/>
          </a:prstGeom>
          <a:noFill/>
        </p:spPr>
        <p:txBody>
          <a:bodyPr wrap="square" rtlCol="0" anchor="t">
            <a:spAutoFit/>
          </a:bodyPr>
          <a:lstStyle/>
          <a:p>
            <a:pPr algn="just"/>
            <a:r>
              <a:rPr lang="en-US" altLang="en-US"/>
              <a:t>So to support multinational application codes, some character was using single byte, some two. An even same code may represent a different character in one language and may represent other characters in another language.</a:t>
            </a:r>
          </a:p>
          <a:p>
            <a:pPr algn="just"/>
            <a:endParaRPr lang="en-US" altLang="en-US"/>
          </a:p>
          <a:p>
            <a:pPr algn="just"/>
            <a:r>
              <a:rPr lang="en-US" altLang="en-US"/>
              <a:t>To overcome above shortcoming, the Unicode system was developed where each character is represented by 2 bytes. As Java was developed for multilingual languages it adopted the Unicode system. The lowest value is represented by </a:t>
            </a:r>
            <a:r>
              <a:rPr lang="en-US" altLang="en-US">
                <a:highlight>
                  <a:srgbClr val="00FF00"/>
                </a:highlight>
              </a:rPr>
              <a:t>\u0000</a:t>
            </a:r>
            <a:r>
              <a:rPr lang="en-US" altLang="en-US"/>
              <a:t> and the highest value is represented by </a:t>
            </a:r>
            <a:r>
              <a:rPr lang="en-US" altLang="en-US">
                <a:highlight>
                  <a:srgbClr val="00FF00"/>
                </a:highlight>
              </a:rPr>
              <a:t>\uFFFF.</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8163560" cy="5892165"/>
          </a:xfrm>
          <a:prstGeom prst="rect">
            <a:avLst/>
          </a:prstGeom>
        </p:spPr>
      </p:pic>
      <p:pic>
        <p:nvPicPr>
          <p:cNvPr id="5" name="Picture 4"/>
          <p:cNvPicPr>
            <a:picLocks noChangeAspect="1"/>
          </p:cNvPicPr>
          <p:nvPr/>
        </p:nvPicPr>
        <p:blipFill>
          <a:blip r:embed="rId3"/>
          <a:stretch>
            <a:fillRect/>
          </a:stretch>
        </p:blipFill>
        <p:spPr>
          <a:xfrm>
            <a:off x="6682740" y="4297680"/>
            <a:ext cx="5509260" cy="2560320"/>
          </a:xfrm>
          <a:prstGeom prst="rect">
            <a:avLst/>
          </a:prstGeom>
        </p:spPr>
      </p:pic>
      <p:sp>
        <p:nvSpPr>
          <p:cNvPr id="6" name="Text Box 5"/>
          <p:cNvSpPr txBox="1"/>
          <p:nvPr/>
        </p:nvSpPr>
        <p:spPr>
          <a:xfrm>
            <a:off x="8444865" y="2063115"/>
            <a:ext cx="4064000" cy="645160"/>
          </a:xfrm>
          <a:prstGeom prst="rect">
            <a:avLst/>
          </a:prstGeom>
          <a:noFill/>
        </p:spPr>
        <p:txBody>
          <a:bodyPr wrap="square" rtlCol="0">
            <a:spAutoFit/>
          </a:bodyPr>
          <a:lstStyle/>
          <a:p>
            <a:r>
              <a:rPr lang="en-US"/>
              <a:t>coming from the last example over the number 231 hiden character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rcRect b="21071"/>
          <a:stretch>
            <a:fillRect/>
          </a:stretch>
        </p:blipFill>
        <p:spPr>
          <a:xfrm>
            <a:off x="152400" y="172720"/>
            <a:ext cx="6937375" cy="1881505"/>
          </a:xfrm>
          <a:prstGeom prst="rect">
            <a:avLst/>
          </a:prstGeom>
        </p:spPr>
      </p:pic>
      <p:pic>
        <p:nvPicPr>
          <p:cNvPr id="5" name="Picture 4"/>
          <p:cNvPicPr>
            <a:picLocks noChangeAspect="1"/>
          </p:cNvPicPr>
          <p:nvPr/>
        </p:nvPicPr>
        <p:blipFill>
          <a:blip r:embed="rId3"/>
          <a:stretch>
            <a:fillRect/>
          </a:stretch>
        </p:blipFill>
        <p:spPr>
          <a:xfrm>
            <a:off x="7221855" y="692785"/>
            <a:ext cx="4657725" cy="697230"/>
          </a:xfrm>
          <a:prstGeom prst="rect">
            <a:avLst/>
          </a:prstGeom>
        </p:spPr>
      </p:pic>
      <p:pic>
        <p:nvPicPr>
          <p:cNvPr id="6" name="Picture 5"/>
          <p:cNvPicPr>
            <a:picLocks noChangeAspect="1"/>
          </p:cNvPicPr>
          <p:nvPr/>
        </p:nvPicPr>
        <p:blipFill>
          <a:blip r:embed="rId4"/>
          <a:stretch>
            <a:fillRect/>
          </a:stretch>
        </p:blipFill>
        <p:spPr>
          <a:xfrm>
            <a:off x="152400" y="2623185"/>
            <a:ext cx="6847205" cy="2543810"/>
          </a:xfrm>
          <a:prstGeom prst="rect">
            <a:avLst/>
          </a:prstGeom>
        </p:spPr>
      </p:pic>
      <p:pic>
        <p:nvPicPr>
          <p:cNvPr id="7" name="Picture 6"/>
          <p:cNvPicPr>
            <a:picLocks noChangeAspect="1"/>
          </p:cNvPicPr>
          <p:nvPr/>
        </p:nvPicPr>
        <p:blipFill>
          <a:blip r:embed="rId5"/>
          <a:stretch>
            <a:fillRect/>
          </a:stretch>
        </p:blipFill>
        <p:spPr>
          <a:xfrm>
            <a:off x="7221855" y="3499485"/>
            <a:ext cx="2790825" cy="7829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740410" y="322580"/>
            <a:ext cx="9818370" cy="1198880"/>
          </a:xfrm>
          <a:prstGeom prst="rect">
            <a:avLst/>
          </a:prstGeom>
          <a:noFill/>
        </p:spPr>
        <p:txBody>
          <a:bodyPr wrap="square" rtlCol="0">
            <a:spAutoFit/>
          </a:bodyPr>
          <a:lstStyle/>
          <a:p>
            <a:r>
              <a:rPr lang="en-US">
                <a:highlight>
                  <a:srgbClr val="00FF00"/>
                </a:highlight>
              </a:rPr>
              <a:t>Exercise:</a:t>
            </a:r>
            <a:r>
              <a:rPr lang="en-US"/>
              <a:t> Your task is to find the characters of these numbers and the numbers of these characters:</a:t>
            </a:r>
          </a:p>
          <a:p>
            <a:endParaRPr lang="en-US"/>
          </a:p>
          <a:p>
            <a:r>
              <a:rPr lang="en-US"/>
              <a:t>numbers = 14,  45, 77, 98</a:t>
            </a:r>
          </a:p>
          <a:p>
            <a:r>
              <a:rPr lang="en-US"/>
              <a:t>chars = ‘w’, ‘c’, ‘u’, ‘t’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6365" y="566420"/>
            <a:ext cx="5403215" cy="5056505"/>
          </a:xfrm>
          <a:prstGeom prst="rect">
            <a:avLst/>
          </a:prstGeom>
        </p:spPr>
      </p:pic>
      <p:pic>
        <p:nvPicPr>
          <p:cNvPr id="5" name="Picture 4"/>
          <p:cNvPicPr>
            <a:picLocks noChangeAspect="1"/>
          </p:cNvPicPr>
          <p:nvPr/>
        </p:nvPicPr>
        <p:blipFill>
          <a:blip r:embed="rId3"/>
          <a:stretch>
            <a:fillRect/>
          </a:stretch>
        </p:blipFill>
        <p:spPr>
          <a:xfrm>
            <a:off x="6595110" y="1783715"/>
            <a:ext cx="4366260" cy="20726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35" y="0"/>
            <a:ext cx="10515600" cy="765175"/>
          </a:xfrm>
        </p:spPr>
        <p:txBody>
          <a:bodyPr/>
          <a:lstStyle/>
          <a:p>
            <a:pPr algn="ctr"/>
            <a:r>
              <a:rPr lang="en-US" altLang="en-US" sz="3600"/>
              <a:t>Java Bitwise Operators</a:t>
            </a:r>
          </a:p>
        </p:txBody>
      </p:sp>
      <p:sp>
        <p:nvSpPr>
          <p:cNvPr id="4" name="Text Box 3"/>
          <p:cNvSpPr txBox="1"/>
          <p:nvPr/>
        </p:nvSpPr>
        <p:spPr>
          <a:xfrm>
            <a:off x="198120" y="765175"/>
            <a:ext cx="11547475" cy="58356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Java defines several bitwise operators, which can be applied to the integer types, long, int, short, char, and byte.</a:t>
            </a:r>
            <a:r>
              <a:rPr lang="en-US" sz="1600" b="0" i="0">
                <a:solidFill>
                  <a:srgbClr val="000000"/>
                </a:solidFill>
                <a:latin typeface="Verdana" panose="020B0604030504040204"/>
                <a:ea typeface="Verdana" panose="020B0604030504040204"/>
              </a:rPr>
              <a:t> </a:t>
            </a:r>
            <a:r>
              <a:rPr sz="1600" b="0" i="0">
                <a:solidFill>
                  <a:srgbClr val="000000"/>
                </a:solidFill>
                <a:latin typeface="Verdana" panose="020B0604030504040204"/>
                <a:ea typeface="Verdana" panose="020B0604030504040204"/>
              </a:rPr>
              <a:t>Bitwise operator works on bits and performs bit-by-bit operation. Assume if a = 60 and b = 13;</a:t>
            </a:r>
          </a:p>
        </p:txBody>
      </p:sp>
      <p:pic>
        <p:nvPicPr>
          <p:cNvPr id="5" name="Picture 4"/>
          <p:cNvPicPr>
            <a:picLocks noChangeAspect="1"/>
          </p:cNvPicPr>
          <p:nvPr/>
        </p:nvPicPr>
        <p:blipFill>
          <a:blip r:embed="rId2"/>
          <a:stretch>
            <a:fillRect/>
          </a:stretch>
        </p:blipFill>
        <p:spPr>
          <a:xfrm>
            <a:off x="2444115" y="1603375"/>
            <a:ext cx="7609840" cy="49637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8130" y="312420"/>
            <a:ext cx="7996555" cy="3796665"/>
          </a:xfrm>
          <a:prstGeom prst="rect">
            <a:avLst/>
          </a:prstGeom>
        </p:spPr>
      </p:pic>
      <p:pic>
        <p:nvPicPr>
          <p:cNvPr id="5" name="Picture 4"/>
          <p:cNvPicPr>
            <a:picLocks noChangeAspect="1"/>
          </p:cNvPicPr>
          <p:nvPr/>
        </p:nvPicPr>
        <p:blipFill>
          <a:blip r:embed="rId3"/>
          <a:stretch>
            <a:fillRect/>
          </a:stretch>
        </p:blipFill>
        <p:spPr>
          <a:xfrm>
            <a:off x="423545" y="4529455"/>
            <a:ext cx="4241165" cy="12255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430145" y="248920"/>
            <a:ext cx="6096000" cy="460375"/>
          </a:xfrm>
          <a:prstGeom prst="rect">
            <a:avLst/>
          </a:prstGeom>
          <a:noFill/>
        </p:spPr>
        <p:txBody>
          <a:bodyPr wrap="square" rtlCol="0" anchor="t">
            <a:spAutoFit/>
          </a:bodyPr>
          <a:lstStyle/>
          <a:p>
            <a:pPr algn="ctr"/>
            <a:r>
              <a:rPr lang="en-US" altLang="en-US" sz="2400"/>
              <a:t>Java Logical Operators</a:t>
            </a:r>
          </a:p>
        </p:txBody>
      </p:sp>
      <p:pic>
        <p:nvPicPr>
          <p:cNvPr id="5" name="Picture 4"/>
          <p:cNvPicPr>
            <a:picLocks noChangeAspect="1"/>
          </p:cNvPicPr>
          <p:nvPr/>
        </p:nvPicPr>
        <p:blipFill>
          <a:blip r:embed="rId2"/>
          <a:stretch>
            <a:fillRect/>
          </a:stretch>
        </p:blipFill>
        <p:spPr>
          <a:xfrm>
            <a:off x="1519555" y="773430"/>
            <a:ext cx="8269605" cy="2409190"/>
          </a:xfrm>
          <a:prstGeom prst="rect">
            <a:avLst/>
          </a:prstGeom>
        </p:spPr>
      </p:pic>
      <p:pic>
        <p:nvPicPr>
          <p:cNvPr id="6" name="Picture 5"/>
          <p:cNvPicPr>
            <a:picLocks noChangeAspect="1"/>
          </p:cNvPicPr>
          <p:nvPr/>
        </p:nvPicPr>
        <p:blipFill>
          <a:blip r:embed="rId3"/>
          <a:stretch>
            <a:fillRect/>
          </a:stretch>
        </p:blipFill>
        <p:spPr>
          <a:xfrm>
            <a:off x="189865" y="3666490"/>
            <a:ext cx="6791960" cy="2392680"/>
          </a:xfrm>
          <a:prstGeom prst="rect">
            <a:avLst/>
          </a:prstGeom>
        </p:spPr>
      </p:pic>
      <p:pic>
        <p:nvPicPr>
          <p:cNvPr id="8" name="Picture 7"/>
          <p:cNvPicPr>
            <a:picLocks noChangeAspect="1"/>
          </p:cNvPicPr>
          <p:nvPr/>
        </p:nvPicPr>
        <p:blipFill>
          <a:blip r:embed="rId4"/>
          <a:stretch>
            <a:fillRect/>
          </a:stretch>
        </p:blipFill>
        <p:spPr>
          <a:xfrm>
            <a:off x="7325995" y="4255770"/>
            <a:ext cx="3568700" cy="10953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4775" y="401320"/>
            <a:ext cx="8314055" cy="2327275"/>
          </a:xfrm>
          <a:prstGeom prst="rect">
            <a:avLst/>
          </a:prstGeom>
        </p:spPr>
      </p:pic>
      <p:pic>
        <p:nvPicPr>
          <p:cNvPr id="5" name="Picture 4"/>
          <p:cNvPicPr>
            <a:picLocks noChangeAspect="1"/>
          </p:cNvPicPr>
          <p:nvPr/>
        </p:nvPicPr>
        <p:blipFill>
          <a:blip r:embed="rId3"/>
          <a:stretch>
            <a:fillRect/>
          </a:stretch>
        </p:blipFill>
        <p:spPr>
          <a:xfrm>
            <a:off x="8787765" y="983615"/>
            <a:ext cx="2567940" cy="914400"/>
          </a:xfrm>
          <a:prstGeom prst="rect">
            <a:avLst/>
          </a:prstGeom>
        </p:spPr>
      </p:pic>
      <p:pic>
        <p:nvPicPr>
          <p:cNvPr id="6" name="Picture 5"/>
          <p:cNvPicPr>
            <a:picLocks noChangeAspect="1"/>
          </p:cNvPicPr>
          <p:nvPr/>
        </p:nvPicPr>
        <p:blipFill>
          <a:blip r:embed="rId4"/>
          <a:stretch>
            <a:fillRect/>
          </a:stretch>
        </p:blipFill>
        <p:spPr>
          <a:xfrm>
            <a:off x="104775" y="3275330"/>
            <a:ext cx="8371840" cy="2399030"/>
          </a:xfrm>
          <a:prstGeom prst="rect">
            <a:avLst/>
          </a:prstGeom>
        </p:spPr>
      </p:pic>
      <p:pic>
        <p:nvPicPr>
          <p:cNvPr id="7" name="Picture 6"/>
          <p:cNvPicPr>
            <a:picLocks noChangeAspect="1"/>
          </p:cNvPicPr>
          <p:nvPr/>
        </p:nvPicPr>
        <p:blipFill>
          <a:blip r:embed="rId5"/>
          <a:stretch>
            <a:fillRect/>
          </a:stretch>
        </p:blipFill>
        <p:spPr>
          <a:xfrm>
            <a:off x="8917305" y="3649345"/>
            <a:ext cx="2438400" cy="9677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18745" y="0"/>
            <a:ext cx="10575290" cy="1130935"/>
          </a:xfrm>
          <a:prstGeom prst="rect">
            <a:avLst/>
          </a:prstGeom>
          <a:noFill/>
        </p:spPr>
        <p:txBody>
          <a:bodyPr wrap="square" rtlCol="0" anchor="t">
            <a:noAutofit/>
          </a:bodyPr>
          <a:lstStyle/>
          <a:p>
            <a:pPr algn="ctr"/>
            <a:r>
              <a:rPr lang="en-US" altLang="en-US" sz="2400"/>
              <a:t>The Assignment Operators</a:t>
            </a:r>
          </a:p>
          <a:p>
            <a:r>
              <a:rPr lang="en-US" altLang="en-US"/>
              <a:t>Following are the assignment operators supported by Java language.</a:t>
            </a:r>
            <a:endParaRPr lang="en-US"/>
          </a:p>
        </p:txBody>
      </p:sp>
      <p:pic>
        <p:nvPicPr>
          <p:cNvPr id="6" name="Picture 5"/>
          <p:cNvPicPr>
            <a:picLocks noChangeAspect="1"/>
          </p:cNvPicPr>
          <p:nvPr/>
        </p:nvPicPr>
        <p:blipFill>
          <a:blip r:embed="rId2"/>
          <a:stretch>
            <a:fillRect/>
          </a:stretch>
        </p:blipFill>
        <p:spPr>
          <a:xfrm>
            <a:off x="2362835" y="1026160"/>
            <a:ext cx="7124700" cy="56616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620010" y="230505"/>
            <a:ext cx="6096000" cy="368300"/>
          </a:xfrm>
          <a:prstGeom prst="rect">
            <a:avLst/>
          </a:prstGeom>
          <a:noFill/>
        </p:spPr>
        <p:txBody>
          <a:bodyPr wrap="square" rtlCol="0" anchor="t">
            <a:spAutoFit/>
          </a:bodyPr>
          <a:lstStyle/>
          <a:p>
            <a:pPr algn="ctr"/>
            <a:r>
              <a:rPr lang="en-US" altLang="en-US"/>
              <a:t>Java Miscellaneous Operators</a:t>
            </a:r>
            <a:endParaRPr lang="en-US"/>
          </a:p>
        </p:txBody>
      </p:sp>
      <p:sp>
        <p:nvSpPr>
          <p:cNvPr id="6" name="Text Box 5"/>
          <p:cNvSpPr txBox="1"/>
          <p:nvPr/>
        </p:nvSpPr>
        <p:spPr>
          <a:xfrm>
            <a:off x="194310" y="839470"/>
            <a:ext cx="11212830" cy="2861310"/>
          </a:xfrm>
          <a:prstGeom prst="rect">
            <a:avLst/>
          </a:prstGeom>
          <a:noFill/>
        </p:spPr>
        <p:txBody>
          <a:bodyPr wrap="square" rtlCol="0" anchor="t">
            <a:spAutoFit/>
          </a:bodyPr>
          <a:lstStyle/>
          <a:p>
            <a:r>
              <a:rPr lang="en-US" altLang="en-US" u="sng"/>
              <a:t>There are few other operators supported by Java Language.</a:t>
            </a:r>
          </a:p>
          <a:p>
            <a:endParaRPr lang="en-US" altLang="en-US"/>
          </a:p>
          <a:p>
            <a:r>
              <a:rPr lang="en-US" altLang="en-US" b="1"/>
              <a:t>Conditional Operator ( ? : )</a:t>
            </a:r>
          </a:p>
          <a:p>
            <a:r>
              <a:rPr lang="en-US" altLang="en-US"/>
              <a:t>Conditional operator is also known as the ternary operator. This operator consists of three operands and is used to evaluate Boolean expressions. The goal of the operator is to decide, which value should be assigned to the variable. The operator is written as −</a:t>
            </a:r>
          </a:p>
          <a:p>
            <a:endParaRPr lang="en-US" altLang="en-US"/>
          </a:p>
          <a:p>
            <a:r>
              <a:rPr lang="en-US" altLang="en-US" b="1"/>
              <a:t>variable x = (expression) ? value if true : value if false</a:t>
            </a:r>
          </a:p>
          <a:p>
            <a:r>
              <a:rPr lang="en-US" altLang="en-US"/>
              <a:t>Example</a:t>
            </a:r>
          </a:p>
          <a:p>
            <a:endParaRPr lang="en-US"/>
          </a:p>
        </p:txBody>
      </p:sp>
      <p:pic>
        <p:nvPicPr>
          <p:cNvPr id="8" name="Picture 7"/>
          <p:cNvPicPr>
            <a:picLocks noChangeAspect="1"/>
          </p:cNvPicPr>
          <p:nvPr/>
        </p:nvPicPr>
        <p:blipFill>
          <a:blip r:embed="rId2"/>
          <a:stretch>
            <a:fillRect/>
          </a:stretch>
        </p:blipFill>
        <p:spPr>
          <a:xfrm>
            <a:off x="309245" y="3429000"/>
            <a:ext cx="10002520" cy="1656715"/>
          </a:xfrm>
          <a:prstGeom prst="rect">
            <a:avLst/>
          </a:prstGeom>
        </p:spPr>
      </p:pic>
      <p:pic>
        <p:nvPicPr>
          <p:cNvPr id="9" name="Picture 8"/>
          <p:cNvPicPr>
            <a:picLocks noChangeAspect="1"/>
          </p:cNvPicPr>
          <p:nvPr/>
        </p:nvPicPr>
        <p:blipFill>
          <a:blip r:embed="rId3"/>
          <a:stretch>
            <a:fillRect/>
          </a:stretch>
        </p:blipFill>
        <p:spPr>
          <a:xfrm>
            <a:off x="309245" y="5496560"/>
            <a:ext cx="5340985" cy="6864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11225" y="427355"/>
            <a:ext cx="9323705" cy="4246245"/>
          </a:xfrm>
          <a:prstGeom prst="rect">
            <a:avLst/>
          </a:prstGeom>
          <a:noFill/>
        </p:spPr>
        <p:txBody>
          <a:bodyPr wrap="square" rtlCol="0">
            <a:spAutoFit/>
          </a:bodyPr>
          <a:lstStyle/>
          <a:p>
            <a:r>
              <a:rPr lang="en-US">
                <a:highlight>
                  <a:srgbClr val="00FF00"/>
                </a:highlight>
              </a:rPr>
              <a:t>Exercise:</a:t>
            </a:r>
            <a:r>
              <a:rPr lang="en-US"/>
              <a:t> Your task to make new c value and assign the answer from expression </a:t>
            </a:r>
          </a:p>
          <a:p>
            <a:r>
              <a:rPr lang="en-US"/>
              <a:t>if a &lt; b ? b:a </a:t>
            </a:r>
          </a:p>
          <a:p>
            <a:endParaRPr lang="en-US"/>
          </a:p>
          <a:p>
            <a:endParaRPr lang="en-US"/>
          </a:p>
          <a:p>
            <a:r>
              <a:rPr lang="en-US" altLang="en-US"/>
              <a:t>Value of a is : 30</a:t>
            </a:r>
          </a:p>
          <a:p>
            <a:r>
              <a:rPr lang="en-US" altLang="en-US"/>
              <a:t>Value of b is : 20</a:t>
            </a:r>
          </a:p>
          <a:p>
            <a:endParaRPr lang="en-US" altLang="en-US"/>
          </a:p>
          <a:p>
            <a:endParaRPr lang="en-US" altLang="en-US"/>
          </a:p>
          <a:p>
            <a:r>
              <a:rPr lang="en-US">
                <a:highlight>
                  <a:srgbClr val="00FF00"/>
                </a:highlight>
                <a:sym typeface="+mn-ea"/>
              </a:rPr>
              <a:t>Exercise:</a:t>
            </a:r>
            <a:r>
              <a:rPr lang="en-US">
                <a:sym typeface="+mn-ea"/>
              </a:rPr>
              <a:t> Your task to make new c value and assign the answer from expression </a:t>
            </a:r>
            <a:endParaRPr lang="en-US"/>
          </a:p>
          <a:p>
            <a:r>
              <a:rPr lang="en-US">
                <a:sym typeface="+mn-ea"/>
              </a:rPr>
              <a:t>if a &gt; b ? a:b </a:t>
            </a:r>
            <a:endParaRPr lang="en-US"/>
          </a:p>
          <a:p>
            <a:endParaRPr lang="en-US" altLang="en-US"/>
          </a:p>
          <a:p>
            <a:endParaRPr lang="en-US" altLang="en-US"/>
          </a:p>
          <a:p>
            <a:r>
              <a:rPr lang="en-US">
                <a:highlight>
                  <a:srgbClr val="00FF00"/>
                </a:highlight>
                <a:sym typeface="+mn-ea"/>
              </a:rPr>
              <a:t>Exercise:</a:t>
            </a:r>
            <a:r>
              <a:rPr lang="en-US">
                <a:sym typeface="+mn-ea"/>
              </a:rPr>
              <a:t> Your task to make new c value and assign the answer from expression </a:t>
            </a:r>
            <a:endParaRPr lang="en-US"/>
          </a:p>
          <a:p>
            <a:r>
              <a:rPr lang="en-US">
                <a:sym typeface="+mn-ea"/>
              </a:rPr>
              <a:t>if a ==  b ? b:b</a:t>
            </a:r>
            <a:endParaRPr lang="en-US"/>
          </a:p>
          <a:p>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749935" y="1070928"/>
            <a:ext cx="5080000" cy="732155"/>
          </a:xfrm>
          <a:prstGeom prst="rect">
            <a:avLst/>
          </a:prstGeom>
        </p:spPr>
        <p:txBody>
          <a:bodyPr>
            <a:spAutoFit/>
          </a:bodyPr>
          <a:lstStyle/>
          <a:p>
            <a:pPr marL="0" indent="0" algn="l">
              <a:lnSpc>
                <a:spcPts val="1800"/>
              </a:lnSpc>
              <a:spcAft>
                <a:spcPct val="60000"/>
              </a:spcAft>
            </a:pPr>
            <a:r>
              <a:rPr sz="1600" b="0" i="0">
                <a:latin typeface="Verdana" panose="020B0604030504040204"/>
                <a:ea typeface="Verdana" panose="020B0604030504040204"/>
              </a:rPr>
              <a:t>instanceof Operator</a:t>
            </a:r>
          </a:p>
          <a:p>
            <a:pPr marL="0" indent="0" algn="l">
              <a:lnSpc>
                <a:spcPts val="1800"/>
              </a:lnSpc>
              <a:spcAft>
                <a:spcPct val="60000"/>
              </a:spcAft>
            </a:pPr>
            <a:r>
              <a:rPr lang="en-US" sz="1600" b="0" i="0">
                <a:latin typeface="Verdana" panose="020B0604030504040204"/>
                <a:ea typeface="Verdana" panose="020B0604030504040204"/>
              </a:rPr>
              <a:t>we will discuss it in our next class with string </a:t>
            </a:r>
          </a:p>
        </p:txBody>
      </p:sp>
      <p:sp>
        <p:nvSpPr>
          <p:cNvPr id="5" name="Text Box 4"/>
          <p:cNvSpPr txBox="1"/>
          <p:nvPr/>
        </p:nvSpPr>
        <p:spPr>
          <a:xfrm>
            <a:off x="4107180" y="3233420"/>
            <a:ext cx="4064000" cy="368300"/>
          </a:xfrm>
          <a:prstGeom prst="rect">
            <a:avLst/>
          </a:prstGeom>
          <a:noFill/>
        </p:spPr>
        <p:txBody>
          <a:bodyPr wrap="square" rtlCol="0">
            <a:spAutoFit/>
          </a:bodyPr>
          <a:lstStyle/>
          <a:p>
            <a:r>
              <a:rPr lang="en-US"/>
              <a:t>Thanks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1301</Words>
  <Application>Microsoft Macintosh PowerPoint</Application>
  <PresentationFormat>Widescreen</PresentationFormat>
  <Paragraphs>134</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Roboto</vt:lpstr>
      <vt:lpstr>Times New Roman</vt:lpstr>
      <vt:lpstr>Verdana</vt:lpstr>
      <vt:lpstr>Office Theme</vt:lpstr>
      <vt:lpstr>Mobile programming </vt:lpstr>
      <vt:lpstr>Recall!</vt:lpstr>
      <vt:lpstr>Recall!</vt:lpstr>
      <vt:lpstr>Recall!</vt:lpstr>
      <vt:lpstr>PowerPoint Presentation</vt:lpstr>
      <vt:lpstr>PowerPoint Presentation</vt:lpstr>
      <vt:lpstr>PowerPoint Presentation</vt:lpstr>
      <vt:lpstr>PowerPoint Presentation</vt:lpstr>
      <vt:lpstr>Assignment operation</vt:lpstr>
      <vt:lpstr>Java - Basic Operators</vt:lpstr>
      <vt:lpstr>Java Arithmetic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Relational Operators</vt:lpstr>
      <vt:lpstr>PowerPoint Presentation</vt:lpstr>
      <vt:lpstr>Character  types</vt:lpstr>
      <vt:lpstr>Unicode</vt:lpstr>
      <vt:lpstr>PowerPoint Presentation</vt:lpstr>
      <vt:lpstr>PowerPoint Presentation</vt:lpstr>
      <vt:lpstr>PowerPoint Presentation</vt:lpstr>
      <vt:lpstr>PowerPoint Presentation</vt:lpstr>
      <vt:lpstr>Java Bitwise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Sevara</dc:creator>
  <cp:lastModifiedBy>Shakhnoza Muksimova</cp:lastModifiedBy>
  <cp:revision>16</cp:revision>
  <dcterms:created xsi:type="dcterms:W3CDTF">2025-02-08T11:11:00Z</dcterms:created>
  <dcterms:modified xsi:type="dcterms:W3CDTF">2026-03-18T02:29:04Z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7027F1E5AB1B409BB6E403AF9B2D3694_12</vt:lpwstr>
  </property>
  <property fmtid="{D5CDD505-2E9C-101B-9397-08002B2CF9AE}" pid="3" name="KSOProductBuildVer">
    <vt:lpwstr>1033-12.2.0.20326</vt:lpwstr>
  </property>
</Properties>
</file>