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57" r:id="rId4"/>
    <p:sldId id="258" r:id="rId5"/>
    <p:sldId id="259" r:id="rId7"/>
    <p:sldId id="260" r:id="rId8"/>
    <p:sldId id="261" r:id="rId9"/>
    <p:sldId id="262" r:id="rId10"/>
    <p:sldId id="263" r:id="rId11"/>
    <p:sldId id="264" r:id="rId12"/>
    <p:sldId id="266" r:id="rId13"/>
    <p:sldId id="267" r:id="rId14"/>
    <p:sldId id="268" r:id="rId15"/>
    <p:sldId id="269" r:id="rId16"/>
    <p:sldId id="270" r:id="rId17"/>
    <p:sldId id="271" r:id="rId18"/>
    <p:sldId id="273" r:id="rId19"/>
    <p:sldId id="288" r:id="rId20"/>
    <p:sldId id="274" r:id="rId21"/>
    <p:sldId id="275" r:id="rId22"/>
    <p:sldId id="276" r:id="rId23"/>
    <p:sldId id="277" r:id="rId24"/>
    <p:sldId id="279" r:id="rId25"/>
    <p:sldId id="280" r:id="rId26"/>
    <p:sldId id="282" r:id="rId27"/>
    <p:sldId id="283" r:id="rId28"/>
    <p:sldId id="284" r:id="rId29"/>
    <p:sldId id="285" r:id="rId30"/>
    <p:sldId id="286" r:id="rId31"/>
    <p:sldId id="289" r:id="rId32"/>
    <p:sldId id="290" r:id="rId33"/>
    <p:sldId id="28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image" Target="../media/image13.png"/><Relationship Id="rId1"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www.tutorialspoint.com/java/java_variable_types.htm" TargetMode="External"/><Relationship Id="rId1"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2.png"/><Relationship Id="rId1" Type="http://schemas.openxmlformats.org/officeDocument/2006/relationships/image" Target="../media/image4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Times New Roman" panose="02020603050405020304" charset="0"/>
                <a:cs typeface="Times New Roman" panose="02020603050405020304" charset="0"/>
              </a:rPr>
              <a:t>Mobile programming </a:t>
            </a:r>
            <a:endParaRPr lang="en-US" dirty="0">
              <a:latin typeface="Times New Roman" panose="02020603050405020304" charset="0"/>
              <a:cs typeface="Times New Roman" panose="02020603050405020304" charset="0"/>
            </a:endParaRPr>
          </a:p>
        </p:txBody>
      </p:sp>
      <p:sp>
        <p:nvSpPr>
          <p:cNvPr id="3" name="Subtitle 2"/>
          <p:cNvSpPr>
            <a:spLocks noGrp="1"/>
          </p:cNvSpPr>
          <p:nvPr>
            <p:ph type="subTitle" idx="1"/>
          </p:nvPr>
        </p:nvSpPr>
        <p:spPr/>
        <p:txBody>
          <a:bodyPr/>
          <a:lstStyle/>
          <a:p>
            <a:r>
              <a:rPr lang="en-US">
                <a:latin typeface="Times New Roman" panose="02020603050405020304" charset="0"/>
                <a:cs typeface="Times New Roman" panose="02020603050405020304" charset="0"/>
              </a:rPr>
              <a:t>Lecture 3</a:t>
            </a:r>
            <a:endParaRPr lang="en-US">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63270" y="-276860"/>
            <a:ext cx="10515600" cy="1325563"/>
          </a:xfrm>
        </p:spPr>
        <p:txBody>
          <a:bodyPr/>
          <a:p>
            <a:pPr algn="ctr"/>
            <a:r>
              <a:rPr lang="en-US" altLang="en-US" sz="2400">
                <a:latin typeface="Times New Roman" panose="02020603050405020304" charset="0"/>
                <a:cs typeface="Times New Roman" panose="02020603050405020304" charset="0"/>
              </a:rPr>
              <a:t>Java - Hello World Program</a:t>
            </a:r>
            <a:endParaRPr lang="en-US" altLang="en-US" sz="2400">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tretch>
            <a:fillRect/>
          </a:stretch>
        </p:blipFill>
        <p:spPr>
          <a:xfrm>
            <a:off x="441960" y="1327150"/>
            <a:ext cx="9144635" cy="3874770"/>
          </a:xfrm>
          <a:prstGeom prst="rect">
            <a:avLst/>
          </a:prstGeom>
        </p:spPr>
      </p:pic>
      <p:sp>
        <p:nvSpPr>
          <p:cNvPr id="5" name="Text Box 4"/>
          <p:cNvSpPr txBox="1"/>
          <p:nvPr/>
        </p:nvSpPr>
        <p:spPr>
          <a:xfrm>
            <a:off x="3341370" y="736600"/>
            <a:ext cx="5358765" cy="460375"/>
          </a:xfrm>
          <a:prstGeom prst="rect">
            <a:avLst/>
          </a:prstGeom>
          <a:noFill/>
        </p:spPr>
        <p:txBody>
          <a:bodyPr wrap="square" rtlCol="0">
            <a:spAutoFit/>
          </a:bodyPr>
          <a:p>
            <a:pPr algn="ctr"/>
            <a:r>
              <a:rPr lang="en-US" sz="2400">
                <a:latin typeface="Times New Roman" panose="02020603050405020304" charset="0"/>
                <a:cs typeface="Times New Roman" panose="02020603050405020304" charset="0"/>
              </a:rPr>
              <a:t>Type the code and see the result!</a:t>
            </a:r>
            <a:endParaRPr lang="en-US" sz="2400">
              <a:latin typeface="Times New Roman" panose="02020603050405020304" charset="0"/>
              <a:cs typeface="Times New Roman" panose="02020603050405020304" charset="0"/>
            </a:endParaRPr>
          </a:p>
        </p:txBody>
      </p:sp>
      <p:pic>
        <p:nvPicPr>
          <p:cNvPr id="6" name="Picture 5"/>
          <p:cNvPicPr>
            <a:picLocks noChangeAspect="1"/>
          </p:cNvPicPr>
          <p:nvPr/>
        </p:nvPicPr>
        <p:blipFill>
          <a:blip r:embed="rId2"/>
          <a:stretch>
            <a:fillRect/>
          </a:stretch>
        </p:blipFill>
        <p:spPr>
          <a:xfrm>
            <a:off x="7042150" y="4688205"/>
            <a:ext cx="4701540" cy="20193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52145"/>
          </a:xfrm>
        </p:spPr>
        <p:txBody>
          <a:bodyPr/>
          <a:p>
            <a:pPr algn="ctr"/>
            <a:r>
              <a:rPr lang="en-US" altLang="en-US" sz="3200"/>
              <a:t>Explanation of Hello World Program</a:t>
            </a:r>
            <a:endParaRPr lang="en-US" altLang="en-US" sz="3200"/>
          </a:p>
        </p:txBody>
      </p:sp>
      <p:sp>
        <p:nvSpPr>
          <p:cNvPr id="4" name="Text Box 3"/>
          <p:cNvSpPr txBox="1"/>
          <p:nvPr/>
        </p:nvSpPr>
        <p:spPr>
          <a:xfrm>
            <a:off x="441960" y="1017270"/>
            <a:ext cx="11468735" cy="368300"/>
          </a:xfrm>
          <a:prstGeom prst="rect">
            <a:avLst/>
          </a:prstGeom>
          <a:noFill/>
        </p:spPr>
        <p:txBody>
          <a:bodyPr wrap="square" rtlCol="0" anchor="t">
            <a:spAutoFit/>
          </a:bodyPr>
          <a:p>
            <a:pPr algn="ctr"/>
            <a:r>
              <a:rPr lang="en-US" altLang="en-US"/>
              <a:t>As we've successfully printed Hello World on the output screen. Let's understand the code line by line.</a:t>
            </a:r>
            <a:endParaRPr lang="en-US"/>
          </a:p>
        </p:txBody>
      </p:sp>
      <p:pic>
        <p:nvPicPr>
          <p:cNvPr id="5" name="Picture 4"/>
          <p:cNvPicPr>
            <a:picLocks noChangeAspect="1"/>
          </p:cNvPicPr>
          <p:nvPr/>
        </p:nvPicPr>
        <p:blipFill>
          <a:blip r:embed="rId1"/>
          <a:stretch>
            <a:fillRect/>
          </a:stretch>
        </p:blipFill>
        <p:spPr>
          <a:xfrm>
            <a:off x="713105" y="1945640"/>
            <a:ext cx="9625330" cy="1640205"/>
          </a:xfrm>
          <a:prstGeom prst="rect">
            <a:avLst/>
          </a:prstGeom>
        </p:spPr>
      </p:pic>
      <p:sp>
        <p:nvSpPr>
          <p:cNvPr id="6" name="Rounded Rectangle 5"/>
          <p:cNvSpPr/>
          <p:nvPr/>
        </p:nvSpPr>
        <p:spPr>
          <a:xfrm>
            <a:off x="909320" y="2791460"/>
            <a:ext cx="866775" cy="524510"/>
          </a:xfrm>
          <a:prstGeom prst="round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7" name="Rounded Rectangle 6"/>
          <p:cNvSpPr/>
          <p:nvPr/>
        </p:nvSpPr>
        <p:spPr>
          <a:xfrm>
            <a:off x="1776095" y="2791460"/>
            <a:ext cx="738505" cy="524510"/>
          </a:xfrm>
          <a:prstGeom prst="round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8" name="Text Box 7"/>
          <p:cNvSpPr txBox="1"/>
          <p:nvPr/>
        </p:nvSpPr>
        <p:spPr>
          <a:xfrm>
            <a:off x="361315" y="4070350"/>
            <a:ext cx="2671445" cy="1753235"/>
          </a:xfrm>
          <a:prstGeom prst="rect">
            <a:avLst/>
          </a:prstGeom>
          <a:noFill/>
        </p:spPr>
        <p:txBody>
          <a:bodyPr wrap="square" rtlCol="0" anchor="t">
            <a:spAutoFit/>
          </a:bodyPr>
          <a:p>
            <a:r>
              <a:rPr lang="en-US" altLang="en-US"/>
              <a:t>This line is creating a new class MyFirstJavaProgram and being public, this class is to be defined in the same name file as MyFirstJavaProgram.java. </a:t>
            </a:r>
            <a:endParaRPr lang="en-US"/>
          </a:p>
        </p:txBody>
      </p:sp>
      <p:cxnSp>
        <p:nvCxnSpPr>
          <p:cNvPr id="9" name="Straight Arrow Connector 8"/>
          <p:cNvCxnSpPr/>
          <p:nvPr/>
        </p:nvCxnSpPr>
        <p:spPr>
          <a:xfrm flipH="1">
            <a:off x="1315720" y="3465830"/>
            <a:ext cx="471170" cy="54610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3" name="Text Box 12"/>
          <p:cNvSpPr txBox="1"/>
          <p:nvPr/>
        </p:nvSpPr>
        <p:spPr>
          <a:xfrm>
            <a:off x="7034530" y="3756025"/>
            <a:ext cx="4064000" cy="645160"/>
          </a:xfrm>
          <a:prstGeom prst="rect">
            <a:avLst/>
          </a:prstGeom>
          <a:noFill/>
        </p:spPr>
        <p:txBody>
          <a:bodyPr wrap="square" rtlCol="0">
            <a:spAutoFit/>
          </a:bodyPr>
          <a:p>
            <a:r>
              <a:rPr lang="en-US">
                <a:highlight>
                  <a:srgbClr val="FF0000"/>
                </a:highlight>
              </a:rPr>
              <a:t>Note:</a:t>
            </a:r>
            <a:r>
              <a:rPr lang="en-US"/>
              <a:t> Its recommend to make the name of file same with name of your class!</a:t>
            </a:r>
            <a:endParaRPr lang="en-US"/>
          </a:p>
        </p:txBody>
      </p:sp>
      <p:sp>
        <p:nvSpPr>
          <p:cNvPr id="14" name="Text Box 13"/>
          <p:cNvSpPr txBox="1"/>
          <p:nvPr/>
        </p:nvSpPr>
        <p:spPr>
          <a:xfrm>
            <a:off x="361315" y="5882005"/>
            <a:ext cx="6096000" cy="922020"/>
          </a:xfrm>
          <a:prstGeom prst="rect">
            <a:avLst/>
          </a:prstGeom>
          <a:noFill/>
        </p:spPr>
        <p:txBody>
          <a:bodyPr wrap="square" rtlCol="0" anchor="t">
            <a:spAutoFit/>
          </a:bodyPr>
          <a:p>
            <a:r>
              <a:rPr lang="en-US" altLang="en-US">
                <a:highlight>
                  <a:srgbClr val="FF0000"/>
                </a:highlight>
              </a:rPr>
              <a:t>public</a:t>
            </a:r>
            <a:r>
              <a:rPr lang="en-US" altLang="en-US"/>
              <a:t> − defines the scope of the main method. Being public, this method can be called by external program like JVM, which means all users have the access to this file!</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546100" y="487680"/>
            <a:ext cx="7924165" cy="1890395"/>
          </a:xfrm>
          <a:prstGeom prst="rect">
            <a:avLst/>
          </a:prstGeom>
        </p:spPr>
      </p:pic>
      <p:sp>
        <p:nvSpPr>
          <p:cNvPr id="5" name="Text Box 4"/>
          <p:cNvSpPr txBox="1"/>
          <p:nvPr/>
        </p:nvSpPr>
        <p:spPr>
          <a:xfrm>
            <a:off x="6057900" y="2507615"/>
            <a:ext cx="5018405" cy="368300"/>
          </a:xfrm>
          <a:prstGeom prst="rect">
            <a:avLst/>
          </a:prstGeom>
          <a:noFill/>
        </p:spPr>
        <p:txBody>
          <a:bodyPr wrap="square" rtlCol="0">
            <a:spAutoFit/>
          </a:bodyPr>
          <a:p>
            <a:r>
              <a:rPr lang="en-US"/>
              <a:t>If you want to comment long text use </a:t>
            </a:r>
            <a:r>
              <a:rPr lang="en-US">
                <a:highlight>
                  <a:srgbClr val="FF0000"/>
                </a:highlight>
              </a:rPr>
              <a:t>/* * */</a:t>
            </a:r>
            <a:endParaRPr lang="en-US">
              <a:highlight>
                <a:srgbClr val="FF0000"/>
              </a:highlight>
            </a:endParaRPr>
          </a:p>
        </p:txBody>
      </p:sp>
      <p:pic>
        <p:nvPicPr>
          <p:cNvPr id="6" name="Picture 5"/>
          <p:cNvPicPr>
            <a:picLocks noChangeAspect="1"/>
          </p:cNvPicPr>
          <p:nvPr/>
        </p:nvPicPr>
        <p:blipFill>
          <a:blip r:embed="rId2"/>
          <a:stretch>
            <a:fillRect/>
          </a:stretch>
        </p:blipFill>
        <p:spPr>
          <a:xfrm>
            <a:off x="407035" y="3204210"/>
            <a:ext cx="9173845" cy="792480"/>
          </a:xfrm>
          <a:prstGeom prst="rect">
            <a:avLst/>
          </a:prstGeom>
        </p:spPr>
      </p:pic>
      <p:sp>
        <p:nvSpPr>
          <p:cNvPr id="7" name="Text Box 6"/>
          <p:cNvSpPr txBox="1"/>
          <p:nvPr/>
        </p:nvSpPr>
        <p:spPr>
          <a:xfrm>
            <a:off x="4587875" y="4421505"/>
            <a:ext cx="4064000" cy="368300"/>
          </a:xfrm>
          <a:prstGeom prst="rect">
            <a:avLst/>
          </a:prstGeom>
          <a:noFill/>
        </p:spPr>
        <p:txBody>
          <a:bodyPr wrap="square" rtlCol="0">
            <a:spAutoFit/>
          </a:bodyPr>
          <a:p>
            <a:r>
              <a:rPr lang="en-US">
                <a:highlight>
                  <a:srgbClr val="FF0000"/>
                </a:highlight>
              </a:rPr>
              <a:t>//</a:t>
            </a:r>
            <a:endParaRPr lang="en-US">
              <a:highlight>
                <a:srgbClr val="FF0000"/>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298450" y="1042035"/>
            <a:ext cx="9304020" cy="1522095"/>
          </a:xfrm>
          <a:prstGeom prst="rect">
            <a:avLst/>
          </a:prstGeom>
        </p:spPr>
      </p:pic>
      <p:sp>
        <p:nvSpPr>
          <p:cNvPr id="5" name="Text Box 4"/>
          <p:cNvSpPr txBox="1"/>
          <p:nvPr/>
        </p:nvSpPr>
        <p:spPr>
          <a:xfrm>
            <a:off x="483235" y="2807335"/>
            <a:ext cx="6096000" cy="922020"/>
          </a:xfrm>
          <a:prstGeom prst="rect">
            <a:avLst/>
          </a:prstGeom>
          <a:noFill/>
        </p:spPr>
        <p:txBody>
          <a:bodyPr wrap="square" rtlCol="0" anchor="t">
            <a:spAutoFit/>
          </a:bodyPr>
          <a:p>
            <a:r>
              <a:rPr lang="en-US" altLang="en-US">
                <a:highlight>
                  <a:srgbClr val="FF0000"/>
                </a:highlight>
              </a:rPr>
              <a:t>static</a:t>
            </a:r>
            <a:r>
              <a:rPr lang="en-US" altLang="en-US"/>
              <a:t> − defines the state of the main method. Being static, this method can be called by external program like JVM without first creating the object of the class.</a:t>
            </a:r>
            <a:endParaRPr lang="en-US"/>
          </a:p>
        </p:txBody>
      </p:sp>
      <p:sp>
        <p:nvSpPr>
          <p:cNvPr id="6" name="Text Box 5"/>
          <p:cNvSpPr txBox="1"/>
          <p:nvPr/>
        </p:nvSpPr>
        <p:spPr>
          <a:xfrm>
            <a:off x="483235" y="3815080"/>
            <a:ext cx="6096000" cy="645160"/>
          </a:xfrm>
          <a:prstGeom prst="rect">
            <a:avLst/>
          </a:prstGeom>
          <a:noFill/>
        </p:spPr>
        <p:txBody>
          <a:bodyPr wrap="square" rtlCol="0" anchor="t">
            <a:spAutoFit/>
          </a:bodyPr>
          <a:p>
            <a:r>
              <a:rPr lang="en-US" altLang="en-US">
                <a:highlight>
                  <a:srgbClr val="FF0000"/>
                </a:highlight>
              </a:rPr>
              <a:t>void</a:t>
            </a:r>
            <a:r>
              <a:rPr lang="en-US" altLang="en-US"/>
              <a:t> − defines the return type of the main method.  It is function like in python ‘def’.</a:t>
            </a:r>
            <a:endParaRPr lang="en-US"/>
          </a:p>
        </p:txBody>
      </p:sp>
      <p:sp>
        <p:nvSpPr>
          <p:cNvPr id="7" name="Text Box 6"/>
          <p:cNvSpPr txBox="1"/>
          <p:nvPr/>
        </p:nvSpPr>
        <p:spPr>
          <a:xfrm>
            <a:off x="483235" y="4545648"/>
            <a:ext cx="5080000" cy="337185"/>
          </a:xfrm>
          <a:prstGeom prst="rect">
            <a:avLst/>
          </a:prstGeom>
        </p:spPr>
        <p:txBody>
          <a:bodyPr>
            <a:spAutoFit/>
          </a:bodyPr>
          <a:p>
            <a:pPr marL="0" indent="0" algn="just">
              <a:spcBef>
                <a:spcPct val="0"/>
              </a:spcBef>
              <a:spcAft>
                <a:spcPct val="0"/>
              </a:spcAft>
              <a:buFont typeface="Arial" panose="020B0604020202020204"/>
              <a:buNone/>
            </a:pPr>
            <a:r>
              <a:rPr sz="1600" i="0">
                <a:solidFill>
                  <a:srgbClr val="000000"/>
                </a:solidFill>
                <a:highlight>
                  <a:srgbClr val="FF0000"/>
                </a:highlight>
                <a:latin typeface="Verdana" panose="020B0604030504040204"/>
                <a:ea typeface="Verdana" panose="020B0604030504040204"/>
              </a:rPr>
              <a:t>main</a:t>
            </a:r>
            <a:r>
              <a:rPr sz="1600" b="0" i="0">
                <a:solidFill>
                  <a:srgbClr val="000000"/>
                </a:solidFill>
                <a:latin typeface="Verdana" panose="020B0604030504040204"/>
                <a:ea typeface="Verdana" panose="020B0604030504040204"/>
              </a:rPr>
              <a:t> − </a:t>
            </a:r>
            <a:r>
              <a:rPr sz="1400" b="0" i="0">
                <a:solidFill>
                  <a:srgbClr val="000000"/>
                </a:solidFill>
                <a:latin typeface="Verdana" panose="020B0604030504040204"/>
                <a:ea typeface="Verdana" panose="020B0604030504040204"/>
              </a:rPr>
              <a:t>name of the method</a:t>
            </a:r>
            <a:endParaRPr sz="1400" b="0" i="0">
              <a:solidFill>
                <a:srgbClr val="000000"/>
              </a:solidFill>
              <a:latin typeface="Verdana" panose="020B0604030504040204"/>
              <a:ea typeface="Verdana" panose="020B0604030504040204"/>
            </a:endParaRPr>
          </a:p>
        </p:txBody>
      </p:sp>
      <p:sp>
        <p:nvSpPr>
          <p:cNvPr id="8" name="Text Box 7"/>
          <p:cNvSpPr txBox="1"/>
          <p:nvPr/>
        </p:nvSpPr>
        <p:spPr>
          <a:xfrm>
            <a:off x="483235" y="5065395"/>
            <a:ext cx="6096000" cy="645160"/>
          </a:xfrm>
          <a:prstGeom prst="rect">
            <a:avLst/>
          </a:prstGeom>
          <a:noFill/>
        </p:spPr>
        <p:txBody>
          <a:bodyPr wrap="square" rtlCol="0" anchor="t">
            <a:spAutoFit/>
          </a:bodyPr>
          <a:p>
            <a:r>
              <a:rPr lang="en-US" altLang="en-US">
                <a:highlight>
                  <a:srgbClr val="FF0000"/>
                </a:highlight>
              </a:rPr>
              <a:t>String []args </a:t>
            </a:r>
            <a:r>
              <a:rPr lang="en-US" altLang="en-US"/>
              <a:t>− arguments passed on command line while executing the java command.</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403225" y="921385"/>
            <a:ext cx="8364855" cy="1323340"/>
          </a:xfrm>
          <a:prstGeom prst="rect">
            <a:avLst/>
          </a:prstGeom>
        </p:spPr>
      </p:pic>
      <p:sp>
        <p:nvSpPr>
          <p:cNvPr id="5" name="Text Box 4"/>
          <p:cNvSpPr txBox="1"/>
          <p:nvPr/>
        </p:nvSpPr>
        <p:spPr>
          <a:xfrm>
            <a:off x="403225" y="2506980"/>
            <a:ext cx="9819640" cy="645160"/>
          </a:xfrm>
          <a:prstGeom prst="rect">
            <a:avLst/>
          </a:prstGeom>
          <a:noFill/>
        </p:spPr>
        <p:txBody>
          <a:bodyPr wrap="square" rtlCol="0" anchor="t">
            <a:spAutoFit/>
          </a:bodyPr>
          <a:p>
            <a:r>
              <a:rPr lang="en-US" altLang="en-US">
                <a:highlight>
                  <a:srgbClr val="FF0000"/>
                </a:highlight>
              </a:rPr>
              <a:t>System.out</a:t>
            </a:r>
            <a:r>
              <a:rPr lang="en-US" altLang="en-US"/>
              <a:t> represents the primary console and its println() method is taking "Hello World" as input and it prints the same to the console output.</a:t>
            </a:r>
            <a:endParaRPr lang="en-US"/>
          </a:p>
        </p:txBody>
      </p:sp>
      <p:pic>
        <p:nvPicPr>
          <p:cNvPr id="6" name="Picture 5"/>
          <p:cNvPicPr>
            <a:picLocks noChangeAspect="1"/>
          </p:cNvPicPr>
          <p:nvPr/>
        </p:nvPicPr>
        <p:blipFill>
          <a:blip r:embed="rId2"/>
          <a:srcRect l="24948" t="32004" r="8994" b="44768"/>
          <a:stretch>
            <a:fillRect/>
          </a:stretch>
        </p:blipFill>
        <p:spPr>
          <a:xfrm>
            <a:off x="403225" y="3495675"/>
            <a:ext cx="8411210" cy="1662430"/>
          </a:xfrm>
          <a:prstGeom prst="rect">
            <a:avLst/>
          </a:prstGeom>
        </p:spPr>
      </p:pic>
      <p:sp>
        <p:nvSpPr>
          <p:cNvPr id="7" name="Text Box 6"/>
          <p:cNvSpPr txBox="1"/>
          <p:nvPr/>
        </p:nvSpPr>
        <p:spPr>
          <a:xfrm>
            <a:off x="5027930" y="5501640"/>
            <a:ext cx="4064000" cy="368300"/>
          </a:xfrm>
          <a:prstGeom prst="rect">
            <a:avLst/>
          </a:prstGeom>
          <a:noFill/>
        </p:spPr>
        <p:txBody>
          <a:bodyPr wrap="square" rtlCol="0">
            <a:spAutoFit/>
          </a:bodyPr>
          <a:p>
            <a:r>
              <a:rPr lang="en-US"/>
              <a:t>write ‘sout’ and press ‘Enter’. Now try it!</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0" y="120015"/>
            <a:ext cx="4064000" cy="460375"/>
          </a:xfrm>
          <a:prstGeom prst="rect">
            <a:avLst/>
          </a:prstGeom>
          <a:noFill/>
        </p:spPr>
        <p:txBody>
          <a:bodyPr wrap="square" rtlCol="0">
            <a:spAutoFit/>
          </a:bodyPr>
          <a:p>
            <a:r>
              <a:rPr lang="en-US" sz="2400"/>
              <a:t>Exercise number 1!</a:t>
            </a:r>
            <a:endParaRPr lang="en-US" sz="2400"/>
          </a:p>
        </p:txBody>
      </p:sp>
      <p:sp>
        <p:nvSpPr>
          <p:cNvPr id="6" name="Text Box 5"/>
          <p:cNvSpPr txBox="1"/>
          <p:nvPr/>
        </p:nvSpPr>
        <p:spPr>
          <a:xfrm>
            <a:off x="1651000" y="1216660"/>
            <a:ext cx="9029065" cy="645160"/>
          </a:xfrm>
          <a:prstGeom prst="rect">
            <a:avLst/>
          </a:prstGeom>
          <a:noFill/>
        </p:spPr>
        <p:txBody>
          <a:bodyPr wrap="square" rtlCol="0">
            <a:spAutoFit/>
          </a:bodyPr>
          <a:p>
            <a:r>
              <a:rPr lang="en-US">
                <a:highlight>
                  <a:srgbClr val="00FF00"/>
                </a:highlight>
              </a:rPr>
              <a:t>Task: </a:t>
            </a:r>
            <a:r>
              <a:rPr lang="en-US"/>
              <a:t>Instead of “Hello world!” you need to type text “</a:t>
            </a:r>
            <a:r>
              <a:rPr lang="en-US" b="1"/>
              <a:t> My name is (type your name) and coding in Java is fun!”</a:t>
            </a:r>
            <a:endParaRPr lang="en-US"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0" y="120015"/>
            <a:ext cx="4064000" cy="460375"/>
          </a:xfrm>
          <a:prstGeom prst="rect">
            <a:avLst/>
          </a:prstGeom>
          <a:noFill/>
        </p:spPr>
        <p:txBody>
          <a:bodyPr wrap="square" rtlCol="0">
            <a:spAutoFit/>
          </a:bodyPr>
          <a:p>
            <a:r>
              <a:rPr lang="en-US" sz="2400"/>
              <a:t>Exercise number 2!</a:t>
            </a:r>
            <a:endParaRPr lang="en-US" sz="2400"/>
          </a:p>
        </p:txBody>
      </p:sp>
      <p:sp>
        <p:nvSpPr>
          <p:cNvPr id="6" name="Text Box 5"/>
          <p:cNvSpPr txBox="1"/>
          <p:nvPr/>
        </p:nvSpPr>
        <p:spPr>
          <a:xfrm>
            <a:off x="1033145" y="580390"/>
            <a:ext cx="10125710" cy="2002790"/>
          </a:xfrm>
          <a:prstGeom prst="rect">
            <a:avLst/>
          </a:prstGeom>
          <a:noFill/>
        </p:spPr>
        <p:txBody>
          <a:bodyPr wrap="square" rtlCol="0">
            <a:noAutofit/>
          </a:bodyPr>
          <a:p>
            <a:pPr algn="just"/>
            <a:r>
              <a:rPr lang="en-US" sz="2000">
                <a:highlight>
                  <a:srgbClr val="00FF00"/>
                </a:highlight>
              </a:rPr>
              <a:t>Task: </a:t>
            </a:r>
            <a:r>
              <a:rPr lang="en-US" sz="2000"/>
              <a:t>Comment as we’ve learned how to make comment you need to write both types of the commnt for long comment and line comment. For long comment type this text:</a:t>
            </a:r>
            <a:endParaRPr lang="en-US" sz="2000"/>
          </a:p>
          <a:p>
            <a:pPr algn="just"/>
            <a:endParaRPr lang="en-US" altLang="en-US" sz="2000"/>
          </a:p>
          <a:p>
            <a:pPr algn="just"/>
            <a:r>
              <a:rPr lang="en-US" altLang="en-US" sz="2000" b="1"/>
              <a:t>The name "Java" was inspired by coffee!  The developers originally called it "Oak," but since that name was already taken, they renamed it after Java coffee, a type of coffee from Indonesia. That's why the Java logo features a steaming coffee cup!</a:t>
            </a:r>
            <a:endParaRPr lang="en-US" altLang="en-US" sz="2000" b="1"/>
          </a:p>
          <a:p>
            <a:pPr algn="just"/>
            <a:endParaRPr lang="en-US" altLang="en-US" sz="2000" b="1"/>
          </a:p>
          <a:p>
            <a:pPr algn="just"/>
            <a:r>
              <a:rPr lang="en-US" altLang="en-US" sz="2000"/>
              <a:t>For short comment type the text:</a:t>
            </a:r>
            <a:endParaRPr lang="en-US" altLang="en-US" sz="2000"/>
          </a:p>
          <a:p>
            <a:pPr algn="just"/>
            <a:endParaRPr lang="en-US" altLang="en-US" sz="2000"/>
          </a:p>
          <a:p>
            <a:pPr algn="just"/>
            <a:r>
              <a:rPr lang="en-US" altLang="en-US" sz="2000" b="1"/>
              <a:t>I am learning Java and it is fun !</a:t>
            </a:r>
            <a:endParaRPr lang="en-US" altLang="en-US" sz="2000" b="1"/>
          </a:p>
        </p:txBody>
      </p:sp>
      <p:pic>
        <p:nvPicPr>
          <p:cNvPr id="2" name="Picture 1"/>
          <p:cNvPicPr>
            <a:picLocks noChangeAspect="1"/>
          </p:cNvPicPr>
          <p:nvPr/>
        </p:nvPicPr>
        <p:blipFill>
          <a:blip r:embed="rId1"/>
          <a:srcRect t="27209"/>
          <a:stretch>
            <a:fillRect/>
          </a:stretch>
        </p:blipFill>
        <p:spPr>
          <a:xfrm>
            <a:off x="1905000" y="4230370"/>
            <a:ext cx="7924165" cy="1376045"/>
          </a:xfrm>
          <a:prstGeom prst="rect">
            <a:avLst/>
          </a:prstGeom>
        </p:spPr>
      </p:pic>
      <p:pic>
        <p:nvPicPr>
          <p:cNvPr id="3" name="Picture 2"/>
          <p:cNvPicPr>
            <a:picLocks noChangeAspect="1"/>
          </p:cNvPicPr>
          <p:nvPr/>
        </p:nvPicPr>
        <p:blipFill>
          <a:blip r:embed="rId2"/>
          <a:stretch>
            <a:fillRect/>
          </a:stretch>
        </p:blipFill>
        <p:spPr>
          <a:xfrm>
            <a:off x="2404110" y="5997575"/>
            <a:ext cx="7076440" cy="6115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663825"/>
            <a:ext cx="10515600" cy="457200"/>
          </a:xfrm>
        </p:spPr>
        <p:txBody>
          <a:bodyPr>
            <a:normAutofit fontScale="90000"/>
          </a:bodyPr>
          <a:p>
            <a:pPr algn="ctr"/>
            <a:r>
              <a:rPr lang="en-US" sz="3600"/>
              <a:t>Main mistakes:</a:t>
            </a:r>
            <a:endParaRPr lang="en-US" sz="3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3178175" y="1299210"/>
            <a:ext cx="6736080" cy="1752600"/>
          </a:xfrm>
          <a:prstGeom prst="rect">
            <a:avLst/>
          </a:prstGeom>
        </p:spPr>
      </p:pic>
      <p:sp>
        <p:nvSpPr>
          <p:cNvPr id="5" name="Text Box 4"/>
          <p:cNvSpPr txBox="1"/>
          <p:nvPr/>
        </p:nvSpPr>
        <p:spPr>
          <a:xfrm>
            <a:off x="3178175" y="509270"/>
            <a:ext cx="6096000" cy="645160"/>
          </a:xfrm>
          <a:prstGeom prst="rect">
            <a:avLst/>
          </a:prstGeom>
          <a:noFill/>
        </p:spPr>
        <p:txBody>
          <a:bodyPr wrap="square" rtlCol="0" anchor="t">
            <a:spAutoFit/>
          </a:bodyPr>
          <a:p>
            <a:pPr algn="ctr"/>
            <a:r>
              <a:rPr lang="en-US" sz="3600">
                <a:sym typeface="+mn-ea"/>
              </a:rPr>
              <a:t>Main mistakes:</a:t>
            </a:r>
            <a:endParaRPr lang="en-US" sz="3600">
              <a:sym typeface="+mn-ea"/>
            </a:endParaRPr>
          </a:p>
        </p:txBody>
      </p:sp>
      <p:pic>
        <p:nvPicPr>
          <p:cNvPr id="7" name="Picture 6"/>
          <p:cNvPicPr>
            <a:picLocks noChangeAspect="1"/>
          </p:cNvPicPr>
          <p:nvPr/>
        </p:nvPicPr>
        <p:blipFill>
          <a:blip r:embed="rId2"/>
          <a:stretch>
            <a:fillRect/>
          </a:stretch>
        </p:blipFill>
        <p:spPr>
          <a:xfrm>
            <a:off x="400050" y="3540760"/>
            <a:ext cx="6263640" cy="1059180"/>
          </a:xfrm>
          <a:prstGeom prst="rect">
            <a:avLst/>
          </a:prstGeom>
        </p:spPr>
      </p:pic>
      <p:pic>
        <p:nvPicPr>
          <p:cNvPr id="8" name="Picture 7"/>
          <p:cNvPicPr>
            <a:picLocks noChangeAspect="1"/>
          </p:cNvPicPr>
          <p:nvPr/>
        </p:nvPicPr>
        <p:blipFill>
          <a:blip r:embed="rId3"/>
          <a:stretch>
            <a:fillRect/>
          </a:stretch>
        </p:blipFill>
        <p:spPr>
          <a:xfrm>
            <a:off x="5347970" y="5203190"/>
            <a:ext cx="5821680" cy="7543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586740"/>
          </a:xfrm>
        </p:spPr>
        <p:txBody>
          <a:bodyPr>
            <a:normAutofit fontScale="90000"/>
          </a:bodyPr>
          <a:p>
            <a:pPr algn="ctr"/>
            <a:r>
              <a:rPr lang="en-US" altLang="en-US" sz="4000"/>
              <a:t>Java - Numbers Class</a:t>
            </a:r>
            <a:endParaRPr lang="en-US" altLang="en-US" sz="4000"/>
          </a:p>
        </p:txBody>
      </p:sp>
      <p:sp>
        <p:nvSpPr>
          <p:cNvPr id="4" name="Text Box 3"/>
          <p:cNvSpPr txBox="1"/>
          <p:nvPr/>
        </p:nvSpPr>
        <p:spPr>
          <a:xfrm>
            <a:off x="255270" y="1199515"/>
            <a:ext cx="11626215" cy="922020"/>
          </a:xfrm>
          <a:prstGeom prst="rect">
            <a:avLst/>
          </a:prstGeom>
          <a:noFill/>
        </p:spPr>
        <p:txBody>
          <a:bodyPr wrap="square" rtlCol="0" anchor="t">
            <a:spAutoFit/>
          </a:bodyPr>
          <a:p>
            <a:r>
              <a:rPr lang="en-US" altLang="en-US"/>
              <a:t>Normally, when we work with Numbers, we use primitive </a:t>
            </a:r>
            <a:r>
              <a:rPr lang="en-US" altLang="en-US" b="1">
                <a:highlight>
                  <a:srgbClr val="00FF00"/>
                </a:highlight>
              </a:rPr>
              <a:t>data types</a:t>
            </a:r>
            <a:r>
              <a:rPr lang="en-US" altLang="en-US"/>
              <a:t> such as byte, int, long, double, etc.</a:t>
            </a:r>
            <a:endParaRPr lang="en-US" altLang="en-US"/>
          </a:p>
          <a:p>
            <a:endParaRPr lang="en-US" altLang="en-US"/>
          </a:p>
          <a:p>
            <a:r>
              <a:rPr lang="en-US" altLang="en-US" i="1"/>
              <a:t>Consider the below example:</a:t>
            </a:r>
            <a:endParaRPr lang="en-US" i="1"/>
          </a:p>
        </p:txBody>
      </p:sp>
      <p:pic>
        <p:nvPicPr>
          <p:cNvPr id="5" name="Picture 4"/>
          <p:cNvPicPr>
            <a:picLocks noChangeAspect="1"/>
          </p:cNvPicPr>
          <p:nvPr/>
        </p:nvPicPr>
        <p:blipFill>
          <a:blip r:embed="rId1"/>
          <a:stretch>
            <a:fillRect/>
          </a:stretch>
        </p:blipFill>
        <p:spPr>
          <a:xfrm>
            <a:off x="1494155" y="2441575"/>
            <a:ext cx="9351645" cy="16046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395980" y="120650"/>
            <a:ext cx="6096000" cy="706755"/>
          </a:xfrm>
          <a:prstGeom prst="rect">
            <a:avLst/>
          </a:prstGeom>
          <a:noFill/>
        </p:spPr>
        <p:txBody>
          <a:bodyPr wrap="square" rtlCol="0" anchor="t">
            <a:spAutoFit/>
          </a:bodyPr>
          <a:p>
            <a:pPr algn="ctr"/>
            <a:r>
              <a:rPr lang="en-US" altLang="en-US" sz="4000">
                <a:sym typeface="+mn-ea"/>
              </a:rPr>
              <a:t>Java - Numbers Class</a:t>
            </a:r>
            <a:endParaRPr lang="en-US" altLang="en-US" sz="4000">
              <a:sym typeface="+mn-ea"/>
            </a:endParaRPr>
          </a:p>
        </p:txBody>
      </p:sp>
      <p:pic>
        <p:nvPicPr>
          <p:cNvPr id="7" name="Picture 6"/>
          <p:cNvPicPr>
            <a:picLocks noChangeAspect="1"/>
          </p:cNvPicPr>
          <p:nvPr/>
        </p:nvPicPr>
        <p:blipFill>
          <a:blip r:embed="rId1"/>
          <a:srcRect l="16667" t="15394" r="17014" b="9931"/>
          <a:stretch>
            <a:fillRect/>
          </a:stretch>
        </p:blipFill>
        <p:spPr>
          <a:xfrm>
            <a:off x="473710" y="1214120"/>
            <a:ext cx="7762240" cy="4917440"/>
          </a:xfrm>
          <a:prstGeom prst="rect">
            <a:avLst/>
          </a:prstGeom>
        </p:spPr>
      </p:pic>
      <p:sp>
        <p:nvSpPr>
          <p:cNvPr id="2" name="Text Box 1"/>
          <p:cNvSpPr txBox="1"/>
          <p:nvPr/>
        </p:nvSpPr>
        <p:spPr>
          <a:xfrm>
            <a:off x="3688715" y="3519805"/>
            <a:ext cx="5621020" cy="306705"/>
          </a:xfrm>
          <a:prstGeom prst="rect">
            <a:avLst/>
          </a:prstGeom>
          <a:noFill/>
        </p:spPr>
        <p:txBody>
          <a:bodyPr wrap="square" rtlCol="0">
            <a:spAutoFit/>
          </a:bodyPr>
          <a:p>
            <a:r>
              <a:rPr lang="en-US" altLang="en-US" sz="1400"/>
              <a:t>-9 223 372 036 854 775  …  9 223 372 036 854 775 807</a:t>
            </a:r>
            <a:endParaRPr lang="en-US" altLang="en-US" sz="1400"/>
          </a:p>
        </p:txBody>
      </p:sp>
      <p:sp>
        <p:nvSpPr>
          <p:cNvPr id="3" name="Text Box 2"/>
          <p:cNvSpPr txBox="1"/>
          <p:nvPr/>
        </p:nvSpPr>
        <p:spPr>
          <a:xfrm>
            <a:off x="3754755" y="3995738"/>
            <a:ext cx="5080000" cy="445135"/>
          </a:xfrm>
          <a:prstGeom prst="rect">
            <a:avLst/>
          </a:prstGeom>
        </p:spPr>
        <p:txBody>
          <a:bodyPr>
            <a:spAutoFit/>
          </a:bodyPr>
          <a:p>
            <a:pPr marL="0" indent="0"/>
            <a:r>
              <a:rPr sz="2300" b="0" i="0">
                <a:solidFill>
                  <a:srgbClr val="222222"/>
                </a:solidFill>
                <a:latin typeface="Roboto"/>
                <a:ea typeface="Roboto"/>
              </a:rPr>
              <a:t>-3.4 *10</a:t>
            </a:r>
            <a:r>
              <a:rPr sz="1600" b="0" i="0">
                <a:solidFill>
                  <a:srgbClr val="222222"/>
                </a:solidFill>
                <a:latin typeface="Roboto"/>
                <a:ea typeface="Roboto"/>
              </a:rPr>
              <a:t>38</a:t>
            </a:r>
            <a:r>
              <a:rPr sz="2300" b="0" i="0">
                <a:solidFill>
                  <a:srgbClr val="222222"/>
                </a:solidFill>
                <a:latin typeface="Roboto"/>
                <a:ea typeface="Roboto"/>
              </a:rPr>
              <a:t> … 3.4 * 10</a:t>
            </a:r>
            <a:r>
              <a:rPr sz="1600" b="0" i="0">
                <a:solidFill>
                  <a:srgbClr val="222222"/>
                </a:solidFill>
                <a:latin typeface="Roboto"/>
                <a:ea typeface="Roboto"/>
              </a:rPr>
              <a:t>38</a:t>
            </a:r>
            <a:endParaRPr sz="1600" b="0" i="0">
              <a:solidFill>
                <a:srgbClr val="222222"/>
              </a:solidFill>
              <a:latin typeface="Roboto"/>
              <a:ea typeface="Roboto"/>
            </a:endParaRPr>
          </a:p>
        </p:txBody>
      </p:sp>
      <p:sp>
        <p:nvSpPr>
          <p:cNvPr id="5" name="Text Box 4"/>
          <p:cNvSpPr txBox="1"/>
          <p:nvPr/>
        </p:nvSpPr>
        <p:spPr>
          <a:xfrm>
            <a:off x="3574415" y="4526915"/>
            <a:ext cx="5917565" cy="368300"/>
          </a:xfrm>
          <a:prstGeom prst="rect">
            <a:avLst/>
          </a:prstGeom>
        </p:spPr>
        <p:txBody>
          <a:bodyPr wrap="square">
            <a:spAutoFit/>
          </a:bodyPr>
          <a:p>
            <a:pPr marL="0" indent="0"/>
            <a:r>
              <a:rPr b="0" i="0">
                <a:solidFill>
                  <a:srgbClr val="222222"/>
                </a:solidFill>
                <a:latin typeface="Roboto"/>
                <a:ea typeface="Roboto"/>
              </a:rPr>
              <a:t>±4.9 * 10</a:t>
            </a:r>
            <a:r>
              <a:rPr sz="1200" b="0" i="0">
                <a:solidFill>
                  <a:srgbClr val="222222"/>
                </a:solidFill>
                <a:latin typeface="Roboto"/>
                <a:ea typeface="Roboto"/>
              </a:rPr>
              <a:t>-324</a:t>
            </a:r>
            <a:r>
              <a:rPr b="0" i="0">
                <a:solidFill>
                  <a:srgbClr val="222222"/>
                </a:solidFill>
                <a:latin typeface="Roboto"/>
                <a:ea typeface="Roboto"/>
              </a:rPr>
              <a:t> … ±1.79769313483157 * 10</a:t>
            </a:r>
            <a:r>
              <a:rPr sz="1200" b="0" i="0">
                <a:solidFill>
                  <a:srgbClr val="222222"/>
                </a:solidFill>
                <a:latin typeface="Roboto"/>
                <a:ea typeface="Roboto"/>
              </a:rPr>
              <a:t>308</a:t>
            </a:r>
            <a:endParaRPr sz="1200" b="0" i="0">
              <a:solidFill>
                <a:srgbClr val="222222"/>
              </a:solidFill>
              <a:latin typeface="Roboto"/>
              <a:ea typeface="Roboto"/>
            </a:endParaRPr>
          </a:p>
        </p:txBody>
      </p:sp>
      <mc:AlternateContent xmlns:mc="http://schemas.openxmlformats.org/markup-compatibility/2006">
        <mc:Choice xmlns:a14="http://schemas.microsoft.com/office/drawing/2010/main" Requires="a14">
          <p:sp>
            <p:nvSpPr>
              <p:cNvPr id="6" name="Text Box 5"/>
              <p:cNvSpPr txBox="1"/>
              <p:nvPr/>
            </p:nvSpPr>
            <p:spPr>
              <a:xfrm>
                <a:off x="6133465" y="1881505"/>
                <a:ext cx="2635885" cy="345440"/>
              </a:xfrm>
              <a:prstGeom prst="rect">
                <a:avLst/>
              </a:prstGeom>
            </p:spPr>
            <p:txBody>
              <a:bodyPr wrap="square">
                <a:spAutoFit/>
              </a:bodyPr>
              <a:p>
                <a:pPr marL="0" indent="0"/>
                <a:r>
                  <a:rPr sz="1600" b="0" i="0">
                    <a:solidFill>
                      <a:srgbClr val="000000"/>
                    </a:solidFill>
                    <a:latin typeface="Verdana" panose="020B0604030504040204"/>
                    <a:ea typeface="Verdana" panose="020B0604030504040204"/>
                  </a:rPr>
                  <a:t> 8</a:t>
                </a:r>
                <a:r>
                  <a:rPr sz="1600" b="0" i="0">
                    <a:solidFill>
                      <a:srgbClr val="000000"/>
                    </a:solidFill>
                    <a:highlight>
                      <a:srgbClr val="FFFF00"/>
                    </a:highlight>
                    <a:latin typeface="Verdana" panose="020B0604030504040204"/>
                    <a:ea typeface="Verdana" panose="020B0604030504040204"/>
                  </a:rPr>
                  <a:t>-bit</a:t>
                </a:r>
                <a:r>
                  <a:rPr lang="en-US" sz="1600" b="0" i="0">
                    <a:solidFill>
                      <a:srgbClr val="000000"/>
                    </a:solidFill>
                    <a:highlight>
                      <a:srgbClr val="FFFF00"/>
                    </a:highlight>
                    <a:latin typeface="Verdana" panose="020B0604030504040204"/>
                    <a:ea typeface="Verdana" panose="020B0604030504040204"/>
                  </a:rPr>
                  <a:t> </a:t>
                </a:r>
                <a14:m>
                  <m:oMath xmlns:m="http://schemas.openxmlformats.org/officeDocument/2006/math">
                    <m:sSup>
                      <m:sSupPr>
                        <m:ctrlP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ctrlPr>
                      </m:sSupPr>
                      <m:e>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m:t>
                        </m:r>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m:t>
                        </m:r>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2</m:t>
                        </m:r>
                      </m:e>
                      <m:sup>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7</m:t>
                        </m:r>
                      </m:sup>
                    </m:sSup>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 , </m:t>
                    </m:r>
                    <m:sSup>
                      <m:sSupPr>
                        <m:ctrlP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ctrlPr>
                      </m:sSupPr>
                      <m:e>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m:t>
                        </m:r>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2</m:t>
                        </m:r>
                      </m:e>
                      <m:sup>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7</m:t>
                        </m:r>
                      </m:sup>
                    </m:sSup>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m:t>
                    </m:r>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1</m:t>
                    </m:r>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 </m:t>
                    </m:r>
                  </m:oMath>
                </a14:m>
                <a:r>
                  <a:rPr lang="en-US" sz="1600" b="0" i="0">
                    <a:solidFill>
                      <a:srgbClr val="000000"/>
                    </a:solidFill>
                    <a:highlight>
                      <a:srgbClr val="FFFF00"/>
                    </a:highlight>
                    <a:latin typeface="Verdana" panose="020B0604030504040204"/>
                    <a:ea typeface="Verdana" panose="020B0604030504040204"/>
                  </a:rPr>
                  <a:t> </a:t>
                </a:r>
                <a:endParaRPr lang="en-US" sz="1600" b="0" i="0">
                  <a:solidFill>
                    <a:srgbClr val="000000"/>
                  </a:solidFill>
                  <a:highlight>
                    <a:srgbClr val="FFFF00"/>
                  </a:highlight>
                  <a:latin typeface="Verdana" panose="020B0604030504040204"/>
                  <a:ea typeface="Verdana" panose="020B0604030504040204"/>
                </a:endParaRPr>
              </a:p>
            </p:txBody>
          </p:sp>
        </mc:Choice>
        <mc:Fallback>
          <p:sp>
            <p:nvSpPr>
              <p:cNvPr id="6" name="Text Box 5"/>
              <p:cNvSpPr txBox="1">
                <a:spLocks noRot="1" noChangeAspect="1" noMove="1" noResize="1" noEditPoints="1" noAdjustHandles="1" noChangeArrowheads="1" noChangeShapeType="1" noTextEdit="1"/>
              </p:cNvSpPr>
              <p:nvPr/>
            </p:nvSpPr>
            <p:spPr>
              <a:xfrm>
                <a:off x="6133465" y="1881505"/>
                <a:ext cx="2635885" cy="345440"/>
              </a:xfrm>
              <a:prstGeom prst="rect">
                <a:avLst/>
              </a:prstGeom>
              <a:blipFill rotWithShape="1">
                <a:blip r:embed="rId2"/>
                <a:stretch>
                  <a:fillRect/>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8" name="Text Box 7"/>
              <p:cNvSpPr txBox="1"/>
              <p:nvPr/>
            </p:nvSpPr>
            <p:spPr>
              <a:xfrm>
                <a:off x="6228080" y="2413953"/>
                <a:ext cx="5080000" cy="351155"/>
              </a:xfrm>
              <a:prstGeom prst="rect">
                <a:avLst/>
              </a:prstGeom>
            </p:spPr>
            <p:txBody>
              <a:bodyPr>
                <a:spAutoFit/>
              </a:bodyPr>
              <a:p>
                <a:pPr marL="0" indent="0"/>
                <a:r>
                  <a:rPr sz="1600" b="0" i="0">
                    <a:solidFill>
                      <a:srgbClr val="000000"/>
                    </a:solidFill>
                    <a:highlight>
                      <a:srgbClr val="FFFF00"/>
                    </a:highlight>
                    <a:latin typeface="Verdana" panose="020B0604030504040204"/>
                    <a:ea typeface="Verdana" panose="020B0604030504040204"/>
                  </a:rPr>
                  <a:t>16-bit</a:t>
                </a:r>
                <a:r>
                  <a:rPr lang="en-US" sz="1600" b="0" i="0">
                    <a:solidFill>
                      <a:srgbClr val="000000"/>
                    </a:solidFill>
                    <a:highlight>
                      <a:srgbClr val="FFFF00"/>
                    </a:highlight>
                    <a:latin typeface="Verdana" panose="020B0604030504040204"/>
                    <a:ea typeface="Verdana" panose="020B0604030504040204"/>
                  </a:rPr>
                  <a:t>  </a:t>
                </a:r>
                <a14:m>
                  <m:oMath xmlns:m="http://schemas.openxmlformats.org/officeDocument/2006/math">
                    <m:sSup>
                      <m:sSupPr>
                        <m:ctrlP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ctrlPr>
                      </m:sSupPr>
                      <m:e>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m:t>
                        </m:r>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2</m:t>
                        </m:r>
                      </m:e>
                      <m:sup>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15</m:t>
                        </m:r>
                      </m:sup>
                    </m:sSup>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 , </m:t>
                    </m:r>
                    <m:sSup>
                      <m:sSupPr>
                        <m:ctrlP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ctrlPr>
                      </m:sSupPr>
                      <m:e>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m:t>
                        </m:r>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2</m:t>
                        </m:r>
                      </m:e>
                      <m:sup>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15</m:t>
                        </m:r>
                      </m:sup>
                    </m:sSup>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m:t>
                    </m:r>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1</m:t>
                    </m:r>
                    <m:r>
                      <a:rPr lang="en-US" sz="1600" b="0" i="1">
                        <a:solidFill>
                          <a:srgbClr val="000000"/>
                        </a:solidFill>
                        <a:highlight>
                          <a:srgbClr val="FFFF00"/>
                        </a:highlight>
                        <a:latin typeface="Cambria Math" panose="02040503050406030204" charset="0"/>
                        <a:ea typeface="MS Mincho" charset="0"/>
                        <a:cs typeface="Cambria Math" panose="02040503050406030204" charset="0"/>
                      </a:rPr>
                      <m:t>)]</m:t>
                    </m:r>
                  </m:oMath>
                </a14:m>
                <a:endPar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endParaRPr>
              </a:p>
            </p:txBody>
          </p:sp>
        </mc:Choice>
        <mc:Fallback>
          <p:sp>
            <p:nvSpPr>
              <p:cNvPr id="8" name="Text Box 7"/>
              <p:cNvSpPr txBox="1">
                <a:spLocks noRot="1" noChangeAspect="1" noMove="1" noResize="1" noEditPoints="1" noAdjustHandles="1" noChangeArrowheads="1" noChangeShapeType="1" noTextEdit="1"/>
              </p:cNvSpPr>
              <p:nvPr/>
            </p:nvSpPr>
            <p:spPr>
              <a:xfrm>
                <a:off x="6228080" y="2413953"/>
                <a:ext cx="5080000" cy="351155"/>
              </a:xfrm>
              <a:prstGeom prst="rect">
                <a:avLst/>
              </a:prstGeom>
              <a:blipFill rotWithShape="1">
                <a:blip r:embed="rId3"/>
                <a:stretch>
                  <a:fillRect t="-91" b="91"/>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9" name="Text Box 8"/>
              <p:cNvSpPr txBox="1"/>
              <p:nvPr/>
            </p:nvSpPr>
            <p:spPr>
              <a:xfrm>
                <a:off x="6285865" y="3012758"/>
                <a:ext cx="5080000" cy="593725"/>
              </a:xfrm>
              <a:prstGeom prst="rect">
                <a:avLst/>
              </a:prstGeom>
            </p:spPr>
            <p:txBody>
              <a:bodyPr>
                <a:spAutoFit/>
              </a:bodyPr>
              <a:p>
                <a:pPr marL="0" indent="0"/>
                <a:r>
                  <a:rPr sz="1600" b="0" i="0">
                    <a:solidFill>
                      <a:srgbClr val="000000"/>
                    </a:solidFill>
                    <a:latin typeface="Verdana" panose="020B0604030504040204"/>
                    <a:ea typeface="Verdana" panose="020B0604030504040204"/>
                  </a:rPr>
                  <a:t> </a:t>
                </a:r>
                <a:r>
                  <a:rPr sz="1600" b="0" i="0">
                    <a:solidFill>
                      <a:srgbClr val="000000"/>
                    </a:solidFill>
                    <a:highlight>
                      <a:srgbClr val="FFFF00"/>
                    </a:highlight>
                    <a:latin typeface="Verdana" panose="020B0604030504040204"/>
                    <a:ea typeface="Verdana" panose="020B0604030504040204"/>
                  </a:rPr>
                  <a:t>32-bit</a:t>
                </a:r>
                <a:r>
                  <a:rPr lang="en-US" sz="1600" b="0" i="0">
                    <a:solidFill>
                      <a:srgbClr val="000000"/>
                    </a:solidFill>
                    <a:highlight>
                      <a:srgbClr val="FFFF00"/>
                    </a:highlight>
                    <a:latin typeface="Verdana" panose="020B0604030504040204"/>
                    <a:ea typeface="Verdana" panose="020B0604030504040204"/>
                  </a:rPr>
                  <a:t> </a:t>
                </a:r>
                <a:r>
                  <a:rPr lang="en-US" sz="1600">
                    <a:solidFill>
                      <a:srgbClr val="000000"/>
                    </a:solidFill>
                    <a:highlight>
                      <a:srgbClr val="FFFF00"/>
                    </a:highlight>
                    <a:latin typeface="Verdana" panose="020B0604030504040204"/>
                    <a:ea typeface="Verdana" panose="020B0604030504040204"/>
                    <a:sym typeface="+mn-ea"/>
                  </a:rPr>
                  <a:t> </a:t>
                </a:r>
                <a14:m>
                  <m:oMath xmlns:m="http://schemas.openxmlformats.org/officeDocument/2006/math">
                    <m:sSup>
                      <m:sSupPr>
                        <m:ctrlP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ctrlPr>
                      </m:sSupPr>
                      <m:e>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m:t>
                        </m:r>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2</m:t>
                        </m:r>
                      </m:e>
                      <m:sup>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31</m:t>
                        </m:r>
                      </m:sup>
                    </m:sSup>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 , </m:t>
                    </m:r>
                    <m:sSup>
                      <m:sSupPr>
                        <m:ctrlP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ctrlPr>
                      </m:sSupPr>
                      <m:e>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m:t>
                        </m:r>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2</m:t>
                        </m:r>
                      </m:e>
                      <m:sup>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31</m:t>
                        </m:r>
                      </m:sup>
                    </m:sSup>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m:t>
                    </m:r>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1</m:t>
                    </m:r>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m:t>
                    </m:r>
                  </m:oMath>
                </a14:m>
                <a:endParaRPr lang="en-US" sz="1600" b="0" i="0">
                  <a:solidFill>
                    <a:srgbClr val="000000"/>
                  </a:solidFill>
                  <a:highlight>
                    <a:srgbClr val="FFFF00"/>
                  </a:highlight>
                  <a:latin typeface="Verdana" panose="020B0604030504040204"/>
                  <a:ea typeface="Verdana" panose="020B0604030504040204"/>
                </a:endParaRPr>
              </a:p>
              <a:p>
                <a:pPr marL="0" indent="0"/>
                <a:endParaRPr lang="en-US" sz="1600" b="0" i="0">
                  <a:solidFill>
                    <a:srgbClr val="000000"/>
                  </a:solidFill>
                  <a:highlight>
                    <a:srgbClr val="FFFF00"/>
                  </a:highlight>
                  <a:latin typeface="Verdana" panose="020B0604030504040204"/>
                  <a:ea typeface="Verdana" panose="020B0604030504040204"/>
                </a:endParaRPr>
              </a:p>
            </p:txBody>
          </p:sp>
        </mc:Choice>
        <mc:Fallback>
          <p:sp>
            <p:nvSpPr>
              <p:cNvPr id="9" name="Text Box 8"/>
              <p:cNvSpPr txBox="1">
                <a:spLocks noRot="1" noChangeAspect="1" noMove="1" noResize="1" noEditPoints="1" noAdjustHandles="1" noChangeArrowheads="1" noChangeShapeType="1" noTextEdit="1"/>
              </p:cNvSpPr>
              <p:nvPr/>
            </p:nvSpPr>
            <p:spPr>
              <a:xfrm>
                <a:off x="6285865" y="3012758"/>
                <a:ext cx="5080000" cy="593725"/>
              </a:xfrm>
              <a:prstGeom prst="rect">
                <a:avLst/>
              </a:prstGeom>
              <a:blipFill rotWithShape="1">
                <a:blip r:embed="rId4"/>
                <a:stretch>
                  <a:fillRect t="-54" b="54"/>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0" name="Text Box 9"/>
              <p:cNvSpPr txBox="1"/>
              <p:nvPr/>
            </p:nvSpPr>
            <p:spPr>
              <a:xfrm>
                <a:off x="7752080" y="3529013"/>
                <a:ext cx="5080000" cy="346710"/>
              </a:xfrm>
              <a:prstGeom prst="rect">
                <a:avLst/>
              </a:prstGeom>
            </p:spPr>
            <p:txBody>
              <a:bodyPr>
                <a:spAutoFit/>
              </a:bodyPr>
              <a:p>
                <a:pPr marL="0" indent="0"/>
                <a:r>
                  <a:rPr sz="1600" b="0" i="0">
                    <a:solidFill>
                      <a:srgbClr val="000000"/>
                    </a:solidFill>
                    <a:highlight>
                      <a:srgbClr val="FFFF00"/>
                    </a:highlight>
                    <a:latin typeface="Verdana" panose="020B0604030504040204"/>
                    <a:ea typeface="Verdana" panose="020B0604030504040204"/>
                  </a:rPr>
                  <a:t>64-bit</a:t>
                </a:r>
                <a:r>
                  <a:rPr lang="en-US" sz="1600" b="0" i="0">
                    <a:solidFill>
                      <a:srgbClr val="000000"/>
                    </a:solidFill>
                    <a:highlight>
                      <a:srgbClr val="FFFF00"/>
                    </a:highlight>
                    <a:latin typeface="Verdana" panose="020B0604030504040204"/>
                    <a:ea typeface="Verdana" panose="020B0604030504040204"/>
                  </a:rPr>
                  <a:t> </a:t>
                </a:r>
                <a14:m>
                  <m:oMath xmlns:m="http://schemas.openxmlformats.org/officeDocument/2006/math">
                    <m:sSup>
                      <m:sSupPr>
                        <m:ctrlP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ctrlPr>
                      </m:sSupPr>
                      <m:e>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m:t>
                        </m:r>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2</m:t>
                        </m:r>
                      </m:e>
                      <m:sup>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63</m:t>
                        </m:r>
                      </m:sup>
                    </m:sSup>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 , </m:t>
                    </m:r>
                    <m:sSup>
                      <m:sSupPr>
                        <m:ctrlP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ctrlPr>
                      </m:sSupPr>
                      <m:e>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m:t>
                        </m:r>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2</m:t>
                        </m:r>
                      </m:e>
                      <m:sup>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63</m:t>
                        </m:r>
                      </m:sup>
                    </m:sSup>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m:t>
                    </m:r>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1</m:t>
                    </m:r>
                    <m:r>
                      <a:rPr lang="en-US" sz="1600" b="0" i="1">
                        <a:solidFill>
                          <a:srgbClr val="000000"/>
                        </a:solidFill>
                        <a:highlight>
                          <a:srgbClr val="FFFF00"/>
                        </a:highlight>
                        <a:latin typeface="Cambria Math" panose="02040503050406030204" charset="0"/>
                        <a:ea typeface="Verdana" panose="020B0604030504040204"/>
                        <a:cs typeface="Cambria Math" panose="02040503050406030204" charset="0"/>
                      </a:rPr>
                      <m:t>)]</m:t>
                    </m:r>
                  </m:oMath>
                </a14:m>
                <a:r>
                  <a:rPr lang="en-US" sz="1600" b="0" i="0">
                    <a:solidFill>
                      <a:srgbClr val="000000"/>
                    </a:solidFill>
                    <a:latin typeface="Verdana" panose="020B0604030504040204"/>
                    <a:ea typeface="Verdana" panose="020B0604030504040204"/>
                  </a:rPr>
                  <a:t> </a:t>
                </a:r>
                <a:endParaRPr lang="en-US" sz="1600" b="0" i="0">
                  <a:solidFill>
                    <a:srgbClr val="000000"/>
                  </a:solidFill>
                  <a:latin typeface="Verdana" panose="020B0604030504040204"/>
                  <a:ea typeface="Verdana" panose="020B0604030504040204"/>
                </a:endParaRPr>
              </a:p>
            </p:txBody>
          </p:sp>
        </mc:Choice>
        <mc:Fallback>
          <p:sp>
            <p:nvSpPr>
              <p:cNvPr id="10" name="Text Box 9"/>
              <p:cNvSpPr txBox="1">
                <a:spLocks noRot="1" noChangeAspect="1" noMove="1" noResize="1" noEditPoints="1" noAdjustHandles="1" noChangeArrowheads="1" noChangeShapeType="1" noTextEdit="1"/>
              </p:cNvSpPr>
              <p:nvPr/>
            </p:nvSpPr>
            <p:spPr>
              <a:xfrm>
                <a:off x="7752080" y="3529013"/>
                <a:ext cx="5080000" cy="346710"/>
              </a:xfrm>
              <a:prstGeom prst="rect">
                <a:avLst/>
              </a:prstGeom>
              <a:blipFill rotWithShape="1">
                <a:blip r:embed="rId5"/>
                <a:stretch>
                  <a:fillRect t="-92" b="92"/>
                </a:stretch>
              </a:blipFill>
            </p:spPr>
            <p:txBody>
              <a:bodyPr/>
              <a:lstStyle/>
              <a:p>
                <a:r>
                  <a:rPr lang="en-US" altLang="en-US">
                    <a:noFill/>
                  </a:rPr>
                  <a:t> </a:t>
                </a:r>
              </a:p>
            </p:txBody>
          </p:sp>
        </mc:Fallback>
      </mc:AlternateContent>
      <p:sp>
        <p:nvSpPr>
          <p:cNvPr id="11" name="Text Box 10"/>
          <p:cNvSpPr txBox="1"/>
          <p:nvPr/>
        </p:nvSpPr>
        <p:spPr>
          <a:xfrm>
            <a:off x="6894830" y="4032568"/>
            <a:ext cx="5080000" cy="337185"/>
          </a:xfrm>
          <a:prstGeom prst="rect">
            <a:avLst/>
          </a:prstGeom>
        </p:spPr>
        <p:txBody>
          <a:bodyPr>
            <a:spAutoFit/>
          </a:bodyPr>
          <a:p>
            <a:pPr marL="0" indent="0"/>
            <a:r>
              <a:rPr sz="1600" b="0" i="0">
                <a:solidFill>
                  <a:srgbClr val="000000"/>
                </a:solidFill>
                <a:highlight>
                  <a:srgbClr val="FFFF00"/>
                </a:highlight>
                <a:latin typeface="Verdana" panose="020B0604030504040204"/>
                <a:ea typeface="Verdana" panose="020B0604030504040204"/>
              </a:rPr>
              <a:t>32-bit IEEE 754 floating-point</a:t>
            </a:r>
            <a:endParaRPr sz="1600" b="0" i="0">
              <a:solidFill>
                <a:srgbClr val="000000"/>
              </a:solidFill>
              <a:highlight>
                <a:srgbClr val="FFFF00"/>
              </a:highlight>
              <a:latin typeface="Verdana" panose="020B0604030504040204"/>
              <a:ea typeface="Verdana" panose="020B0604030504040204"/>
            </a:endParaRPr>
          </a:p>
        </p:txBody>
      </p:sp>
      <p:sp>
        <p:nvSpPr>
          <p:cNvPr id="12" name="Text Box 11"/>
          <p:cNvSpPr txBox="1"/>
          <p:nvPr/>
        </p:nvSpPr>
        <p:spPr>
          <a:xfrm>
            <a:off x="6706870" y="4830445"/>
            <a:ext cx="5365115" cy="829945"/>
          </a:xfrm>
          <a:prstGeom prst="rect">
            <a:avLst/>
          </a:prstGeom>
        </p:spPr>
        <p:txBody>
          <a:bodyPr wrap="square">
            <a:spAutoFit/>
          </a:bodyPr>
          <a:p>
            <a:pPr marL="0" indent="0"/>
            <a:r>
              <a:rPr sz="1600" b="0" i="0">
                <a:solidFill>
                  <a:srgbClr val="000000"/>
                </a:solidFill>
                <a:highlight>
                  <a:srgbClr val="FFFF00"/>
                </a:highlight>
                <a:latin typeface="Verdana" panose="020B0604030504040204"/>
                <a:ea typeface="Verdana" panose="020B0604030504040204"/>
              </a:rPr>
              <a:t>64-bit IEEE 754 floating-point</a:t>
            </a:r>
            <a:r>
              <a:rPr lang="en-US" sz="1600" b="0" i="0">
                <a:solidFill>
                  <a:srgbClr val="000000"/>
                </a:solidFill>
                <a:highlight>
                  <a:srgbClr val="FFFF00"/>
                </a:highlight>
                <a:latin typeface="Verdana" panose="020B0604030504040204"/>
                <a:ea typeface="Verdana" panose="020B0604030504040204"/>
              </a:rPr>
              <a:t> </a:t>
            </a:r>
            <a:r>
              <a:rPr sz="1600">
                <a:solidFill>
                  <a:srgbClr val="000000"/>
                </a:solidFill>
                <a:highlight>
                  <a:srgbClr val="FFFF00"/>
                </a:highlight>
                <a:latin typeface="Verdana" panose="020B0604030504040204"/>
                <a:ea typeface="Verdana" panose="020B0604030504040204"/>
                <a:sym typeface="+mn-ea"/>
              </a:rPr>
              <a:t>default data type </a:t>
            </a:r>
            <a:endParaRPr sz="1600" b="0" i="0">
              <a:solidFill>
                <a:srgbClr val="000000"/>
              </a:solidFill>
              <a:highlight>
                <a:srgbClr val="FFFF00"/>
              </a:highlight>
              <a:latin typeface="Verdana" panose="020B0604030504040204"/>
              <a:ea typeface="Verdana" panose="020B0604030504040204"/>
            </a:endParaRPr>
          </a:p>
          <a:p>
            <a:pPr marL="0" indent="0"/>
            <a:r>
              <a:rPr lang="en-US" sz="1600">
                <a:solidFill>
                  <a:srgbClr val="000000"/>
                </a:solidFill>
                <a:highlight>
                  <a:srgbClr val="FFFF00"/>
                </a:highlight>
                <a:latin typeface="Verdana" panose="020B0604030504040204"/>
                <a:ea typeface="Verdana" panose="020B0604030504040204"/>
                <a:sym typeface="+mn-ea"/>
              </a:rPr>
              <a:t>                                            </a:t>
            </a:r>
            <a:r>
              <a:rPr sz="1600">
                <a:solidFill>
                  <a:srgbClr val="000000"/>
                </a:solidFill>
                <a:highlight>
                  <a:srgbClr val="FFFF00"/>
                </a:highlight>
                <a:latin typeface="Verdana" panose="020B0604030504040204"/>
                <a:ea typeface="Verdana" panose="020B0604030504040204"/>
                <a:sym typeface="+mn-ea"/>
              </a:rPr>
              <a:t>for decimal values</a:t>
            </a:r>
            <a:endParaRPr sz="1600" b="0" i="0">
              <a:solidFill>
                <a:srgbClr val="000000"/>
              </a:solidFill>
              <a:highlight>
                <a:srgbClr val="FFFF00"/>
              </a:highlight>
              <a:latin typeface="Verdana" panose="020B0604030504040204"/>
              <a:ea typeface="Verdana" panose="020B0604030504040204"/>
            </a:endParaRPr>
          </a:p>
          <a:p>
            <a:pPr marL="0" indent="0"/>
            <a:endParaRPr lang="en-US" sz="1600" b="0" i="0">
              <a:solidFill>
                <a:srgbClr val="000000"/>
              </a:solidFill>
              <a:highlight>
                <a:srgbClr val="FFFF00"/>
              </a:highlight>
              <a:latin typeface="Verdana" panose="020B0604030504040204"/>
              <a:ea typeface="Verdana" panose="020B0604030504040204"/>
            </a:endParaRPr>
          </a:p>
        </p:txBody>
      </p:sp>
      <p:sp>
        <p:nvSpPr>
          <p:cNvPr id="14" name="Text Box 13"/>
          <p:cNvSpPr txBox="1"/>
          <p:nvPr/>
        </p:nvSpPr>
        <p:spPr>
          <a:xfrm>
            <a:off x="6228080" y="5546090"/>
            <a:ext cx="2515235" cy="368300"/>
          </a:xfrm>
          <a:prstGeom prst="rect">
            <a:avLst/>
          </a:prstGeom>
          <a:noFill/>
        </p:spPr>
        <p:txBody>
          <a:bodyPr wrap="square" rtlCol="0" anchor="t">
            <a:spAutoFit/>
          </a:bodyPr>
          <a:p>
            <a:r>
              <a:rPr lang="en-US" altLang="en-US">
                <a:highlight>
                  <a:srgbClr val="FFFF00"/>
                </a:highlight>
              </a:rPr>
              <a:t>16-bit Unicode characte</a:t>
            </a:r>
            <a:r>
              <a:rPr lang="en-US" altLang="en-US">
                <a:highlight>
                  <a:srgbClr val="FFFF00"/>
                </a:highlight>
              </a:rPr>
              <a:t>r</a:t>
            </a:r>
            <a:endParaRPr lang="en-US" altLang="en-US">
              <a:highlight>
                <a:srgbClr val="FFFF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extLst>
              <a:ext uri="{96DAC541-7B7A-43D3-8B79-37D633B846F1}">
                <asvg:svgBlip xmlns:asvg="http://schemas.microsoft.com/office/drawing/2016/SVG/main" r:embed="rId2"/>
              </a:ext>
            </a:extLst>
          </a:blip>
          <a:stretch>
            <a:fillRect/>
          </a:stretch>
        </p:blipFill>
        <p:spPr>
          <a:xfrm>
            <a:off x="5905500" y="3238500"/>
            <a:ext cx="381000" cy="381000"/>
          </a:xfrm>
          <a:prstGeom prst="rect">
            <a:avLst/>
          </a:prstGeom>
        </p:spPr>
      </p:pic>
      <p:pic>
        <p:nvPicPr>
          <p:cNvPr id="5" name="Picture 4"/>
          <p:cNvPicPr>
            <a:picLocks noChangeAspect="1"/>
          </p:cNvPicPr>
          <p:nvPr/>
        </p:nvPicPr>
        <p:blipFill>
          <a:blip r:embed="rId3"/>
          <a:stretch>
            <a:fillRect/>
          </a:stretch>
        </p:blipFill>
        <p:spPr>
          <a:xfrm>
            <a:off x="2050415" y="1908810"/>
            <a:ext cx="7868920" cy="3285490"/>
          </a:xfrm>
          <a:prstGeom prst="rect">
            <a:avLst/>
          </a:prstGeom>
        </p:spPr>
      </p:pic>
      <p:sp>
        <p:nvSpPr>
          <p:cNvPr id="6" name="Text Box 5"/>
          <p:cNvSpPr txBox="1"/>
          <p:nvPr/>
        </p:nvSpPr>
        <p:spPr>
          <a:xfrm>
            <a:off x="190500" y="481965"/>
            <a:ext cx="11680825" cy="645160"/>
          </a:xfrm>
          <a:prstGeom prst="rect">
            <a:avLst/>
          </a:prstGeom>
          <a:noFill/>
        </p:spPr>
        <p:txBody>
          <a:bodyPr wrap="square" rtlCol="0" anchor="t">
            <a:spAutoFit/>
          </a:bodyPr>
          <a:p>
            <a:r>
              <a:rPr lang="en-US" altLang="en-US"/>
              <a:t> It is the superclass of the classes that represent numeric values convertible to primitive data types such as byte, short, int, long, float, and double</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10540" y="282575"/>
            <a:ext cx="4064000" cy="521970"/>
          </a:xfrm>
          <a:prstGeom prst="rect">
            <a:avLst/>
          </a:prstGeom>
          <a:noFill/>
        </p:spPr>
        <p:txBody>
          <a:bodyPr wrap="square" rtlCol="0">
            <a:spAutoFit/>
          </a:bodyPr>
          <a:p>
            <a:r>
              <a:rPr lang="en-US" sz="2800" b="1"/>
              <a:t>Intigers</a:t>
            </a:r>
            <a:endParaRPr lang="en-US" sz="2800" b="1"/>
          </a:p>
        </p:txBody>
      </p:sp>
      <p:pic>
        <p:nvPicPr>
          <p:cNvPr id="6" name="Picture 5"/>
          <p:cNvPicPr>
            <a:picLocks noChangeAspect="1"/>
          </p:cNvPicPr>
          <p:nvPr/>
        </p:nvPicPr>
        <p:blipFill>
          <a:blip r:embed="rId1"/>
          <a:stretch>
            <a:fillRect/>
          </a:stretch>
        </p:blipFill>
        <p:spPr>
          <a:xfrm>
            <a:off x="1776095" y="1322070"/>
            <a:ext cx="7806055" cy="2432685"/>
          </a:xfrm>
          <a:prstGeom prst="rect">
            <a:avLst/>
          </a:prstGeom>
        </p:spPr>
      </p:pic>
      <p:sp>
        <p:nvSpPr>
          <p:cNvPr id="7" name="Rectangles 6"/>
          <p:cNvSpPr/>
          <p:nvPr/>
        </p:nvSpPr>
        <p:spPr>
          <a:xfrm>
            <a:off x="3020060" y="2630170"/>
            <a:ext cx="554355" cy="401955"/>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pic>
        <p:nvPicPr>
          <p:cNvPr id="8" name="Picture 7"/>
          <p:cNvPicPr>
            <a:picLocks noChangeAspect="1"/>
          </p:cNvPicPr>
          <p:nvPr/>
        </p:nvPicPr>
        <p:blipFill>
          <a:blip r:embed="rId2"/>
          <a:stretch>
            <a:fillRect/>
          </a:stretch>
        </p:blipFill>
        <p:spPr>
          <a:xfrm>
            <a:off x="2764155" y="4953000"/>
            <a:ext cx="5250180" cy="6248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rcRect l="26692" t="20515" b="58904"/>
          <a:stretch>
            <a:fillRect/>
          </a:stretch>
        </p:blipFill>
        <p:spPr>
          <a:xfrm>
            <a:off x="573405" y="566420"/>
            <a:ext cx="11045825" cy="1744980"/>
          </a:xfrm>
          <a:prstGeom prst="rect">
            <a:avLst/>
          </a:prstGeom>
        </p:spPr>
      </p:pic>
      <p:cxnSp>
        <p:nvCxnSpPr>
          <p:cNvPr id="5" name="Straight Connector 4"/>
          <p:cNvCxnSpPr/>
          <p:nvPr/>
        </p:nvCxnSpPr>
        <p:spPr>
          <a:xfrm>
            <a:off x="2868295" y="1380490"/>
            <a:ext cx="7508240" cy="2159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sp>
        <p:nvSpPr>
          <p:cNvPr id="6" name="Text Box 5"/>
          <p:cNvSpPr txBox="1"/>
          <p:nvPr/>
        </p:nvSpPr>
        <p:spPr>
          <a:xfrm>
            <a:off x="5030470" y="2609215"/>
            <a:ext cx="4064000" cy="368300"/>
          </a:xfrm>
          <a:prstGeom prst="rect">
            <a:avLst/>
          </a:prstGeom>
          <a:noFill/>
        </p:spPr>
        <p:txBody>
          <a:bodyPr wrap="square" rtlCol="0">
            <a:spAutoFit/>
          </a:bodyPr>
          <a:p>
            <a:r>
              <a:rPr lang="en-US"/>
              <a:t>why here rises mistake? </a:t>
            </a:r>
            <a:endParaRPr lang="en-US"/>
          </a:p>
        </p:txBody>
      </p:sp>
      <p:pic>
        <p:nvPicPr>
          <p:cNvPr id="7" name="Picture 6"/>
          <p:cNvPicPr>
            <a:picLocks noChangeAspect="1"/>
          </p:cNvPicPr>
          <p:nvPr/>
        </p:nvPicPr>
        <p:blipFill>
          <a:blip r:embed="rId2"/>
          <a:stretch>
            <a:fillRect/>
          </a:stretch>
        </p:blipFill>
        <p:spPr>
          <a:xfrm>
            <a:off x="734695" y="3177540"/>
            <a:ext cx="9641840" cy="2075815"/>
          </a:xfrm>
          <a:prstGeom prst="rect">
            <a:avLst/>
          </a:prstGeom>
        </p:spPr>
      </p:pic>
      <p:pic>
        <p:nvPicPr>
          <p:cNvPr id="8" name="Picture 7"/>
          <p:cNvPicPr>
            <a:picLocks noChangeAspect="1"/>
          </p:cNvPicPr>
          <p:nvPr/>
        </p:nvPicPr>
        <p:blipFill>
          <a:blip r:embed="rId3"/>
          <a:stretch>
            <a:fillRect/>
          </a:stretch>
        </p:blipFill>
        <p:spPr>
          <a:xfrm>
            <a:off x="1276985" y="5526405"/>
            <a:ext cx="7117080" cy="10210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rcRect l="26472" t="25020" r="2357" b="58327"/>
          <a:stretch>
            <a:fillRect/>
          </a:stretch>
        </p:blipFill>
        <p:spPr>
          <a:xfrm>
            <a:off x="1348740" y="998220"/>
            <a:ext cx="9436100" cy="1242060"/>
          </a:xfrm>
          <a:prstGeom prst="rect">
            <a:avLst/>
          </a:prstGeom>
        </p:spPr>
      </p:pic>
      <p:cxnSp>
        <p:nvCxnSpPr>
          <p:cNvPr id="5" name="Straight Connector 4"/>
          <p:cNvCxnSpPr/>
          <p:nvPr/>
        </p:nvCxnSpPr>
        <p:spPr>
          <a:xfrm>
            <a:off x="2868295" y="1380490"/>
            <a:ext cx="7508240" cy="2159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pic>
        <p:nvPicPr>
          <p:cNvPr id="7" name="Picture 6"/>
          <p:cNvPicPr>
            <a:picLocks noChangeAspect="1"/>
          </p:cNvPicPr>
          <p:nvPr/>
        </p:nvPicPr>
        <p:blipFill>
          <a:blip r:embed="rId2"/>
          <a:srcRect l="16667" t="39559" r="17014" b="50971"/>
          <a:stretch>
            <a:fillRect/>
          </a:stretch>
        </p:blipFill>
        <p:spPr>
          <a:xfrm>
            <a:off x="2741295" y="2643505"/>
            <a:ext cx="7762240" cy="623570"/>
          </a:xfrm>
          <a:prstGeom prst="rect">
            <a:avLst/>
          </a:prstGeom>
        </p:spPr>
      </p:pic>
      <p:pic>
        <p:nvPicPr>
          <p:cNvPr id="6" name="Picture 5"/>
          <p:cNvPicPr>
            <a:picLocks noChangeAspect="1"/>
          </p:cNvPicPr>
          <p:nvPr/>
        </p:nvPicPr>
        <p:blipFill>
          <a:blip r:embed="rId3"/>
          <a:stretch>
            <a:fillRect/>
          </a:stretch>
        </p:blipFill>
        <p:spPr>
          <a:xfrm>
            <a:off x="2979420" y="3832225"/>
            <a:ext cx="6499860" cy="1592580"/>
          </a:xfrm>
          <a:prstGeom prst="rect">
            <a:avLst/>
          </a:prstGeom>
        </p:spPr>
      </p:pic>
      <p:sp>
        <p:nvSpPr>
          <p:cNvPr id="8" name="Rectangles 7"/>
          <p:cNvSpPr/>
          <p:nvPr/>
        </p:nvSpPr>
        <p:spPr>
          <a:xfrm>
            <a:off x="3375025" y="5040630"/>
            <a:ext cx="722630" cy="44704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9" name="Rectangles 8"/>
          <p:cNvSpPr/>
          <p:nvPr/>
        </p:nvSpPr>
        <p:spPr>
          <a:xfrm>
            <a:off x="6964680" y="5040630"/>
            <a:ext cx="722630" cy="44704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rcRect b="43260"/>
          <a:stretch>
            <a:fillRect/>
          </a:stretch>
        </p:blipFill>
        <p:spPr>
          <a:xfrm>
            <a:off x="751205" y="492125"/>
            <a:ext cx="8489315" cy="3996690"/>
          </a:xfrm>
          <a:prstGeom prst="rect">
            <a:avLst/>
          </a:prstGeom>
        </p:spPr>
      </p:pic>
      <p:sp>
        <p:nvSpPr>
          <p:cNvPr id="8" name="Rectangles 7"/>
          <p:cNvSpPr/>
          <p:nvPr/>
        </p:nvSpPr>
        <p:spPr>
          <a:xfrm>
            <a:off x="1872615" y="2981960"/>
            <a:ext cx="3603625" cy="1506855"/>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pic>
        <p:nvPicPr>
          <p:cNvPr id="5" name="Picture 4"/>
          <p:cNvPicPr>
            <a:picLocks noChangeAspect="1"/>
          </p:cNvPicPr>
          <p:nvPr/>
        </p:nvPicPr>
        <p:blipFill>
          <a:blip r:embed="rId2"/>
          <a:srcRect l="24918" t="25440" r="26619" b="62886"/>
          <a:stretch>
            <a:fillRect/>
          </a:stretch>
        </p:blipFill>
        <p:spPr>
          <a:xfrm>
            <a:off x="376555" y="4744720"/>
            <a:ext cx="11438890" cy="1550035"/>
          </a:xfrm>
          <a:prstGeom prst="rect">
            <a:avLst/>
          </a:prstGeom>
        </p:spPr>
      </p:pic>
      <p:sp>
        <p:nvSpPr>
          <p:cNvPr id="6" name="Rectangles 5"/>
          <p:cNvSpPr/>
          <p:nvPr/>
        </p:nvSpPr>
        <p:spPr>
          <a:xfrm>
            <a:off x="553085" y="5797550"/>
            <a:ext cx="2677795" cy="41275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cxnSp>
        <p:nvCxnSpPr>
          <p:cNvPr id="7" name="Straight Connector 6"/>
          <p:cNvCxnSpPr/>
          <p:nvPr/>
        </p:nvCxnSpPr>
        <p:spPr>
          <a:xfrm>
            <a:off x="2792730" y="5357495"/>
            <a:ext cx="7508240" cy="2159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sp>
        <p:nvSpPr>
          <p:cNvPr id="9" name="Text Box 8"/>
          <p:cNvSpPr txBox="1"/>
          <p:nvPr/>
        </p:nvSpPr>
        <p:spPr>
          <a:xfrm>
            <a:off x="9342755" y="2263140"/>
            <a:ext cx="2751455" cy="1753235"/>
          </a:xfrm>
          <a:prstGeom prst="rect">
            <a:avLst/>
          </a:prstGeom>
          <a:noFill/>
        </p:spPr>
        <p:txBody>
          <a:bodyPr wrap="square" rtlCol="0">
            <a:spAutoFit/>
          </a:bodyPr>
          <a:p>
            <a:r>
              <a:rPr lang="en-US"/>
              <a:t>for char we cant use (“”)</a:t>
            </a:r>
            <a:endParaRPr lang="en-US"/>
          </a:p>
          <a:p>
            <a:r>
              <a:rPr lang="en-US"/>
              <a:t>only single (‘’)</a:t>
            </a:r>
            <a:endParaRPr lang="en-US"/>
          </a:p>
          <a:p>
            <a:r>
              <a:rPr lang="en-US"/>
              <a:t>because double we use for string</a:t>
            </a:r>
            <a:endParaRPr lang="en-US"/>
          </a:p>
          <a:p>
            <a:r>
              <a:rPr lang="en-US"/>
              <a:t>regarding to python in java String is lis like library</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0" y="1119505"/>
            <a:ext cx="5727700" cy="4752340"/>
          </a:xfrm>
          <a:prstGeom prst="rect">
            <a:avLst/>
          </a:prstGeom>
        </p:spPr>
      </p:pic>
      <p:pic>
        <p:nvPicPr>
          <p:cNvPr id="5" name="Picture 4"/>
          <p:cNvPicPr>
            <a:picLocks noChangeAspect="1"/>
          </p:cNvPicPr>
          <p:nvPr/>
        </p:nvPicPr>
        <p:blipFill>
          <a:blip r:embed="rId2"/>
          <a:stretch>
            <a:fillRect/>
          </a:stretch>
        </p:blipFill>
        <p:spPr>
          <a:xfrm>
            <a:off x="5784850" y="1519555"/>
            <a:ext cx="6406515" cy="28117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08585" y="126365"/>
            <a:ext cx="6096000" cy="460375"/>
          </a:xfrm>
          <a:prstGeom prst="rect">
            <a:avLst/>
          </a:prstGeom>
          <a:noFill/>
        </p:spPr>
        <p:txBody>
          <a:bodyPr wrap="square" rtlCol="0" anchor="t">
            <a:spAutoFit/>
          </a:bodyPr>
          <a:p>
            <a:r>
              <a:rPr lang="en-US" sz="2400">
                <a:sym typeface="+mn-ea"/>
              </a:rPr>
              <a:t>Exercise !</a:t>
            </a:r>
            <a:endParaRPr lang="en-US" sz="2400">
              <a:sym typeface="+mn-ea"/>
            </a:endParaRPr>
          </a:p>
        </p:txBody>
      </p:sp>
      <p:sp>
        <p:nvSpPr>
          <p:cNvPr id="6" name="Text Box 5"/>
          <p:cNvSpPr txBox="1"/>
          <p:nvPr/>
        </p:nvSpPr>
        <p:spPr>
          <a:xfrm>
            <a:off x="987425" y="2783840"/>
            <a:ext cx="4064000" cy="645160"/>
          </a:xfrm>
          <a:prstGeom prst="rect">
            <a:avLst/>
          </a:prstGeom>
          <a:noFill/>
        </p:spPr>
        <p:txBody>
          <a:bodyPr wrap="square" rtlCol="0">
            <a:spAutoFit/>
          </a:bodyPr>
          <a:p>
            <a:r>
              <a:rPr lang="en-US">
                <a:highlight>
                  <a:srgbClr val="00FF00"/>
                </a:highlight>
              </a:rPr>
              <a:t>Task: </a:t>
            </a:r>
            <a:r>
              <a:rPr lang="en-US"/>
              <a:t>Write the code which will execute all the types which shown in the table 1.  </a:t>
            </a:r>
            <a:endParaRPr lang="en-US"/>
          </a:p>
        </p:txBody>
      </p:sp>
      <p:pic>
        <p:nvPicPr>
          <p:cNvPr id="7" name="Picture 6"/>
          <p:cNvPicPr>
            <a:picLocks noChangeAspect="1"/>
          </p:cNvPicPr>
          <p:nvPr/>
        </p:nvPicPr>
        <p:blipFill>
          <a:blip r:embed="rId1"/>
          <a:srcRect l="16667" t="15394" r="65131" b="9931"/>
          <a:stretch>
            <a:fillRect/>
          </a:stretch>
        </p:blipFill>
        <p:spPr>
          <a:xfrm>
            <a:off x="7379970" y="833120"/>
            <a:ext cx="2130425" cy="4917440"/>
          </a:xfrm>
          <a:prstGeom prst="rect">
            <a:avLst/>
          </a:prstGeom>
        </p:spPr>
      </p:pic>
      <p:sp>
        <p:nvSpPr>
          <p:cNvPr id="8" name="Text Box 7"/>
          <p:cNvSpPr txBox="1"/>
          <p:nvPr/>
        </p:nvSpPr>
        <p:spPr>
          <a:xfrm>
            <a:off x="7446010" y="541655"/>
            <a:ext cx="4064000" cy="368300"/>
          </a:xfrm>
          <a:prstGeom prst="rect">
            <a:avLst/>
          </a:prstGeom>
          <a:noFill/>
        </p:spPr>
        <p:txBody>
          <a:bodyPr wrap="square" rtlCol="0">
            <a:spAutoFit/>
          </a:bodyPr>
          <a:p>
            <a:r>
              <a:rPr lang="en-US"/>
              <a:t>Table 1</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0" y="0"/>
            <a:ext cx="6096000" cy="460375"/>
          </a:xfrm>
          <a:prstGeom prst="rect">
            <a:avLst/>
          </a:prstGeom>
          <a:noFill/>
        </p:spPr>
        <p:txBody>
          <a:bodyPr wrap="square" rtlCol="0" anchor="t">
            <a:spAutoFit/>
          </a:bodyPr>
          <a:p>
            <a:r>
              <a:rPr lang="en-US" sz="2400">
                <a:sym typeface="+mn-ea"/>
              </a:rPr>
              <a:t>Exercise !</a:t>
            </a:r>
            <a:endParaRPr lang="en-US" sz="2400">
              <a:sym typeface="+mn-ea"/>
            </a:endParaRPr>
          </a:p>
        </p:txBody>
      </p:sp>
      <p:sp>
        <p:nvSpPr>
          <p:cNvPr id="6" name="Text Box 5"/>
          <p:cNvSpPr txBox="1"/>
          <p:nvPr/>
        </p:nvSpPr>
        <p:spPr>
          <a:xfrm>
            <a:off x="1472565" y="217805"/>
            <a:ext cx="4064000" cy="6739255"/>
          </a:xfrm>
          <a:prstGeom prst="rect">
            <a:avLst/>
          </a:prstGeom>
          <a:noFill/>
        </p:spPr>
        <p:txBody>
          <a:bodyPr wrap="square" rtlCol="0">
            <a:spAutoFit/>
          </a:bodyPr>
          <a:p>
            <a:r>
              <a:rPr lang="en-US">
                <a:highlight>
                  <a:srgbClr val="00FF00"/>
                </a:highlight>
              </a:rPr>
              <a:t>Task:  </a:t>
            </a:r>
            <a:r>
              <a:rPr lang="en-US"/>
              <a:t>You are given  list of equations you need to solve them looking at the given  example:  </a:t>
            </a:r>
            <a:endParaRPr lang="en-US"/>
          </a:p>
          <a:p>
            <a:endParaRPr lang="en-US"/>
          </a:p>
          <a:p>
            <a:r>
              <a:rPr lang="en-US"/>
              <a:t>addition:</a:t>
            </a:r>
            <a:endParaRPr lang="en-US"/>
          </a:p>
          <a:p>
            <a:r>
              <a:rPr lang="en-US"/>
              <a:t>a = 23</a:t>
            </a:r>
            <a:endParaRPr lang="en-US"/>
          </a:p>
          <a:p>
            <a:r>
              <a:rPr lang="en-US"/>
              <a:t>b = 12</a:t>
            </a:r>
            <a:endParaRPr lang="en-US"/>
          </a:p>
          <a:p>
            <a:r>
              <a:rPr lang="en-US"/>
              <a:t>c = a + b;</a:t>
            </a:r>
            <a:endParaRPr lang="en-US"/>
          </a:p>
          <a:p>
            <a:endParaRPr lang="en-US"/>
          </a:p>
          <a:p>
            <a:r>
              <a:rPr lang="en-US">
                <a:sym typeface="+mn-ea"/>
              </a:rPr>
              <a:t>subtraction:</a:t>
            </a:r>
            <a:endParaRPr lang="en-US"/>
          </a:p>
          <a:p>
            <a:r>
              <a:rPr lang="en-US">
                <a:sym typeface="+mn-ea"/>
              </a:rPr>
              <a:t>g = 26</a:t>
            </a:r>
            <a:endParaRPr lang="en-US">
              <a:sym typeface="+mn-ea"/>
            </a:endParaRPr>
          </a:p>
          <a:p>
            <a:r>
              <a:rPr lang="en-US">
                <a:sym typeface="+mn-ea"/>
              </a:rPr>
              <a:t>u = 19</a:t>
            </a:r>
            <a:endParaRPr lang="en-US"/>
          </a:p>
          <a:p>
            <a:r>
              <a:rPr lang="en-US">
                <a:sym typeface="+mn-ea"/>
              </a:rPr>
              <a:t>d = g - u;</a:t>
            </a:r>
            <a:endParaRPr lang="en-US"/>
          </a:p>
          <a:p>
            <a:endParaRPr lang="en-US"/>
          </a:p>
          <a:p>
            <a:r>
              <a:rPr lang="en-US">
                <a:sym typeface="+mn-ea"/>
              </a:rPr>
              <a:t>multiplication:</a:t>
            </a:r>
            <a:endParaRPr lang="en-US"/>
          </a:p>
          <a:p>
            <a:r>
              <a:rPr lang="en-US">
                <a:sym typeface="+mn-ea"/>
              </a:rPr>
              <a:t>l = 2</a:t>
            </a:r>
            <a:endParaRPr lang="en-US">
              <a:sym typeface="+mn-ea"/>
            </a:endParaRPr>
          </a:p>
          <a:p>
            <a:r>
              <a:rPr lang="en-US">
                <a:sym typeface="+mn-ea"/>
              </a:rPr>
              <a:t>k = 19</a:t>
            </a:r>
            <a:endParaRPr lang="en-US"/>
          </a:p>
          <a:p>
            <a:r>
              <a:rPr lang="en-US">
                <a:sym typeface="+mn-ea"/>
              </a:rPr>
              <a:t>q = l*k;</a:t>
            </a:r>
            <a:endParaRPr lang="en-US">
              <a:sym typeface="+mn-ea"/>
            </a:endParaRPr>
          </a:p>
          <a:p>
            <a:endParaRPr lang="en-US">
              <a:sym typeface="+mn-ea"/>
            </a:endParaRPr>
          </a:p>
          <a:p>
            <a:r>
              <a:rPr lang="en-US">
                <a:sym typeface="+mn-ea"/>
              </a:rPr>
              <a:t>devision:</a:t>
            </a:r>
            <a:endParaRPr lang="en-US">
              <a:sym typeface="+mn-ea"/>
            </a:endParaRPr>
          </a:p>
          <a:p>
            <a:r>
              <a:rPr lang="en-US">
                <a:sym typeface="+mn-ea"/>
              </a:rPr>
              <a:t>w = 6</a:t>
            </a:r>
            <a:endParaRPr lang="en-US">
              <a:sym typeface="+mn-ea"/>
            </a:endParaRPr>
          </a:p>
          <a:p>
            <a:r>
              <a:rPr lang="en-US">
                <a:sym typeface="+mn-ea"/>
              </a:rPr>
              <a:t>d = 2</a:t>
            </a:r>
            <a:endParaRPr lang="en-US">
              <a:sym typeface="+mn-ea"/>
            </a:endParaRPr>
          </a:p>
          <a:p>
            <a:r>
              <a:rPr lang="en-US"/>
              <a:t>i = w/d</a:t>
            </a:r>
            <a:endParaRPr lang="en-US"/>
          </a:p>
          <a:p>
            <a:endParaRPr lang="en-US"/>
          </a:p>
        </p:txBody>
      </p:sp>
      <p:pic>
        <p:nvPicPr>
          <p:cNvPr id="5" name="Picture 4"/>
          <p:cNvPicPr>
            <a:picLocks noChangeAspect="1"/>
          </p:cNvPicPr>
          <p:nvPr/>
        </p:nvPicPr>
        <p:blipFill>
          <a:blip r:embed="rId1"/>
          <a:stretch>
            <a:fillRect/>
          </a:stretch>
        </p:blipFill>
        <p:spPr>
          <a:xfrm>
            <a:off x="5876925" y="379095"/>
            <a:ext cx="5768340" cy="22936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0" y="0"/>
            <a:ext cx="6096000" cy="460375"/>
          </a:xfrm>
          <a:prstGeom prst="rect">
            <a:avLst/>
          </a:prstGeom>
          <a:noFill/>
        </p:spPr>
        <p:txBody>
          <a:bodyPr wrap="square" rtlCol="0" anchor="t">
            <a:spAutoFit/>
          </a:bodyPr>
          <a:p>
            <a:r>
              <a:rPr lang="en-US" sz="2400">
                <a:sym typeface="+mn-ea"/>
              </a:rPr>
              <a:t>Exercise !</a:t>
            </a:r>
            <a:endParaRPr lang="en-US" sz="2400">
              <a:sym typeface="+mn-ea"/>
            </a:endParaRPr>
          </a:p>
        </p:txBody>
      </p:sp>
      <p:sp>
        <p:nvSpPr>
          <p:cNvPr id="6" name="Text Box 5"/>
          <p:cNvSpPr txBox="1"/>
          <p:nvPr/>
        </p:nvSpPr>
        <p:spPr>
          <a:xfrm>
            <a:off x="1472565" y="217805"/>
            <a:ext cx="4064000" cy="6739255"/>
          </a:xfrm>
          <a:prstGeom prst="rect">
            <a:avLst/>
          </a:prstGeom>
          <a:noFill/>
        </p:spPr>
        <p:txBody>
          <a:bodyPr wrap="square" rtlCol="0">
            <a:spAutoFit/>
          </a:bodyPr>
          <a:p>
            <a:r>
              <a:rPr lang="en-US">
                <a:highlight>
                  <a:srgbClr val="00FF00"/>
                </a:highlight>
              </a:rPr>
              <a:t>Task:  </a:t>
            </a:r>
            <a:r>
              <a:rPr lang="en-US"/>
              <a:t>You are given  list of equations you need to solve them looking at the given  example:  </a:t>
            </a:r>
            <a:endParaRPr lang="en-US"/>
          </a:p>
          <a:p>
            <a:endParaRPr lang="en-US"/>
          </a:p>
          <a:p>
            <a:r>
              <a:rPr lang="en-US"/>
              <a:t>addition:</a:t>
            </a:r>
            <a:endParaRPr lang="en-US"/>
          </a:p>
          <a:p>
            <a:r>
              <a:rPr lang="en-US"/>
              <a:t>a = 56.2</a:t>
            </a:r>
            <a:endParaRPr lang="en-US"/>
          </a:p>
          <a:p>
            <a:r>
              <a:rPr lang="en-US"/>
              <a:t>b = 12.8</a:t>
            </a:r>
            <a:endParaRPr lang="en-US"/>
          </a:p>
          <a:p>
            <a:r>
              <a:rPr lang="en-US"/>
              <a:t>c = a + b;</a:t>
            </a:r>
            <a:endParaRPr lang="en-US"/>
          </a:p>
          <a:p>
            <a:endParaRPr lang="en-US"/>
          </a:p>
          <a:p>
            <a:r>
              <a:rPr lang="en-US">
                <a:sym typeface="+mn-ea"/>
              </a:rPr>
              <a:t>subtraction:</a:t>
            </a:r>
            <a:endParaRPr lang="en-US"/>
          </a:p>
          <a:p>
            <a:r>
              <a:rPr lang="en-US">
                <a:sym typeface="+mn-ea"/>
              </a:rPr>
              <a:t>g = 12.4</a:t>
            </a:r>
            <a:endParaRPr lang="en-US">
              <a:sym typeface="+mn-ea"/>
            </a:endParaRPr>
          </a:p>
          <a:p>
            <a:r>
              <a:rPr lang="en-US">
                <a:sym typeface="+mn-ea"/>
              </a:rPr>
              <a:t>u = 1.8</a:t>
            </a:r>
            <a:endParaRPr lang="en-US"/>
          </a:p>
          <a:p>
            <a:r>
              <a:rPr lang="en-US">
                <a:sym typeface="+mn-ea"/>
              </a:rPr>
              <a:t>d = g - u;</a:t>
            </a:r>
            <a:endParaRPr lang="en-US"/>
          </a:p>
          <a:p>
            <a:endParaRPr lang="en-US"/>
          </a:p>
          <a:p>
            <a:r>
              <a:rPr lang="en-US">
                <a:sym typeface="+mn-ea"/>
              </a:rPr>
              <a:t>multiplication:</a:t>
            </a:r>
            <a:endParaRPr lang="en-US"/>
          </a:p>
          <a:p>
            <a:r>
              <a:rPr lang="en-US">
                <a:sym typeface="+mn-ea"/>
              </a:rPr>
              <a:t>l = 2.2</a:t>
            </a:r>
            <a:endParaRPr lang="en-US">
              <a:sym typeface="+mn-ea"/>
            </a:endParaRPr>
          </a:p>
          <a:p>
            <a:r>
              <a:rPr lang="en-US">
                <a:sym typeface="+mn-ea"/>
              </a:rPr>
              <a:t>k = 1.9</a:t>
            </a:r>
            <a:endParaRPr lang="en-US"/>
          </a:p>
          <a:p>
            <a:r>
              <a:rPr lang="en-US">
                <a:sym typeface="+mn-ea"/>
              </a:rPr>
              <a:t>q = l*k;</a:t>
            </a:r>
            <a:endParaRPr lang="en-US">
              <a:sym typeface="+mn-ea"/>
            </a:endParaRPr>
          </a:p>
          <a:p>
            <a:endParaRPr lang="en-US">
              <a:sym typeface="+mn-ea"/>
            </a:endParaRPr>
          </a:p>
          <a:p>
            <a:r>
              <a:rPr lang="en-US">
                <a:sym typeface="+mn-ea"/>
              </a:rPr>
              <a:t>devision:</a:t>
            </a:r>
            <a:endParaRPr lang="en-US">
              <a:sym typeface="+mn-ea"/>
            </a:endParaRPr>
          </a:p>
          <a:p>
            <a:r>
              <a:rPr lang="en-US">
                <a:sym typeface="+mn-ea"/>
              </a:rPr>
              <a:t>w = 6.2</a:t>
            </a:r>
            <a:endParaRPr lang="en-US">
              <a:sym typeface="+mn-ea"/>
            </a:endParaRPr>
          </a:p>
          <a:p>
            <a:r>
              <a:rPr lang="en-US">
                <a:sym typeface="+mn-ea"/>
              </a:rPr>
              <a:t>d = 2.1</a:t>
            </a:r>
            <a:endParaRPr lang="en-US">
              <a:sym typeface="+mn-ea"/>
            </a:endParaRPr>
          </a:p>
          <a:p>
            <a:r>
              <a:rPr lang="en-US"/>
              <a:t>i = w/d</a:t>
            </a:r>
            <a:endParaRPr lang="en-US"/>
          </a:p>
          <a:p>
            <a:endParaRPr lang="en-US"/>
          </a:p>
        </p:txBody>
      </p:sp>
      <p:pic>
        <p:nvPicPr>
          <p:cNvPr id="7" name="Picture 6"/>
          <p:cNvPicPr>
            <a:picLocks noChangeAspect="1"/>
          </p:cNvPicPr>
          <p:nvPr/>
        </p:nvPicPr>
        <p:blipFill>
          <a:blip r:embed="rId1"/>
          <a:stretch>
            <a:fillRect/>
          </a:stretch>
        </p:blipFill>
        <p:spPr>
          <a:xfrm>
            <a:off x="5607050" y="217805"/>
            <a:ext cx="6019800" cy="23088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0" y="0"/>
            <a:ext cx="6096000" cy="460375"/>
          </a:xfrm>
          <a:prstGeom prst="rect">
            <a:avLst/>
          </a:prstGeom>
          <a:noFill/>
        </p:spPr>
        <p:txBody>
          <a:bodyPr wrap="square" rtlCol="0" anchor="t">
            <a:spAutoFit/>
          </a:bodyPr>
          <a:p>
            <a:r>
              <a:rPr lang="en-US" sz="2400">
                <a:sym typeface="+mn-ea"/>
              </a:rPr>
              <a:t>Exercise !</a:t>
            </a:r>
            <a:endParaRPr lang="en-US" sz="2400">
              <a:sym typeface="+mn-ea"/>
            </a:endParaRPr>
          </a:p>
        </p:txBody>
      </p:sp>
      <p:sp>
        <p:nvSpPr>
          <p:cNvPr id="6" name="Text Box 5"/>
          <p:cNvSpPr txBox="1"/>
          <p:nvPr/>
        </p:nvSpPr>
        <p:spPr>
          <a:xfrm>
            <a:off x="1472565" y="217805"/>
            <a:ext cx="4064000" cy="6739255"/>
          </a:xfrm>
          <a:prstGeom prst="rect">
            <a:avLst/>
          </a:prstGeom>
          <a:noFill/>
        </p:spPr>
        <p:txBody>
          <a:bodyPr wrap="square" rtlCol="0">
            <a:spAutoFit/>
          </a:bodyPr>
          <a:p>
            <a:r>
              <a:rPr lang="en-US">
                <a:highlight>
                  <a:srgbClr val="00FF00"/>
                </a:highlight>
              </a:rPr>
              <a:t>Task:  </a:t>
            </a:r>
            <a:r>
              <a:rPr lang="en-US"/>
              <a:t>You are given  list of equations you need to solve them looking at the given  example:  </a:t>
            </a:r>
            <a:endParaRPr lang="en-US"/>
          </a:p>
          <a:p>
            <a:endParaRPr lang="en-US"/>
          </a:p>
          <a:p>
            <a:r>
              <a:rPr lang="en-US"/>
              <a:t>addition:</a:t>
            </a:r>
            <a:endParaRPr lang="en-US"/>
          </a:p>
          <a:p>
            <a:r>
              <a:rPr lang="en-US"/>
              <a:t>a = 56.2</a:t>
            </a:r>
            <a:endParaRPr lang="en-US"/>
          </a:p>
          <a:p>
            <a:r>
              <a:rPr lang="en-US"/>
              <a:t>b = 12.8</a:t>
            </a:r>
            <a:endParaRPr lang="en-US"/>
          </a:p>
          <a:p>
            <a:r>
              <a:rPr lang="en-US"/>
              <a:t>c = a + b;</a:t>
            </a:r>
            <a:endParaRPr lang="en-US"/>
          </a:p>
          <a:p>
            <a:endParaRPr lang="en-US"/>
          </a:p>
          <a:p>
            <a:r>
              <a:rPr lang="en-US">
                <a:sym typeface="+mn-ea"/>
              </a:rPr>
              <a:t>subtraction:</a:t>
            </a:r>
            <a:endParaRPr lang="en-US"/>
          </a:p>
          <a:p>
            <a:r>
              <a:rPr lang="en-US">
                <a:sym typeface="+mn-ea"/>
              </a:rPr>
              <a:t>g = 12.4</a:t>
            </a:r>
            <a:endParaRPr lang="en-US">
              <a:sym typeface="+mn-ea"/>
            </a:endParaRPr>
          </a:p>
          <a:p>
            <a:r>
              <a:rPr lang="en-US">
                <a:sym typeface="+mn-ea"/>
              </a:rPr>
              <a:t>u = 1.8</a:t>
            </a:r>
            <a:endParaRPr lang="en-US"/>
          </a:p>
          <a:p>
            <a:r>
              <a:rPr lang="en-US">
                <a:sym typeface="+mn-ea"/>
              </a:rPr>
              <a:t>d = g - u;</a:t>
            </a:r>
            <a:endParaRPr lang="en-US"/>
          </a:p>
          <a:p>
            <a:endParaRPr lang="en-US"/>
          </a:p>
          <a:p>
            <a:r>
              <a:rPr lang="en-US">
                <a:sym typeface="+mn-ea"/>
              </a:rPr>
              <a:t>multiplication:</a:t>
            </a:r>
            <a:endParaRPr lang="en-US"/>
          </a:p>
          <a:p>
            <a:r>
              <a:rPr lang="en-US">
                <a:sym typeface="+mn-ea"/>
              </a:rPr>
              <a:t>l = 2.2</a:t>
            </a:r>
            <a:endParaRPr lang="en-US">
              <a:sym typeface="+mn-ea"/>
            </a:endParaRPr>
          </a:p>
          <a:p>
            <a:r>
              <a:rPr lang="en-US">
                <a:sym typeface="+mn-ea"/>
              </a:rPr>
              <a:t>k = 1.9</a:t>
            </a:r>
            <a:endParaRPr lang="en-US"/>
          </a:p>
          <a:p>
            <a:r>
              <a:rPr lang="en-US">
                <a:sym typeface="+mn-ea"/>
              </a:rPr>
              <a:t>q = l*k;</a:t>
            </a:r>
            <a:endParaRPr lang="en-US">
              <a:sym typeface="+mn-ea"/>
            </a:endParaRPr>
          </a:p>
          <a:p>
            <a:endParaRPr lang="en-US">
              <a:sym typeface="+mn-ea"/>
            </a:endParaRPr>
          </a:p>
          <a:p>
            <a:r>
              <a:rPr lang="en-US">
                <a:sym typeface="+mn-ea"/>
              </a:rPr>
              <a:t>devision:</a:t>
            </a:r>
            <a:endParaRPr lang="en-US">
              <a:sym typeface="+mn-ea"/>
            </a:endParaRPr>
          </a:p>
          <a:p>
            <a:r>
              <a:rPr lang="en-US">
                <a:sym typeface="+mn-ea"/>
              </a:rPr>
              <a:t>w = 6.2</a:t>
            </a:r>
            <a:endParaRPr lang="en-US">
              <a:sym typeface="+mn-ea"/>
            </a:endParaRPr>
          </a:p>
          <a:p>
            <a:r>
              <a:rPr lang="en-US">
                <a:sym typeface="+mn-ea"/>
              </a:rPr>
              <a:t>d = 2.1</a:t>
            </a:r>
            <a:endParaRPr lang="en-US">
              <a:sym typeface="+mn-ea"/>
            </a:endParaRPr>
          </a:p>
          <a:p>
            <a:r>
              <a:rPr lang="en-US"/>
              <a:t>i = w/d</a:t>
            </a:r>
            <a:endParaRPr lang="en-US"/>
          </a:p>
          <a:p>
            <a:endParaRPr lang="en-US"/>
          </a:p>
        </p:txBody>
      </p:sp>
      <p:pic>
        <p:nvPicPr>
          <p:cNvPr id="5" name="Picture 4"/>
          <p:cNvPicPr>
            <a:picLocks noChangeAspect="1"/>
          </p:cNvPicPr>
          <p:nvPr/>
        </p:nvPicPr>
        <p:blipFill>
          <a:blip r:embed="rId1"/>
          <a:srcRect r="18666"/>
          <a:stretch>
            <a:fillRect/>
          </a:stretch>
        </p:blipFill>
        <p:spPr>
          <a:xfrm>
            <a:off x="5536565" y="295910"/>
            <a:ext cx="6172835" cy="2575560"/>
          </a:xfrm>
          <a:prstGeom prst="rect">
            <a:avLst/>
          </a:prstGeom>
        </p:spPr>
      </p:pic>
      <p:sp>
        <p:nvSpPr>
          <p:cNvPr id="8" name="Text Box 7"/>
          <p:cNvSpPr txBox="1"/>
          <p:nvPr/>
        </p:nvSpPr>
        <p:spPr>
          <a:xfrm>
            <a:off x="6399530" y="3528695"/>
            <a:ext cx="4064000" cy="645160"/>
          </a:xfrm>
          <a:prstGeom prst="rect">
            <a:avLst/>
          </a:prstGeom>
          <a:noFill/>
        </p:spPr>
        <p:txBody>
          <a:bodyPr wrap="square" rtlCol="0">
            <a:spAutoFit/>
          </a:bodyPr>
          <a:p>
            <a:r>
              <a:rPr lang="en-US"/>
              <a:t>execute the code and see the results between float and double</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2929890" y="75565"/>
            <a:ext cx="5930900" cy="4988560"/>
          </a:xfrm>
          <a:prstGeom prst="rect">
            <a:avLst/>
          </a:prstGeom>
        </p:spPr>
      </p:pic>
      <p:pic>
        <p:nvPicPr>
          <p:cNvPr id="5" name="Picture 4"/>
          <p:cNvPicPr>
            <a:picLocks noChangeAspect="1"/>
          </p:cNvPicPr>
          <p:nvPr/>
        </p:nvPicPr>
        <p:blipFill>
          <a:blip r:embed="rId2"/>
          <a:stretch>
            <a:fillRect/>
          </a:stretch>
        </p:blipFill>
        <p:spPr>
          <a:xfrm>
            <a:off x="2863215" y="5064125"/>
            <a:ext cx="5996940" cy="15938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3118485" y="435293"/>
            <a:ext cx="5080000" cy="398780"/>
          </a:xfrm>
          <a:prstGeom prst="rect">
            <a:avLst/>
          </a:prstGeom>
        </p:spPr>
        <p:txBody>
          <a:bodyPr>
            <a:spAutoFit/>
          </a:bodyPr>
          <a:p>
            <a:pPr marL="0" indent="0" algn="ctr">
              <a:spcBef>
                <a:spcPct val="0"/>
              </a:spcBef>
              <a:spcAft>
                <a:spcPct val="0"/>
              </a:spcAft>
            </a:pPr>
            <a:r>
              <a:rPr sz="2000" b="1" i="0">
                <a:solidFill>
                  <a:srgbClr val="000000"/>
                </a:solidFill>
                <a:latin typeface="Times New Roman" panose="02020603050405020304" charset="0"/>
                <a:ea typeface="var(--ff-lato)"/>
                <a:cs typeface="Times New Roman" panose="02020603050405020304" charset="0"/>
              </a:rPr>
              <a:t>Java Type Casting (Conversion)</a:t>
            </a:r>
            <a:endParaRPr sz="2000" b="1" i="0">
              <a:solidFill>
                <a:srgbClr val="000000"/>
              </a:solidFill>
              <a:latin typeface="Times New Roman" panose="02020603050405020304" charset="0"/>
              <a:ea typeface="var(--ff-lato)"/>
              <a:cs typeface="Times New Roman" panose="02020603050405020304" charset="0"/>
            </a:endParaRPr>
          </a:p>
        </p:txBody>
      </p:sp>
      <p:sp>
        <p:nvSpPr>
          <p:cNvPr id="7" name="Text Box 6"/>
          <p:cNvSpPr txBox="1"/>
          <p:nvPr/>
        </p:nvSpPr>
        <p:spPr>
          <a:xfrm>
            <a:off x="264795" y="1094740"/>
            <a:ext cx="11328400" cy="1076325"/>
          </a:xfrm>
          <a:prstGeom prst="rect">
            <a:avLst/>
          </a:prstGeom>
        </p:spPr>
        <p:txBody>
          <a:bodyPr wrap="square">
            <a:spAutoFit/>
          </a:bodyPr>
          <a:p>
            <a:pPr marL="0" indent="0">
              <a:spcBef>
                <a:spcPct val="0"/>
              </a:spcBef>
              <a:spcAft>
                <a:spcPct val="0"/>
              </a:spcAft>
            </a:pPr>
            <a:r>
              <a:rPr sz="1600" b="1" i="0">
                <a:solidFill>
                  <a:srgbClr val="000000"/>
                </a:solidFill>
                <a:latin typeface="Verdana" panose="020B0604030504040204"/>
                <a:ea typeface="Verdana" panose="020B0604030504040204"/>
              </a:rPr>
              <a:t>Type casting</a:t>
            </a:r>
            <a:endParaRPr sz="1600" b="1" i="0">
              <a:solidFill>
                <a:srgbClr val="000000"/>
              </a:solidFill>
              <a:latin typeface="Verdana" panose="020B0604030504040204"/>
              <a:ea typeface="Verdana" panose="020B0604030504040204"/>
            </a:endParaRPr>
          </a:p>
          <a:p>
            <a:pPr marL="0" indent="0"/>
            <a:r>
              <a:rPr sz="1600" b="0" i="0">
                <a:solidFill>
                  <a:srgbClr val="000000"/>
                </a:solidFill>
                <a:latin typeface="Verdana" panose="020B0604030504040204"/>
                <a:ea typeface="Verdana" panose="020B0604030504040204"/>
              </a:rPr>
              <a:t> is a technique that is used either by the compiler or a programmer to convert one data type to another in Java. </a:t>
            </a:r>
            <a:r>
              <a:rPr sz="1600" b="1" i="0">
                <a:solidFill>
                  <a:srgbClr val="000000"/>
                </a:solidFill>
                <a:latin typeface="Verdana" panose="020B0604030504040204"/>
                <a:ea typeface="Verdana" panose="020B0604030504040204"/>
              </a:rPr>
              <a:t>Type casting</a:t>
            </a:r>
            <a:r>
              <a:rPr sz="1600" b="0" i="0">
                <a:solidFill>
                  <a:srgbClr val="000000"/>
                </a:solidFill>
                <a:latin typeface="Verdana" panose="020B0604030504040204"/>
                <a:ea typeface="Verdana" panose="020B0604030504040204"/>
              </a:rPr>
              <a:t> is also known as </a:t>
            </a:r>
            <a:r>
              <a:rPr sz="1600" b="1" i="0">
                <a:solidFill>
                  <a:srgbClr val="000000"/>
                </a:solidFill>
                <a:latin typeface="Verdana" panose="020B0604030504040204"/>
                <a:ea typeface="Verdana" panose="020B0604030504040204"/>
              </a:rPr>
              <a:t>type conversion</a:t>
            </a:r>
            <a:r>
              <a:rPr sz="1600" b="0" i="0">
                <a:solidFill>
                  <a:srgbClr val="000000"/>
                </a:solidFill>
                <a:latin typeface="Verdana" panose="020B0604030504040204"/>
                <a:ea typeface="Verdana" panose="020B0604030504040204"/>
              </a:rPr>
              <a:t>. For example, converting int to double, double to int, short to int, etc.</a:t>
            </a:r>
            <a:endParaRPr sz="1600" b="0" i="0">
              <a:solidFill>
                <a:srgbClr val="000000"/>
              </a:solidFill>
              <a:latin typeface="Verdana" panose="020B0604030504040204"/>
              <a:ea typeface="Verdana" panose="020B0604030504040204"/>
            </a:endParaRPr>
          </a:p>
        </p:txBody>
      </p:sp>
      <p:sp>
        <p:nvSpPr>
          <p:cNvPr id="8" name="Text Box 7"/>
          <p:cNvSpPr txBox="1"/>
          <p:nvPr/>
        </p:nvSpPr>
        <p:spPr>
          <a:xfrm>
            <a:off x="350520" y="2352675"/>
            <a:ext cx="11424285" cy="1076325"/>
          </a:xfrm>
          <a:prstGeom prst="rect">
            <a:avLst/>
          </a:prstGeom>
        </p:spPr>
        <p:txBody>
          <a:bodyPr wrap="square">
            <a:spAutoFit/>
          </a:bodyPr>
          <a:p>
            <a:pPr marL="0" indent="0"/>
            <a:r>
              <a:rPr sz="1600" b="0" i="0">
                <a:solidFill>
                  <a:srgbClr val="000000"/>
                </a:solidFill>
                <a:latin typeface="Verdana" panose="020B0604030504040204"/>
                <a:ea typeface="Verdana" panose="020B0604030504040204"/>
              </a:rPr>
              <a:t>There are </a:t>
            </a:r>
            <a:r>
              <a:rPr sz="1600" b="1" i="0">
                <a:solidFill>
                  <a:srgbClr val="000000"/>
                </a:solidFill>
                <a:latin typeface="Verdana" panose="020B0604030504040204"/>
                <a:ea typeface="Verdana" panose="020B0604030504040204"/>
              </a:rPr>
              <a:t>two</a:t>
            </a:r>
            <a:r>
              <a:rPr sz="1600" b="0" i="0">
                <a:solidFill>
                  <a:srgbClr val="000000"/>
                </a:solidFill>
                <a:latin typeface="Verdana" panose="020B0604030504040204"/>
                <a:ea typeface="Verdana" panose="020B0604030504040204"/>
              </a:rPr>
              <a:t> types of type casting allowed in Java programming:</a:t>
            </a:r>
            <a:endParaRPr sz="1600" b="0" i="0">
              <a:solidFill>
                <a:srgbClr val="000000"/>
              </a:solidFill>
              <a:latin typeface="Verdana" panose="020B0604030504040204"/>
              <a:ea typeface="Verdana" panose="020B0604030504040204"/>
            </a:endParaRPr>
          </a:p>
          <a:p>
            <a:pPr marL="0" indent="0"/>
            <a:endParaRPr sz="1600" b="0" i="0">
              <a:solidFill>
                <a:srgbClr val="000000"/>
              </a:solidFill>
              <a:latin typeface="Verdana" panose="020B0604030504040204"/>
              <a:ea typeface="Verdana" panose="020B0604030504040204"/>
            </a:endParaRPr>
          </a:p>
          <a:p>
            <a:pPr marL="0" indent="0" algn="just">
              <a:spcBef>
                <a:spcPct val="0"/>
              </a:spcBef>
              <a:spcAft>
                <a:spcPct val="0"/>
              </a:spcAft>
              <a:buFont typeface="Arial" panose="020B0604020202020204"/>
              <a:buChar char="•"/>
            </a:pPr>
            <a:r>
              <a:rPr sz="1600" b="0" i="0">
                <a:solidFill>
                  <a:srgbClr val="000000"/>
                </a:solidFill>
                <a:latin typeface="Verdana" panose="020B0604030504040204"/>
                <a:ea typeface="Verdana" panose="020B0604030504040204"/>
              </a:rPr>
              <a:t>Widening type casting</a:t>
            </a:r>
            <a:endParaRPr sz="1600" b="0" i="0">
              <a:solidFill>
                <a:srgbClr val="000000"/>
              </a:solidFill>
              <a:latin typeface="Verdana" panose="020B0604030504040204"/>
              <a:ea typeface="Verdana" panose="020B0604030504040204"/>
            </a:endParaRPr>
          </a:p>
          <a:p>
            <a:pPr marL="0" indent="0" algn="just">
              <a:spcBef>
                <a:spcPct val="0"/>
              </a:spcBef>
              <a:spcAft>
                <a:spcPct val="0"/>
              </a:spcAft>
              <a:buFont typeface="Arial" panose="020B0604020202020204"/>
              <a:buChar char="•"/>
            </a:pPr>
            <a:r>
              <a:rPr sz="1600" b="0" i="0">
                <a:solidFill>
                  <a:srgbClr val="000000"/>
                </a:solidFill>
                <a:latin typeface="Verdana" panose="020B0604030504040204"/>
                <a:ea typeface="Verdana" panose="020B0604030504040204"/>
              </a:rPr>
              <a:t>Narrowing type casting</a:t>
            </a:r>
            <a:endParaRPr sz="1600" b="0" i="0">
              <a:solidFill>
                <a:srgbClr val="000000"/>
              </a:solidFill>
              <a:latin typeface="Verdana" panose="020B0604030504040204"/>
              <a:ea typeface="Verdana" panose="020B060403050404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17170" y="398145"/>
            <a:ext cx="11861800" cy="1084580"/>
          </a:xfrm>
          <a:prstGeom prst="rect">
            <a:avLst/>
          </a:prstGeom>
        </p:spPr>
        <p:txBody>
          <a:bodyPr wrap="square">
            <a:spAutoFit/>
          </a:bodyPr>
          <a:p>
            <a:pPr marL="0" indent="0">
              <a:lnSpc>
                <a:spcPts val="1800"/>
              </a:lnSpc>
              <a:spcAft>
                <a:spcPct val="60000"/>
              </a:spcAft>
            </a:pPr>
            <a:r>
              <a:rPr sz="2400" b="0" i="0">
                <a:solidFill>
                  <a:srgbClr val="000000"/>
                </a:solidFill>
                <a:latin typeface="Calibri" panose="020F0502020204030204" charset="0"/>
                <a:ea typeface="var(--ff-lato)"/>
                <a:cs typeface="Calibri" panose="020F0502020204030204" charset="0"/>
              </a:rPr>
              <a:t>Widening Type Casting</a:t>
            </a:r>
            <a:endParaRPr sz="2400" b="0" i="0">
              <a:solidFill>
                <a:srgbClr val="000000"/>
              </a:solidFill>
              <a:latin typeface="Calibri" panose="020F0502020204030204" charset="0"/>
              <a:ea typeface="var(--ff-lato)"/>
              <a:cs typeface="Calibri" panose="020F0502020204030204" charset="0"/>
            </a:endParaRPr>
          </a:p>
          <a:p>
            <a:pPr marL="0" indent="0">
              <a:spcBef>
                <a:spcPct val="0"/>
              </a:spcBef>
              <a:spcAft>
                <a:spcPct val="0"/>
              </a:spcAft>
            </a:pPr>
            <a:r>
              <a:rPr sz="1600" b="1" i="0">
                <a:solidFill>
                  <a:srgbClr val="000000"/>
                </a:solidFill>
                <a:latin typeface="Verdana" panose="020B0604030504040204"/>
                <a:ea typeface="Verdana" panose="020B0604030504040204"/>
              </a:rPr>
              <a:t>Widening type casting</a:t>
            </a:r>
            <a:r>
              <a:rPr sz="1600" b="0" i="0">
                <a:solidFill>
                  <a:srgbClr val="000000"/>
                </a:solidFill>
                <a:latin typeface="Verdana" panose="020B0604030504040204"/>
                <a:ea typeface="Verdana" panose="020B0604030504040204"/>
              </a:rPr>
              <a:t> is also known as </a:t>
            </a:r>
            <a:r>
              <a:rPr sz="1600" b="1" i="0">
                <a:solidFill>
                  <a:srgbClr val="000000"/>
                </a:solidFill>
                <a:latin typeface="Verdana" panose="020B0604030504040204"/>
                <a:ea typeface="Verdana" panose="020B0604030504040204"/>
              </a:rPr>
              <a:t>implicit type casting</a:t>
            </a:r>
            <a:r>
              <a:rPr sz="1600" b="0" i="0">
                <a:solidFill>
                  <a:srgbClr val="000000"/>
                </a:solidFill>
                <a:latin typeface="Verdana" panose="020B0604030504040204"/>
                <a:ea typeface="Verdana" panose="020B0604030504040204"/>
              </a:rPr>
              <a:t> in which a smaller type is converted into a larger type, it is done by the compiler automatically.</a:t>
            </a:r>
            <a:endParaRPr sz="1600" b="0" i="0">
              <a:solidFill>
                <a:srgbClr val="000000"/>
              </a:solidFill>
              <a:latin typeface="Verdana" panose="020B0604030504040204"/>
              <a:ea typeface="Verdana" panose="020B0604030504040204"/>
            </a:endParaRPr>
          </a:p>
        </p:txBody>
      </p:sp>
      <p:sp>
        <p:nvSpPr>
          <p:cNvPr id="5" name="Text Box 4"/>
          <p:cNvSpPr txBox="1"/>
          <p:nvPr/>
        </p:nvSpPr>
        <p:spPr>
          <a:xfrm>
            <a:off x="303530" y="1887855"/>
            <a:ext cx="8361680" cy="781050"/>
          </a:xfrm>
          <a:prstGeom prst="rect">
            <a:avLst/>
          </a:prstGeom>
        </p:spPr>
        <p:txBody>
          <a:bodyPr wrap="square">
            <a:spAutoFit/>
          </a:bodyPr>
          <a:p>
            <a:pPr marL="0" indent="0" algn="l">
              <a:lnSpc>
                <a:spcPts val="1800"/>
              </a:lnSpc>
              <a:spcAft>
                <a:spcPct val="60000"/>
              </a:spcAft>
            </a:pPr>
            <a:r>
              <a:rPr lang="en-US" sz="1900" b="0" i="0">
                <a:latin typeface="Verdana" panose="020B0604030504040204"/>
                <a:ea typeface="Verdana" panose="020B0604030504040204"/>
              </a:rPr>
              <a:t>1. </a:t>
            </a:r>
            <a:r>
              <a:rPr sz="1900" b="0" i="0">
                <a:latin typeface="Verdana" panose="020B0604030504040204"/>
                <a:ea typeface="Verdana" panose="020B0604030504040204"/>
              </a:rPr>
              <a:t>Hierarchy</a:t>
            </a:r>
            <a:endParaRPr sz="1900" b="0" i="0">
              <a:latin typeface="Verdana" panose="020B0604030504040204"/>
              <a:ea typeface="Verdana" panose="020B0604030504040204"/>
            </a:endParaRPr>
          </a:p>
          <a:p>
            <a:pPr marL="0" indent="0"/>
            <a:r>
              <a:rPr sz="1600" b="0" i="0">
                <a:solidFill>
                  <a:srgbClr val="000000"/>
                </a:solidFill>
                <a:latin typeface="Verdana" panose="020B0604030504040204"/>
                <a:ea typeface="Verdana" panose="020B0604030504040204"/>
              </a:rPr>
              <a:t>Here is the hierarchy of widening type casting in Java:</a:t>
            </a:r>
            <a:endParaRPr sz="1600" b="0" i="0">
              <a:solidFill>
                <a:srgbClr val="000000"/>
              </a:solidFill>
              <a:latin typeface="Verdana" panose="020B0604030504040204"/>
              <a:ea typeface="Verdana" panose="020B0604030504040204"/>
            </a:endParaRPr>
          </a:p>
        </p:txBody>
      </p:sp>
      <p:pic>
        <p:nvPicPr>
          <p:cNvPr id="6" name="Picture 5"/>
          <p:cNvPicPr>
            <a:picLocks noChangeAspect="1"/>
          </p:cNvPicPr>
          <p:nvPr/>
        </p:nvPicPr>
        <p:blipFill>
          <a:blip r:embed="rId1"/>
          <a:stretch>
            <a:fillRect/>
          </a:stretch>
        </p:blipFill>
        <p:spPr>
          <a:xfrm>
            <a:off x="303530" y="3002280"/>
            <a:ext cx="7907020" cy="498475"/>
          </a:xfrm>
          <a:prstGeom prst="rect">
            <a:avLst/>
          </a:prstGeom>
        </p:spPr>
      </p:pic>
      <p:sp>
        <p:nvSpPr>
          <p:cNvPr id="7" name="Text Box 6"/>
          <p:cNvSpPr txBox="1"/>
          <p:nvPr/>
        </p:nvSpPr>
        <p:spPr>
          <a:xfrm>
            <a:off x="296545" y="3834130"/>
            <a:ext cx="11271885" cy="829945"/>
          </a:xfrm>
          <a:prstGeom prst="rect">
            <a:avLst/>
          </a:prstGeom>
        </p:spPr>
        <p:txBody>
          <a:bodyPr wrap="square">
            <a:spAutoFit/>
          </a:bodyPr>
          <a:p>
            <a:pPr marL="0" indent="0" algn="just"/>
            <a:r>
              <a:rPr sz="1600" b="0" i="0">
                <a:solidFill>
                  <a:srgbClr val="000000"/>
                </a:solidFill>
                <a:latin typeface="Verdana" panose="020B0604030504040204"/>
                <a:ea typeface="Verdana" panose="020B0604030504040204"/>
              </a:rPr>
              <a:t>The compiler plays a role in the type conversion instead of programmers. It changes the type of the</a:t>
            </a:r>
            <a:r>
              <a:rPr sz="1600" b="0">
                <a:solidFill>
                  <a:schemeClr val="tx1"/>
                </a:solidFill>
                <a:latin typeface="Verdana" panose="020B0604030504040204"/>
                <a:ea typeface="Verdana" panose="020B0604030504040204"/>
              </a:rPr>
              <a:t> </a:t>
            </a:r>
            <a:r>
              <a:rPr sz="1600" b="0">
                <a:solidFill>
                  <a:schemeClr val="tx1"/>
                </a:solidFill>
                <a:latin typeface="Verdana" panose="020B0604030504040204"/>
                <a:ea typeface="Verdana" panose="020B0604030504040204"/>
                <a:hlinkClick r:id="rId2"/>
              </a:rPr>
              <a:t>variables</a:t>
            </a:r>
            <a:r>
              <a:rPr sz="1600" b="0" i="0">
                <a:solidFill>
                  <a:srgbClr val="000000"/>
                </a:solidFill>
                <a:latin typeface="Verdana" panose="020B0604030504040204"/>
                <a:ea typeface="Verdana" panose="020B0604030504040204"/>
              </a:rPr>
              <a:t> at the compile time. Also, type conversion occurs from the small data type to large data type only.</a:t>
            </a:r>
            <a:endParaRPr sz="1600" b="0" i="0">
              <a:solidFill>
                <a:srgbClr val="000000"/>
              </a:solidFill>
              <a:latin typeface="Verdana" panose="020B0604030504040204"/>
              <a:ea typeface="Verdana" panose="020B0604030504040204"/>
            </a:endParaRPr>
          </a:p>
        </p:txBody>
      </p:sp>
      <p:cxnSp>
        <p:nvCxnSpPr>
          <p:cNvPr id="8" name="Straight Arrow Connector 7"/>
          <p:cNvCxnSpPr/>
          <p:nvPr/>
        </p:nvCxnSpPr>
        <p:spPr>
          <a:xfrm>
            <a:off x="1320165" y="2776855"/>
            <a:ext cx="3129280" cy="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383030" y="890905"/>
            <a:ext cx="9033510" cy="3970655"/>
          </a:xfrm>
          <a:prstGeom prst="rect">
            <a:avLst/>
          </a:prstGeom>
        </p:spPr>
      </p:pic>
      <p:sp>
        <p:nvSpPr>
          <p:cNvPr id="5" name="Text Box 4"/>
          <p:cNvSpPr txBox="1"/>
          <p:nvPr/>
        </p:nvSpPr>
        <p:spPr>
          <a:xfrm>
            <a:off x="378460" y="351155"/>
            <a:ext cx="4064000" cy="368300"/>
          </a:xfrm>
          <a:prstGeom prst="rect">
            <a:avLst/>
          </a:prstGeom>
          <a:noFill/>
        </p:spPr>
        <p:txBody>
          <a:bodyPr wrap="square" rtlCol="0">
            <a:spAutoFit/>
          </a:bodyPr>
          <a:p>
            <a:r>
              <a:rPr lang="en-US"/>
              <a:t>example:</a:t>
            </a:r>
            <a:endParaRPr lang="en-US"/>
          </a:p>
        </p:txBody>
      </p:sp>
      <p:pic>
        <p:nvPicPr>
          <p:cNvPr id="6" name="Picture 5"/>
          <p:cNvPicPr>
            <a:picLocks noChangeAspect="1"/>
          </p:cNvPicPr>
          <p:nvPr/>
        </p:nvPicPr>
        <p:blipFill>
          <a:blip r:embed="rId2"/>
          <a:stretch>
            <a:fillRect/>
          </a:stretch>
        </p:blipFill>
        <p:spPr>
          <a:xfrm>
            <a:off x="2061210" y="5245735"/>
            <a:ext cx="7848600" cy="1118870"/>
          </a:xfrm>
          <a:prstGeom prst="rect">
            <a:avLst/>
          </a:prstGeom>
        </p:spPr>
      </p:pic>
      <p:sp>
        <p:nvSpPr>
          <p:cNvPr id="7" name="Rectangles 6"/>
          <p:cNvSpPr/>
          <p:nvPr/>
        </p:nvSpPr>
        <p:spPr>
          <a:xfrm>
            <a:off x="1955800" y="2743200"/>
            <a:ext cx="571500" cy="266065"/>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8" name="Rectangles 7"/>
          <p:cNvSpPr/>
          <p:nvPr/>
        </p:nvSpPr>
        <p:spPr>
          <a:xfrm>
            <a:off x="2061210" y="3023870"/>
            <a:ext cx="770255" cy="266065"/>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9" name="Rectangles 8"/>
          <p:cNvSpPr/>
          <p:nvPr/>
        </p:nvSpPr>
        <p:spPr>
          <a:xfrm>
            <a:off x="1955800" y="3304540"/>
            <a:ext cx="770255" cy="266065"/>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10" name="Text Box 9"/>
          <p:cNvSpPr txBox="1"/>
          <p:nvPr/>
        </p:nvSpPr>
        <p:spPr>
          <a:xfrm>
            <a:off x="85725" y="3585210"/>
            <a:ext cx="1182370" cy="645160"/>
          </a:xfrm>
          <a:prstGeom prst="rect">
            <a:avLst/>
          </a:prstGeom>
          <a:noFill/>
        </p:spPr>
        <p:txBody>
          <a:bodyPr wrap="square" rtlCol="0">
            <a:spAutoFit/>
          </a:bodyPr>
          <a:p>
            <a:r>
              <a:rPr lang="en-US"/>
              <a:t>Why double ?</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767080" y="479425"/>
            <a:ext cx="10220325" cy="4574540"/>
          </a:xfrm>
          <a:prstGeom prst="rect">
            <a:avLst/>
          </a:prstGeom>
        </p:spPr>
      </p:pic>
      <p:sp>
        <p:nvSpPr>
          <p:cNvPr id="9" name="Rectangles 8"/>
          <p:cNvSpPr/>
          <p:nvPr/>
        </p:nvSpPr>
        <p:spPr>
          <a:xfrm>
            <a:off x="1388110" y="3228975"/>
            <a:ext cx="770255" cy="266065"/>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5" name="Text Box 4"/>
          <p:cNvSpPr txBox="1"/>
          <p:nvPr/>
        </p:nvSpPr>
        <p:spPr>
          <a:xfrm>
            <a:off x="850900" y="5320665"/>
            <a:ext cx="10479405" cy="1198880"/>
          </a:xfrm>
          <a:prstGeom prst="rect">
            <a:avLst/>
          </a:prstGeom>
          <a:noFill/>
        </p:spPr>
        <p:txBody>
          <a:bodyPr wrap="square" rtlCol="0" anchor="t">
            <a:spAutoFit/>
          </a:bodyPr>
          <a:p>
            <a:r>
              <a:rPr lang="en-US" altLang="en-US"/>
              <a:t>In the example below, we demonstrated that we can get an error when the compiler tries to convert a large data type to a small data type. Here, we created the num1 integer and num2 double variable. The sum of num1 and num2 will be double, and when we try to store it to the sum of the int type, the compiler gives an error.</a:t>
            </a:r>
            <a:endParaRPr lang="en-US"/>
          </a:p>
        </p:txBody>
      </p:sp>
      <p:pic>
        <p:nvPicPr>
          <p:cNvPr id="6" name="Picture 5"/>
          <p:cNvPicPr>
            <a:picLocks noChangeAspect="1"/>
          </p:cNvPicPr>
          <p:nvPr/>
        </p:nvPicPr>
        <p:blipFill>
          <a:blip r:embed="rId2"/>
          <a:stretch>
            <a:fillRect/>
          </a:stretch>
        </p:blipFill>
        <p:spPr>
          <a:xfrm>
            <a:off x="5763260" y="279400"/>
            <a:ext cx="6164580" cy="14859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1700530" y="263525"/>
            <a:ext cx="8942070" cy="5719445"/>
          </a:xfrm>
          <a:prstGeom prst="rect">
            <a:avLst/>
          </a:prstGeom>
        </p:spPr>
      </p:pic>
      <p:sp>
        <p:nvSpPr>
          <p:cNvPr id="9" name="Rectangles 8"/>
          <p:cNvSpPr/>
          <p:nvPr/>
        </p:nvSpPr>
        <p:spPr>
          <a:xfrm>
            <a:off x="2305685" y="2651760"/>
            <a:ext cx="3427095" cy="340995"/>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5" name="Rectangles 4"/>
          <p:cNvSpPr/>
          <p:nvPr/>
        </p:nvSpPr>
        <p:spPr>
          <a:xfrm>
            <a:off x="2381885" y="4061460"/>
            <a:ext cx="3617595" cy="266065"/>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pic>
        <p:nvPicPr>
          <p:cNvPr id="6" name="Picture 5"/>
          <p:cNvPicPr>
            <a:picLocks noChangeAspect="1"/>
          </p:cNvPicPr>
          <p:nvPr/>
        </p:nvPicPr>
        <p:blipFill>
          <a:blip r:embed="rId2"/>
          <a:stretch>
            <a:fillRect/>
          </a:stretch>
        </p:blipFill>
        <p:spPr>
          <a:xfrm>
            <a:off x="2753995" y="5627370"/>
            <a:ext cx="6835140" cy="108204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149350" y="351155"/>
            <a:ext cx="8439150" cy="4799965"/>
          </a:xfrm>
          <a:prstGeom prst="rect">
            <a:avLst/>
          </a:prstGeom>
          <a:noFill/>
        </p:spPr>
        <p:txBody>
          <a:bodyPr wrap="square" rtlCol="0">
            <a:spAutoFit/>
          </a:bodyPr>
          <a:p>
            <a:r>
              <a:rPr lang="en-US"/>
              <a:t>Task: By looking at this image of</a:t>
            </a:r>
            <a:r>
              <a:rPr lang="en-US">
                <a:latin typeface="Calibri" panose="020F0502020204030204" charset="0"/>
                <a:cs typeface="Calibri" panose="020F0502020204030204" charset="0"/>
              </a:rPr>
              <a:t> </a:t>
            </a:r>
            <a:r>
              <a:rPr>
                <a:solidFill>
                  <a:srgbClr val="000000"/>
                </a:solidFill>
                <a:latin typeface="Calibri" panose="020F0502020204030204" charset="0"/>
                <a:ea typeface="Verdana" panose="020B0604030504040204"/>
                <a:cs typeface="Calibri" panose="020F0502020204030204" charset="0"/>
                <a:sym typeface="+mn-ea"/>
              </a:rPr>
              <a:t>hierarchy of widening type casting</a:t>
            </a:r>
            <a:r>
              <a:rPr lang="en-US">
                <a:solidFill>
                  <a:srgbClr val="000000"/>
                </a:solidFill>
                <a:latin typeface="Calibri" panose="020F0502020204030204" charset="0"/>
                <a:ea typeface="Verdana" panose="020B0604030504040204"/>
                <a:cs typeface="Calibri" panose="020F0502020204030204" charset="0"/>
                <a:sym typeface="+mn-ea"/>
              </a:rPr>
              <a:t>, you have to solve these equations of given numbers:</a:t>
            </a:r>
            <a:endParaRPr lang="en-US">
              <a:solidFill>
                <a:srgbClr val="000000"/>
              </a:solidFill>
              <a:latin typeface="Calibri" panose="020F0502020204030204" charset="0"/>
              <a:ea typeface="Verdana" panose="020B0604030504040204"/>
              <a:cs typeface="Calibri" panose="020F0502020204030204" charset="0"/>
              <a:sym typeface="+mn-ea"/>
            </a:endParaRPr>
          </a:p>
          <a:p>
            <a:endParaRPr lang="en-US"/>
          </a:p>
          <a:p>
            <a:r>
              <a:rPr lang="en-US"/>
              <a:t>byte num6 = 2;</a:t>
            </a:r>
            <a:endParaRPr lang="en-US"/>
          </a:p>
          <a:p>
            <a:r>
              <a:rPr lang="en-US"/>
              <a:t>short num3= 4;</a:t>
            </a:r>
            <a:endParaRPr lang="en-US"/>
          </a:p>
          <a:p>
            <a:r>
              <a:rPr lang="en-US"/>
              <a:t>int num5 = 23;</a:t>
            </a:r>
            <a:endParaRPr lang="en-US"/>
          </a:p>
          <a:p>
            <a:r>
              <a:rPr lang="en-US"/>
              <a:t>long num1 = 23456785343L;</a:t>
            </a:r>
            <a:endParaRPr lang="en-US"/>
          </a:p>
          <a:p>
            <a:r>
              <a:rPr lang="en-US"/>
              <a:t>float num2 = 567.4F;</a:t>
            </a:r>
            <a:endParaRPr lang="en-US"/>
          </a:p>
          <a:p>
            <a:r>
              <a:rPr lang="en-US"/>
              <a:t>double num4 = 12.5;</a:t>
            </a:r>
            <a:endParaRPr lang="en-US"/>
          </a:p>
          <a:p>
            <a:endParaRPr lang="en-US"/>
          </a:p>
          <a:p>
            <a:r>
              <a:rPr lang="en-US" u="sng"/>
              <a:t> ___ </a:t>
            </a:r>
            <a:r>
              <a:rPr lang="en-US"/>
              <a:t>sum1 = num1 + num2;</a:t>
            </a:r>
            <a:endParaRPr lang="en-US"/>
          </a:p>
          <a:p>
            <a:r>
              <a:rPr lang="en-US"/>
              <a:t>____sum2 = num2 + num3;</a:t>
            </a:r>
            <a:endParaRPr lang="en-US"/>
          </a:p>
          <a:p>
            <a:r>
              <a:rPr lang="en-US"/>
              <a:t>____sum3 = num3 + num4;</a:t>
            </a:r>
            <a:endParaRPr lang="en-US"/>
          </a:p>
          <a:p>
            <a:r>
              <a:rPr lang="en-US"/>
              <a:t>____sum4 = num4 + num5;</a:t>
            </a:r>
            <a:endParaRPr lang="en-US"/>
          </a:p>
          <a:p>
            <a:r>
              <a:rPr lang="en-US"/>
              <a:t>____sum5 = num5 + num6;</a:t>
            </a:r>
            <a:endParaRPr lang="en-US"/>
          </a:p>
          <a:p>
            <a:r>
              <a:rPr lang="en-US"/>
              <a:t>____sum6 = num6 + num1;</a:t>
            </a:r>
            <a:endParaRPr lang="en-US"/>
          </a:p>
          <a:p>
            <a:r>
              <a:rPr lang="en-US"/>
              <a:t>  </a:t>
            </a:r>
            <a:endParaRPr lang="en-US"/>
          </a:p>
        </p:txBody>
      </p:sp>
      <p:pic>
        <p:nvPicPr>
          <p:cNvPr id="6" name="Picture 5"/>
          <p:cNvPicPr>
            <a:picLocks noChangeAspect="1"/>
          </p:cNvPicPr>
          <p:nvPr/>
        </p:nvPicPr>
        <p:blipFill>
          <a:blip r:embed="rId1"/>
          <a:stretch>
            <a:fillRect/>
          </a:stretch>
        </p:blipFill>
        <p:spPr>
          <a:xfrm>
            <a:off x="1035050" y="5521325"/>
            <a:ext cx="7907020" cy="49847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2772410" y="1429385"/>
            <a:ext cx="6478270" cy="430403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259580" y="3147695"/>
            <a:ext cx="4064000" cy="368300"/>
          </a:xfrm>
          <a:prstGeom prst="rect">
            <a:avLst/>
          </a:prstGeom>
          <a:noFill/>
        </p:spPr>
        <p:txBody>
          <a:bodyPr wrap="square" rtlCol="0">
            <a:spAutoFit/>
          </a:bodyPr>
          <a:p>
            <a:r>
              <a:rPr lang="en-US"/>
              <a:t>Thanks for your attention</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5197</Words>
  <Application>WPS Presentation</Application>
  <PresentationFormat>Widescreen</PresentationFormat>
  <Paragraphs>220</Paragraphs>
  <Slides>31</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31</vt:i4>
      </vt:variant>
    </vt:vector>
  </HeadingPairs>
  <TitlesOfParts>
    <vt:vector size="47" baseType="lpstr">
      <vt:lpstr>Arial</vt:lpstr>
      <vt:lpstr>SimSun</vt:lpstr>
      <vt:lpstr>Wingdings</vt:lpstr>
      <vt:lpstr>Times New Roman</vt:lpstr>
      <vt:lpstr>Arial</vt:lpstr>
      <vt:lpstr>Verdana</vt:lpstr>
      <vt:lpstr>Microsoft YaHei</vt:lpstr>
      <vt:lpstr>Arial Unicode MS</vt:lpstr>
      <vt:lpstr>Calibri Light</vt:lpstr>
      <vt:lpstr>Calibri</vt:lpstr>
      <vt:lpstr>Roboto</vt:lpstr>
      <vt:lpstr>Cambria Math</vt:lpstr>
      <vt:lpstr>MS Mincho</vt:lpstr>
      <vt:lpstr>var(--ff-lato)</vt:lpstr>
      <vt:lpstr>Segoe Print</vt:lpstr>
      <vt:lpstr>Office Theme</vt:lpstr>
      <vt:lpstr>Mobile programming </vt:lpstr>
      <vt:lpstr>Java - Hello World Program</vt:lpstr>
      <vt:lpstr>Explanation of Hello World Program</vt:lpstr>
      <vt:lpstr>PowerPoint 演示文稿</vt:lpstr>
      <vt:lpstr>PowerPoint 演示文稿</vt:lpstr>
      <vt:lpstr>PowerPoint 演示文稿</vt:lpstr>
      <vt:lpstr>PowerPoint 演示文稿</vt:lpstr>
      <vt:lpstr>PowerPoint 演示文稿</vt:lpstr>
      <vt:lpstr>Main mistakes:</vt:lpstr>
      <vt:lpstr>PowerPoint 演示文稿</vt:lpstr>
      <vt:lpstr>Java - Numbers Class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programming </dc:title>
  <dc:creator>Sevara</dc:creator>
  <cp:lastModifiedBy>Shabir</cp:lastModifiedBy>
  <cp:revision>26</cp:revision>
  <dcterms:created xsi:type="dcterms:W3CDTF">2025-02-06T06:14:00Z</dcterms:created>
  <dcterms:modified xsi:type="dcterms:W3CDTF">2025-03-18T05:46:55Z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9890399B30DD40A9955EA5487FC4E558_12</vt:lpwstr>
  </property>
  <property fmtid="{D5CDD505-2E9C-101B-9397-08002B2CF9AE}" pid="3" name="KSOProductBuildVer">
    <vt:lpwstr>1033-12.2.0.20326</vt:lpwstr>
  </property>
</Properties>
</file>