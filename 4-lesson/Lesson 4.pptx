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256" r:id="rId2"/>
    <p:sldId id="280" r:id="rId3"/>
    <p:sldId id="281" r:id="rId4"/>
    <p:sldId id="261" r:id="rId5"/>
    <p:sldId id="266" r:id="rId6"/>
    <p:sldId id="267" r:id="rId7"/>
    <p:sldId id="268" r:id="rId8"/>
    <p:sldId id="269" r:id="rId9"/>
    <p:sldId id="270" r:id="rId10"/>
    <p:sldId id="272" r:id="rId11"/>
    <p:sldId id="271" r:id="rId12"/>
    <p:sldId id="275" r:id="rId13"/>
    <p:sldId id="282" r:id="rId14"/>
    <p:sldId id="283" r:id="rId15"/>
    <p:sldId id="273" r:id="rId16"/>
    <p:sldId id="274" r:id="rId17"/>
    <p:sldId id="258" r:id="rId18"/>
    <p:sldId id="259" r:id="rId19"/>
    <p:sldId id="260" r:id="rId20"/>
    <p:sldId id="277" r:id="rId21"/>
    <p:sldId id="278" r:id="rId22"/>
    <p:sldId id="276" r:id="rId23"/>
    <p:sldId id="279" r:id="rId24"/>
    <p:sldId id="287" r:id="rId25"/>
    <p:sldId id="288" r:id="rId26"/>
    <p:sldId id="289" r:id="rId27"/>
    <p:sldId id="290" r:id="rId28"/>
    <p:sldId id="291"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206" autoAdjust="0"/>
    <p:restoredTop sz="94660"/>
  </p:normalViewPr>
  <p:slideViewPr>
    <p:cSldViewPr snapToGrid="0">
      <p:cViewPr varScale="1">
        <p:scale>
          <a:sx n="156" d="100"/>
          <a:sy n="156" d="100"/>
        </p:scale>
        <p:origin x="192" y="4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3/25/26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3/25/26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3/25/26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3/25/26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3/25/26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3/25/26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3/25/26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3/25/26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3/25/26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3/25/26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3/25/26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3/25/26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3/25/26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tutorialspoint.com/java/lang/string_tostring.htm" TargetMode="External"/><Relationship Id="rId7" Type="http://schemas.openxmlformats.org/officeDocument/2006/relationships/image" Target="../media/image14.png"/><Relationship Id="rId2" Type="http://schemas.openxmlformats.org/officeDocument/2006/relationships/hyperlink" Target="https://www.tutorialspoint.com/java/lang/string_tolowercase.htm" TargetMode="Externa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hyperlink" Target="https://www.tutorialspoint.com/java/lang/string_trim.htm" TargetMode="External"/><Relationship Id="rId4" Type="http://schemas.openxmlformats.org/officeDocument/2006/relationships/hyperlink" Target="https://www.tutorialspoint.com/java/lang/string_touppercase.htm"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www.tutorialspoint.com/java/lang/string_touppercase.htm" TargetMode="External"/><Relationship Id="rId2" Type="http://schemas.openxmlformats.org/officeDocument/2006/relationships/hyperlink" Target="https://www.tutorialspoint.com/java/lang/string_tolowercase.htm" TargetMode="External"/><Relationship Id="rId1" Type="http://schemas.openxmlformats.org/officeDocument/2006/relationships/slideLayout" Target="../slideLayouts/slideLayout2.xml"/><Relationship Id="rId4" Type="http://schemas.openxmlformats.org/officeDocument/2006/relationships/hyperlink" Target="https://www.tutorialspoint.com/java/lang/string_trim.htm"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www.w3schools.com/java/ref_string_length.asp" TargetMode="Externa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www.tutorialspoint.com/java/lang/string_charat.htm" TargetMode="Externa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2" Type="http://schemas.openxmlformats.org/officeDocument/2006/relationships/hyperlink" Target="https://www.tutorialspoint.com/java/lang/string_charat.htm"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Times New Roman" panose="02020603050405020304" charset="0"/>
                <a:cs typeface="Times New Roman" panose="02020603050405020304" charset="0"/>
              </a:rPr>
              <a:t>Mobile programming </a:t>
            </a:r>
          </a:p>
        </p:txBody>
      </p:sp>
      <p:sp>
        <p:nvSpPr>
          <p:cNvPr id="3" name="Subtitle 2"/>
          <p:cNvSpPr>
            <a:spLocks noGrp="1"/>
          </p:cNvSpPr>
          <p:nvPr>
            <p:ph type="subTitle" idx="1"/>
          </p:nvPr>
        </p:nvSpPr>
        <p:spPr/>
        <p:txBody>
          <a:bodyPr/>
          <a:lstStyle/>
          <a:p>
            <a:r>
              <a:rPr lang="en-US">
                <a:latin typeface="Times New Roman" panose="02020603050405020304" charset="0"/>
                <a:cs typeface="Times New Roman" panose="02020603050405020304" charset="0"/>
              </a:rPr>
              <a:t>Lecture 4</a:t>
            </a:r>
            <a:endParaRPr lang="en-US" dirty="0">
              <a:latin typeface="Times New Roman" panose="02020603050405020304" charset="0"/>
              <a:cs typeface="Times New Roman" panose="02020603050405020304" charset="0"/>
            </a:endParaRPr>
          </a:p>
          <a:p>
            <a:endParaRPr lang="en-US" dirty="0">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a:latin typeface="Times New Roman" panose="02020603050405020304" charset="0"/>
                <a:cs typeface="Times New Roman" panose="02020603050405020304" charset="0"/>
              </a:rPr>
              <a:t>Recall!</a:t>
            </a:r>
          </a:p>
        </p:txBody>
      </p:sp>
      <p:sp>
        <p:nvSpPr>
          <p:cNvPr id="3" name="Content Placeholder 2"/>
          <p:cNvSpPr>
            <a:spLocks noGrp="1"/>
          </p:cNvSpPr>
          <p:nvPr>
            <p:ph idx="1"/>
          </p:nvPr>
        </p:nvSpPr>
        <p:spPr/>
        <p:txBody>
          <a:bodyPr>
            <a:normAutofit/>
          </a:bodyPr>
          <a:lstStyle/>
          <a:p>
            <a:r>
              <a:rPr lang="en-US">
                <a:latin typeface="Times New Roman" panose="02020603050405020304" charset="0"/>
                <a:cs typeface="Times New Roman" panose="02020603050405020304" charset="0"/>
                <a:sym typeface="+mn-ea"/>
              </a:rPr>
              <a:t>The area of the variable.</a:t>
            </a:r>
          </a:p>
          <a:p>
            <a:r>
              <a:rPr lang="en-US">
                <a:latin typeface="Times New Roman" panose="02020603050405020304" charset="0"/>
                <a:cs typeface="Times New Roman" panose="02020603050405020304" charset="0"/>
                <a:sym typeface="+mn-ea"/>
              </a:rPr>
              <a:t>Variable rules.</a:t>
            </a:r>
          </a:p>
          <a:p>
            <a:r>
              <a:rPr lang="en-US" altLang="en-US" sz="2400">
                <a:latin typeface="Times New Roman" panose="02020603050405020304" charset="0"/>
                <a:cs typeface="Times New Roman" panose="02020603050405020304" charset="0"/>
                <a:sym typeface="+mn-ea"/>
              </a:rPr>
              <a:t>Java - Basic Operators</a:t>
            </a:r>
            <a:endParaRPr lang="en-US" altLang="en-US" sz="2400">
              <a:latin typeface="Times New Roman" panose="02020603050405020304" charset="0"/>
              <a:cs typeface="Times New Roman" panose="02020603050405020304" charset="0"/>
            </a:endParaRPr>
          </a:p>
          <a:p>
            <a:pPr marL="0" indent="0" algn="just">
              <a:lnSpc>
                <a:spcPct val="150000"/>
              </a:lnSpc>
              <a:spcBef>
                <a:spcPct val="0"/>
              </a:spcBef>
              <a:spcAft>
                <a:spcPct val="0"/>
              </a:spcAft>
              <a:buFont typeface="Arial" panose="020B0604020202020204"/>
              <a:buChar char="•"/>
            </a:pPr>
            <a:r>
              <a:rPr sz="1400">
                <a:solidFill>
                  <a:srgbClr val="000000"/>
                </a:solidFill>
                <a:latin typeface="Times New Roman" panose="02020603050405020304" charset="0"/>
                <a:ea typeface="Verdana" panose="020B0604030504040204"/>
                <a:cs typeface="Times New Roman" panose="02020603050405020304" charset="0"/>
                <a:sym typeface="+mn-ea"/>
              </a:rPr>
              <a:t>Arithmetic Operators</a:t>
            </a:r>
            <a:r>
              <a:rPr lang="en-US" sz="1400">
                <a:solidFill>
                  <a:srgbClr val="000000"/>
                </a:solidFill>
                <a:latin typeface="Times New Roman" panose="02020603050405020304" charset="0"/>
                <a:ea typeface="Verdana" panose="020B0604030504040204"/>
                <a:cs typeface="Times New Roman" panose="02020603050405020304" charset="0"/>
                <a:sym typeface="+mn-ea"/>
              </a:rPr>
              <a:t> </a:t>
            </a:r>
            <a:endParaRPr sz="1400" b="0" i="0">
              <a:solidFill>
                <a:srgbClr val="000000"/>
              </a:solidFill>
              <a:latin typeface="Times New Roman" panose="02020603050405020304" charset="0"/>
              <a:ea typeface="Verdana" panose="020B0604030504040204"/>
              <a:cs typeface="Times New Roman" panose="02020603050405020304" charset="0"/>
            </a:endParaRPr>
          </a:p>
          <a:p>
            <a:pPr marL="0" indent="0" algn="just">
              <a:lnSpc>
                <a:spcPct val="150000"/>
              </a:lnSpc>
              <a:spcBef>
                <a:spcPct val="0"/>
              </a:spcBef>
              <a:spcAft>
                <a:spcPct val="0"/>
              </a:spcAft>
              <a:buFont typeface="Arial" panose="020B0604020202020204"/>
              <a:buChar char="•"/>
            </a:pPr>
            <a:r>
              <a:rPr sz="1400">
                <a:solidFill>
                  <a:srgbClr val="000000"/>
                </a:solidFill>
                <a:latin typeface="Times New Roman" panose="02020603050405020304" charset="0"/>
                <a:ea typeface="Verdana" panose="020B0604030504040204"/>
                <a:cs typeface="Times New Roman" panose="02020603050405020304" charset="0"/>
                <a:sym typeface="+mn-ea"/>
              </a:rPr>
              <a:t>Relational Operators</a:t>
            </a:r>
            <a:endParaRPr sz="1400" b="0" i="0">
              <a:solidFill>
                <a:srgbClr val="000000"/>
              </a:solidFill>
              <a:latin typeface="Times New Roman" panose="02020603050405020304" charset="0"/>
              <a:ea typeface="Verdana" panose="020B0604030504040204"/>
              <a:cs typeface="Times New Roman" panose="02020603050405020304" charset="0"/>
            </a:endParaRPr>
          </a:p>
          <a:p>
            <a:pPr marL="0" indent="0" algn="just">
              <a:lnSpc>
                <a:spcPct val="150000"/>
              </a:lnSpc>
              <a:spcBef>
                <a:spcPct val="0"/>
              </a:spcBef>
              <a:spcAft>
                <a:spcPct val="0"/>
              </a:spcAft>
              <a:buFont typeface="Arial" panose="020B0604020202020204"/>
              <a:buChar char="•"/>
            </a:pPr>
            <a:r>
              <a:rPr sz="1400">
                <a:solidFill>
                  <a:srgbClr val="000000"/>
                </a:solidFill>
                <a:latin typeface="Times New Roman" panose="02020603050405020304" charset="0"/>
                <a:ea typeface="Verdana" panose="020B0604030504040204"/>
                <a:cs typeface="Times New Roman" panose="02020603050405020304" charset="0"/>
                <a:sym typeface="+mn-ea"/>
              </a:rPr>
              <a:t>Bitwise Operators</a:t>
            </a:r>
            <a:endParaRPr sz="1400" b="0" i="0">
              <a:solidFill>
                <a:srgbClr val="000000"/>
              </a:solidFill>
              <a:latin typeface="Times New Roman" panose="02020603050405020304" charset="0"/>
              <a:ea typeface="Verdana" panose="020B0604030504040204"/>
              <a:cs typeface="Times New Roman" panose="02020603050405020304" charset="0"/>
            </a:endParaRPr>
          </a:p>
          <a:p>
            <a:pPr marL="0" indent="0" algn="just">
              <a:lnSpc>
                <a:spcPct val="150000"/>
              </a:lnSpc>
              <a:spcBef>
                <a:spcPct val="0"/>
              </a:spcBef>
              <a:spcAft>
                <a:spcPct val="0"/>
              </a:spcAft>
              <a:buFont typeface="Arial" panose="020B0604020202020204"/>
              <a:buChar char="•"/>
            </a:pPr>
            <a:r>
              <a:rPr sz="1400">
                <a:solidFill>
                  <a:srgbClr val="000000"/>
                </a:solidFill>
                <a:latin typeface="Times New Roman" panose="02020603050405020304" charset="0"/>
                <a:ea typeface="Verdana" panose="020B0604030504040204"/>
                <a:cs typeface="Times New Roman" panose="02020603050405020304" charset="0"/>
                <a:sym typeface="+mn-ea"/>
              </a:rPr>
              <a:t>Logical Operators</a:t>
            </a:r>
            <a:endParaRPr sz="1400" b="0" i="0">
              <a:solidFill>
                <a:srgbClr val="000000"/>
              </a:solidFill>
              <a:latin typeface="Times New Roman" panose="02020603050405020304" charset="0"/>
              <a:ea typeface="Verdana" panose="020B0604030504040204"/>
              <a:cs typeface="Times New Roman" panose="02020603050405020304" charset="0"/>
            </a:endParaRPr>
          </a:p>
          <a:p>
            <a:pPr marL="0" indent="0" algn="just">
              <a:lnSpc>
                <a:spcPct val="150000"/>
              </a:lnSpc>
              <a:spcBef>
                <a:spcPct val="0"/>
              </a:spcBef>
              <a:spcAft>
                <a:spcPct val="0"/>
              </a:spcAft>
              <a:buFont typeface="Arial" panose="020B0604020202020204"/>
              <a:buChar char="•"/>
            </a:pPr>
            <a:r>
              <a:rPr sz="1400">
                <a:solidFill>
                  <a:srgbClr val="000000"/>
                </a:solidFill>
                <a:latin typeface="Times New Roman" panose="02020603050405020304" charset="0"/>
                <a:ea typeface="Verdana" panose="020B0604030504040204"/>
                <a:cs typeface="Times New Roman" panose="02020603050405020304" charset="0"/>
                <a:sym typeface="+mn-ea"/>
              </a:rPr>
              <a:t>Assignment Operators</a:t>
            </a:r>
            <a:endParaRPr sz="1400" b="0" i="0">
              <a:solidFill>
                <a:srgbClr val="000000"/>
              </a:solidFill>
              <a:latin typeface="Times New Roman" panose="02020603050405020304" charset="0"/>
              <a:ea typeface="Verdana" panose="020B0604030504040204"/>
              <a:cs typeface="Times New Roman" panose="02020603050405020304" charset="0"/>
            </a:endParaRPr>
          </a:p>
          <a:p>
            <a:pPr marL="0" indent="0" algn="just">
              <a:lnSpc>
                <a:spcPct val="150000"/>
              </a:lnSpc>
              <a:spcBef>
                <a:spcPct val="0"/>
              </a:spcBef>
              <a:spcAft>
                <a:spcPct val="0"/>
              </a:spcAft>
              <a:buFont typeface="Arial" panose="020B0604020202020204"/>
              <a:buChar char="•"/>
            </a:pPr>
            <a:r>
              <a:rPr sz="1400">
                <a:solidFill>
                  <a:srgbClr val="000000"/>
                </a:solidFill>
                <a:latin typeface="Times New Roman" panose="02020603050405020304" charset="0"/>
                <a:ea typeface="Verdana" panose="020B0604030504040204"/>
                <a:cs typeface="Times New Roman" panose="02020603050405020304" charset="0"/>
                <a:sym typeface="+mn-ea"/>
              </a:rPr>
              <a:t>Misc Operators</a:t>
            </a:r>
            <a:endParaRPr sz="1400" b="0" i="0">
              <a:solidFill>
                <a:srgbClr val="000000"/>
              </a:solidFill>
              <a:latin typeface="Times New Roman" panose="02020603050405020304" charset="0"/>
              <a:ea typeface="Verdana" panose="020B0604030504040204"/>
              <a:cs typeface="Times New Roman" panose="02020603050405020304" charset="0"/>
            </a:endParaRPr>
          </a:p>
          <a:p>
            <a:endParaRPr lang="en-US">
              <a:latin typeface="Times New Roman" panose="02020603050405020304" charset="0"/>
              <a:cs typeface="Times New Roman" panose="02020603050405020304" charset="0"/>
            </a:endParaRPr>
          </a:p>
          <a:p>
            <a:endParaRPr lang="en-US">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59790"/>
          </a:xfrm>
        </p:spPr>
        <p:txBody>
          <a:bodyPr/>
          <a:lstStyle/>
          <a:p>
            <a:r>
              <a:rPr lang="en-US" sz="4000">
                <a:latin typeface="Times New Roman" panose="02020603050405020304" charset="0"/>
                <a:cs typeface="Times New Roman" panose="02020603050405020304" charset="0"/>
              </a:rPr>
              <a:t>Recall!</a:t>
            </a:r>
          </a:p>
        </p:txBody>
      </p:sp>
      <p:sp>
        <p:nvSpPr>
          <p:cNvPr id="3" name="Content Placeholder 2"/>
          <p:cNvSpPr>
            <a:spLocks noGrp="1"/>
          </p:cNvSpPr>
          <p:nvPr>
            <p:ph idx="1"/>
          </p:nvPr>
        </p:nvSpPr>
        <p:spPr/>
        <p:txBody>
          <a:bodyPr/>
          <a:lstStyle/>
          <a:p>
            <a:pPr marL="285750" indent="-285750">
              <a:buFont typeface="Arial" panose="020B0604020202020204" pitchFamily="34" charset="0"/>
              <a:buChar char="•"/>
            </a:pPr>
            <a:r>
              <a:rPr lang="en-US" altLang="en-US" sz="1600">
                <a:latin typeface="Times New Roman" panose="02020603050405020304" charset="0"/>
                <a:cs typeface="Times New Roman" panose="02020603050405020304" charset="0"/>
                <a:sym typeface="+mn-ea"/>
              </a:rPr>
              <a:t>ASCII − for the United States.</a:t>
            </a:r>
            <a:endParaRPr lang="en-US" altLang="en-US" sz="1600">
              <a:latin typeface="Times New Roman" panose="02020603050405020304" charset="0"/>
              <a:cs typeface="Times New Roman" panose="02020603050405020304" charset="0"/>
            </a:endParaRPr>
          </a:p>
          <a:p>
            <a:pPr marL="285750" indent="-285750">
              <a:buFont typeface="Arial" panose="020B0604020202020204" pitchFamily="34" charset="0"/>
              <a:buChar char="•"/>
            </a:pPr>
            <a:endParaRPr lang="en-US" altLang="en-US" sz="16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US" sz="1600">
                <a:latin typeface="Times New Roman" panose="02020603050405020304" charset="0"/>
                <a:cs typeface="Times New Roman" panose="02020603050405020304" charset="0"/>
                <a:sym typeface="+mn-ea"/>
              </a:rPr>
              <a:t>ISO 8859-1 − for Western European Language.</a:t>
            </a:r>
            <a:endParaRPr lang="en-US" altLang="en-US" sz="1600">
              <a:latin typeface="Times New Roman" panose="02020603050405020304" charset="0"/>
              <a:cs typeface="Times New Roman" panose="02020603050405020304" charset="0"/>
            </a:endParaRPr>
          </a:p>
          <a:p>
            <a:pPr marL="285750" indent="-285750">
              <a:buFont typeface="Arial" panose="020B0604020202020204" pitchFamily="34" charset="0"/>
              <a:buChar char="•"/>
            </a:pPr>
            <a:endParaRPr lang="en-US" altLang="en-US" sz="16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US" sz="1600">
                <a:latin typeface="Times New Roman" panose="02020603050405020304" charset="0"/>
                <a:cs typeface="Times New Roman" panose="02020603050405020304" charset="0"/>
                <a:sym typeface="+mn-ea"/>
              </a:rPr>
              <a:t>KOI-8 − for Russian.</a:t>
            </a:r>
            <a:endParaRPr lang="en-US" altLang="en-US" sz="1600">
              <a:latin typeface="Times New Roman" panose="02020603050405020304" charset="0"/>
              <a:cs typeface="Times New Roman" panose="02020603050405020304" charset="0"/>
            </a:endParaRPr>
          </a:p>
          <a:p>
            <a:pPr marL="285750" indent="-285750">
              <a:buFont typeface="Arial" panose="020B0604020202020204" pitchFamily="34" charset="0"/>
              <a:buChar char="•"/>
            </a:pPr>
            <a:endParaRPr lang="en-US" altLang="en-US" sz="16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US" sz="1600">
                <a:latin typeface="Times New Roman" panose="02020603050405020304" charset="0"/>
                <a:cs typeface="Times New Roman" panose="02020603050405020304" charset="0"/>
                <a:sym typeface="+mn-ea"/>
              </a:rPr>
              <a:t>GB18030 and BIG-5 − for Chinese.</a:t>
            </a:r>
          </a:p>
        </p:txBody>
      </p:sp>
      <p:sp>
        <p:nvSpPr>
          <p:cNvPr id="4" name="Text Box 3"/>
          <p:cNvSpPr txBox="1"/>
          <p:nvPr/>
        </p:nvSpPr>
        <p:spPr>
          <a:xfrm>
            <a:off x="926465" y="1341120"/>
            <a:ext cx="6096000" cy="368300"/>
          </a:xfrm>
          <a:prstGeom prst="rect">
            <a:avLst/>
          </a:prstGeom>
          <a:noFill/>
        </p:spPr>
        <p:txBody>
          <a:bodyPr wrap="square" rtlCol="0" anchor="t">
            <a:spAutoFit/>
          </a:bodyPr>
          <a:lstStyle/>
          <a:p>
            <a:r>
              <a:rPr lang="en-US">
                <a:latin typeface="Times New Roman" panose="02020603050405020304" charset="0"/>
                <a:cs typeface="Times New Roman" panose="02020603050405020304" charset="0"/>
                <a:sym typeface="+mn-ea"/>
              </a:rPr>
              <a:t>Unicode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6910" y="184785"/>
            <a:ext cx="10515600" cy="450850"/>
          </a:xfrm>
        </p:spPr>
        <p:txBody>
          <a:bodyPr>
            <a:noAutofit/>
          </a:bodyPr>
          <a:lstStyle/>
          <a:p>
            <a:pPr algn="ctr"/>
            <a:r>
              <a:rPr lang="en-US" altLang="en-US" sz="2800"/>
              <a:t>Java - Strings Class</a:t>
            </a:r>
          </a:p>
        </p:txBody>
      </p:sp>
      <p:sp>
        <p:nvSpPr>
          <p:cNvPr id="4" name="Text Box 3"/>
          <p:cNvSpPr txBox="1"/>
          <p:nvPr/>
        </p:nvSpPr>
        <p:spPr>
          <a:xfrm>
            <a:off x="270510" y="1009015"/>
            <a:ext cx="11612245" cy="645160"/>
          </a:xfrm>
          <a:prstGeom prst="rect">
            <a:avLst/>
          </a:prstGeom>
          <a:noFill/>
        </p:spPr>
        <p:txBody>
          <a:bodyPr wrap="square" rtlCol="0" anchor="t">
            <a:spAutoFit/>
          </a:bodyPr>
          <a:lstStyle/>
          <a:p>
            <a:r>
              <a:rPr lang="en-US" altLang="en-US"/>
              <a:t>Strings, which are widely used in Java programming, are a sequence of characters. In Java programming language, strings are treated as objects. The Java platform provides the String class to create and manipulate strings</a:t>
            </a:r>
          </a:p>
        </p:txBody>
      </p:sp>
      <p:sp>
        <p:nvSpPr>
          <p:cNvPr id="5" name="Text Box 4"/>
          <p:cNvSpPr txBox="1"/>
          <p:nvPr/>
        </p:nvSpPr>
        <p:spPr>
          <a:xfrm>
            <a:off x="4044315" y="1999615"/>
            <a:ext cx="4064000" cy="368300"/>
          </a:xfrm>
          <a:prstGeom prst="rect">
            <a:avLst/>
          </a:prstGeom>
          <a:noFill/>
        </p:spPr>
        <p:txBody>
          <a:bodyPr wrap="square" rtlCol="0">
            <a:spAutoFit/>
          </a:bodyPr>
          <a:lstStyle/>
          <a:p>
            <a:pPr algn="ctr"/>
            <a:r>
              <a:rPr lang="en-US"/>
              <a:t>How to use String class?</a:t>
            </a:r>
          </a:p>
        </p:txBody>
      </p:sp>
      <p:pic>
        <p:nvPicPr>
          <p:cNvPr id="7" name="Picture 6"/>
          <p:cNvPicPr>
            <a:picLocks noChangeAspect="1"/>
          </p:cNvPicPr>
          <p:nvPr/>
        </p:nvPicPr>
        <p:blipFill>
          <a:blip r:embed="rId2"/>
          <a:stretch>
            <a:fillRect/>
          </a:stretch>
        </p:blipFill>
        <p:spPr>
          <a:xfrm>
            <a:off x="501650" y="2798445"/>
            <a:ext cx="5352415" cy="1621790"/>
          </a:xfrm>
          <a:prstGeom prst="rect">
            <a:avLst/>
          </a:prstGeom>
        </p:spPr>
      </p:pic>
      <p:sp>
        <p:nvSpPr>
          <p:cNvPr id="8" name="Text Box 7"/>
          <p:cNvSpPr txBox="1"/>
          <p:nvPr/>
        </p:nvSpPr>
        <p:spPr>
          <a:xfrm>
            <a:off x="6666230" y="2767330"/>
            <a:ext cx="4064000" cy="645160"/>
          </a:xfrm>
          <a:prstGeom prst="rect">
            <a:avLst/>
          </a:prstGeom>
          <a:noFill/>
        </p:spPr>
        <p:txBody>
          <a:bodyPr wrap="square" rtlCol="0">
            <a:spAutoFit/>
          </a:bodyPr>
          <a:lstStyle/>
          <a:p>
            <a:r>
              <a:rPr lang="en-US"/>
              <a:t>java.lang is the package which includes all classes of the language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35585" y="295910"/>
            <a:ext cx="7169785" cy="3699510"/>
          </a:xfrm>
          <a:prstGeom prst="rect">
            <a:avLst/>
          </a:prstGeom>
        </p:spPr>
      </p:pic>
      <p:pic>
        <p:nvPicPr>
          <p:cNvPr id="5" name="Picture 4"/>
          <p:cNvPicPr>
            <a:picLocks noChangeAspect="1"/>
          </p:cNvPicPr>
          <p:nvPr/>
        </p:nvPicPr>
        <p:blipFill>
          <a:blip r:embed="rId3"/>
          <a:stretch>
            <a:fillRect/>
          </a:stretch>
        </p:blipFill>
        <p:spPr>
          <a:xfrm>
            <a:off x="697865" y="4467225"/>
            <a:ext cx="7366000" cy="1478280"/>
          </a:xfrm>
          <a:prstGeom prst="rect">
            <a:avLst/>
          </a:prstGeom>
        </p:spPr>
      </p:pic>
      <p:sp>
        <p:nvSpPr>
          <p:cNvPr id="6" name="Rectangles 5"/>
          <p:cNvSpPr/>
          <p:nvPr/>
        </p:nvSpPr>
        <p:spPr>
          <a:xfrm>
            <a:off x="1139825" y="2084070"/>
            <a:ext cx="4839970" cy="627380"/>
          </a:xfrm>
          <a:prstGeom prst="rect">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a:p>
        </p:txBody>
      </p:sp>
      <p:sp>
        <p:nvSpPr>
          <p:cNvPr id="7" name="Rectangles 6"/>
          <p:cNvSpPr/>
          <p:nvPr/>
        </p:nvSpPr>
        <p:spPr>
          <a:xfrm>
            <a:off x="1139825" y="2843530"/>
            <a:ext cx="5170805" cy="268605"/>
          </a:xfrm>
          <a:prstGeom prst="rect">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a:p>
        </p:txBody>
      </p:sp>
      <p:sp>
        <p:nvSpPr>
          <p:cNvPr id="8" name="Text Box 7"/>
          <p:cNvSpPr txBox="1"/>
          <p:nvPr/>
        </p:nvSpPr>
        <p:spPr>
          <a:xfrm>
            <a:off x="7851775" y="404495"/>
            <a:ext cx="3261995" cy="2306955"/>
          </a:xfrm>
          <a:prstGeom prst="rect">
            <a:avLst/>
          </a:prstGeom>
          <a:noFill/>
        </p:spPr>
        <p:txBody>
          <a:bodyPr wrap="square" rtlCol="0" anchor="t">
            <a:spAutoFit/>
          </a:bodyPr>
          <a:lstStyle/>
          <a:p>
            <a:pPr algn="just"/>
            <a:r>
              <a:rPr lang="en-US" altLang="en-US">
                <a:solidFill>
                  <a:srgbClr val="FF0000"/>
                </a:solidFill>
              </a:rPr>
              <a:t>Note </a:t>
            </a:r>
            <a:r>
              <a:rPr lang="en-US" altLang="en-US"/>
              <a:t>− The String class is </a:t>
            </a:r>
            <a:r>
              <a:rPr lang="en-US" altLang="en-US">
                <a:highlight>
                  <a:srgbClr val="FFFF00"/>
                </a:highlight>
              </a:rPr>
              <a:t>immutable</a:t>
            </a:r>
            <a:r>
              <a:rPr lang="en-US" altLang="en-US"/>
              <a:t>, so that once it is created a String object cannot be changed. If there is a necessity to make a lot of modifications to Strings of characters, then you should use String Buffer &amp; String Builder Classes.</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5"/>
          <p:cNvSpPr txBox="1"/>
          <p:nvPr/>
        </p:nvSpPr>
        <p:spPr>
          <a:xfrm>
            <a:off x="67310" y="134620"/>
            <a:ext cx="6096000" cy="460375"/>
          </a:xfrm>
          <a:prstGeom prst="rect">
            <a:avLst/>
          </a:prstGeom>
          <a:noFill/>
        </p:spPr>
        <p:txBody>
          <a:bodyPr wrap="square" rtlCol="0" anchor="t">
            <a:spAutoFit/>
          </a:bodyPr>
          <a:lstStyle/>
          <a:p>
            <a:r>
              <a:rPr lang="en-US" altLang="en-US" sz="2400"/>
              <a:t>String Length</a:t>
            </a:r>
          </a:p>
        </p:txBody>
      </p:sp>
      <p:sp>
        <p:nvSpPr>
          <p:cNvPr id="7" name="Text Box 6"/>
          <p:cNvSpPr txBox="1"/>
          <p:nvPr/>
        </p:nvSpPr>
        <p:spPr>
          <a:xfrm>
            <a:off x="67310" y="739775"/>
            <a:ext cx="11850370" cy="922020"/>
          </a:xfrm>
          <a:prstGeom prst="rect">
            <a:avLst/>
          </a:prstGeom>
          <a:noFill/>
        </p:spPr>
        <p:txBody>
          <a:bodyPr wrap="square" rtlCol="0" anchor="t">
            <a:spAutoFit/>
          </a:bodyPr>
          <a:lstStyle/>
          <a:p>
            <a:r>
              <a:rPr lang="en-US" altLang="en-US"/>
              <a:t>Methods used to obtain information about an object are known as accessor methods. One accessor method that you can use with strings is the</a:t>
            </a:r>
            <a:r>
              <a:rPr lang="en-US" altLang="en-US">
                <a:highlight>
                  <a:srgbClr val="FFFF00"/>
                </a:highlight>
              </a:rPr>
              <a:t> length()</a:t>
            </a:r>
            <a:r>
              <a:rPr lang="en-US" altLang="en-US"/>
              <a:t> method, which returns the number of characters contained in the string object.</a:t>
            </a:r>
          </a:p>
          <a:p>
            <a:r>
              <a:rPr lang="en-US" altLang="en-US"/>
              <a:t>The following program is an example of length(), method String class</a:t>
            </a:r>
            <a:endParaRPr lang="en-US"/>
          </a:p>
        </p:txBody>
      </p:sp>
      <p:pic>
        <p:nvPicPr>
          <p:cNvPr id="8" name="Picture 7"/>
          <p:cNvPicPr>
            <a:picLocks noChangeAspect="1"/>
          </p:cNvPicPr>
          <p:nvPr/>
        </p:nvPicPr>
        <p:blipFill>
          <a:blip r:embed="rId2"/>
          <a:stretch>
            <a:fillRect/>
          </a:stretch>
        </p:blipFill>
        <p:spPr>
          <a:xfrm>
            <a:off x="283210" y="1880870"/>
            <a:ext cx="7699375" cy="3277870"/>
          </a:xfrm>
          <a:prstGeom prst="rect">
            <a:avLst/>
          </a:prstGeom>
        </p:spPr>
      </p:pic>
      <p:pic>
        <p:nvPicPr>
          <p:cNvPr id="9" name="Picture 8"/>
          <p:cNvPicPr>
            <a:picLocks noChangeAspect="1"/>
          </p:cNvPicPr>
          <p:nvPr/>
        </p:nvPicPr>
        <p:blipFill>
          <a:blip r:embed="rId3"/>
          <a:stretch>
            <a:fillRect/>
          </a:stretch>
        </p:blipFill>
        <p:spPr>
          <a:xfrm>
            <a:off x="538480" y="5534025"/>
            <a:ext cx="5391785" cy="8966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146685" y="361950"/>
            <a:ext cx="11374755" cy="656590"/>
          </a:xfrm>
          <a:prstGeom prst="rect">
            <a:avLst/>
          </a:prstGeom>
          <a:noFill/>
        </p:spPr>
        <p:txBody>
          <a:bodyPr wrap="square" rtlCol="0" anchor="t">
            <a:noAutofit/>
          </a:bodyPr>
          <a:lstStyle/>
          <a:p>
            <a:r>
              <a:rPr lang="en-US" altLang="en-US" sz="2000" b="1"/>
              <a:t>Concatenating Strings</a:t>
            </a:r>
          </a:p>
          <a:p>
            <a:endParaRPr lang="en-US" altLang="en-US" sz="2000" b="1"/>
          </a:p>
          <a:p>
            <a:r>
              <a:rPr lang="en-US" altLang="en-US"/>
              <a:t>The String class includes a method for concatenating two strings −</a:t>
            </a:r>
            <a:endParaRPr lang="en-US"/>
          </a:p>
        </p:txBody>
      </p:sp>
      <p:sp>
        <p:nvSpPr>
          <p:cNvPr id="6" name="Text Box 5"/>
          <p:cNvSpPr txBox="1"/>
          <p:nvPr/>
        </p:nvSpPr>
        <p:spPr>
          <a:xfrm>
            <a:off x="203835" y="2187575"/>
            <a:ext cx="10500360" cy="645160"/>
          </a:xfrm>
          <a:prstGeom prst="rect">
            <a:avLst/>
          </a:prstGeom>
          <a:noFill/>
        </p:spPr>
        <p:txBody>
          <a:bodyPr wrap="square" rtlCol="0" anchor="t">
            <a:spAutoFit/>
          </a:bodyPr>
          <a:lstStyle/>
          <a:p>
            <a:r>
              <a:rPr lang="en-US" altLang="en-US"/>
              <a:t>This returns a new string that is string1 with string2 added to it at the end. You can also use the concat() method with string literals, as in </a:t>
            </a:r>
            <a:endParaRPr lang="en-US"/>
          </a:p>
        </p:txBody>
      </p:sp>
      <p:pic>
        <p:nvPicPr>
          <p:cNvPr id="7" name="Picture 6"/>
          <p:cNvPicPr>
            <a:picLocks noChangeAspect="1"/>
          </p:cNvPicPr>
          <p:nvPr/>
        </p:nvPicPr>
        <p:blipFill>
          <a:blip r:embed="rId3"/>
          <a:stretch>
            <a:fillRect/>
          </a:stretch>
        </p:blipFill>
        <p:spPr>
          <a:xfrm>
            <a:off x="203835" y="1503680"/>
            <a:ext cx="6494145" cy="450850"/>
          </a:xfrm>
          <a:prstGeom prst="rect">
            <a:avLst/>
          </a:prstGeom>
        </p:spPr>
      </p:pic>
      <p:pic>
        <p:nvPicPr>
          <p:cNvPr id="8" name="Picture 7"/>
          <p:cNvPicPr>
            <a:picLocks noChangeAspect="1"/>
          </p:cNvPicPr>
          <p:nvPr/>
        </p:nvPicPr>
        <p:blipFill>
          <a:blip r:embed="rId4"/>
          <a:stretch>
            <a:fillRect/>
          </a:stretch>
        </p:blipFill>
        <p:spPr>
          <a:xfrm>
            <a:off x="203835" y="3065780"/>
            <a:ext cx="6494145" cy="581025"/>
          </a:xfrm>
          <a:prstGeom prst="rect">
            <a:avLst/>
          </a:prstGeom>
        </p:spPr>
      </p:pic>
      <p:sp>
        <p:nvSpPr>
          <p:cNvPr id="9" name="Text Box 8"/>
          <p:cNvSpPr txBox="1"/>
          <p:nvPr/>
        </p:nvSpPr>
        <p:spPr>
          <a:xfrm>
            <a:off x="146685" y="3879850"/>
            <a:ext cx="9901555" cy="337185"/>
          </a:xfrm>
          <a:prstGeom prst="rect">
            <a:avLst/>
          </a:prstGeom>
        </p:spPr>
        <p:txBody>
          <a:bodyPr wrap="square">
            <a:spAutoFit/>
          </a:bodyPr>
          <a:lstStyle/>
          <a:p>
            <a:pPr marL="0" indent="0"/>
            <a:r>
              <a:rPr sz="1600" b="0" i="0">
                <a:solidFill>
                  <a:srgbClr val="000000"/>
                </a:solidFill>
                <a:latin typeface="Verdana" panose="020B0604030504040204"/>
                <a:ea typeface="Verdana" panose="020B0604030504040204"/>
              </a:rPr>
              <a:t>Strings are more commonly concatenated with the + operator, as in </a:t>
            </a:r>
          </a:p>
        </p:txBody>
      </p:sp>
      <p:pic>
        <p:nvPicPr>
          <p:cNvPr id="10" name="Picture 9"/>
          <p:cNvPicPr>
            <a:picLocks noChangeAspect="1"/>
          </p:cNvPicPr>
          <p:nvPr/>
        </p:nvPicPr>
        <p:blipFill>
          <a:blip r:embed="rId5"/>
          <a:stretch>
            <a:fillRect/>
          </a:stretch>
        </p:blipFill>
        <p:spPr>
          <a:xfrm>
            <a:off x="203835" y="4641850"/>
            <a:ext cx="7174230" cy="4648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57555" y="843915"/>
            <a:ext cx="6367780" cy="3601720"/>
          </a:xfrm>
          <a:prstGeom prst="rect">
            <a:avLst/>
          </a:prstGeom>
        </p:spPr>
      </p:pic>
      <p:sp>
        <p:nvSpPr>
          <p:cNvPr id="5" name="Text Box 4"/>
          <p:cNvSpPr txBox="1"/>
          <p:nvPr/>
        </p:nvSpPr>
        <p:spPr>
          <a:xfrm>
            <a:off x="1776730" y="351155"/>
            <a:ext cx="4064000" cy="368300"/>
          </a:xfrm>
          <a:prstGeom prst="rect">
            <a:avLst/>
          </a:prstGeom>
          <a:noFill/>
        </p:spPr>
        <p:txBody>
          <a:bodyPr wrap="square" rtlCol="0">
            <a:spAutoFit/>
          </a:bodyPr>
          <a:lstStyle/>
          <a:p>
            <a:r>
              <a:rPr lang="en-US"/>
              <a:t>Example:</a:t>
            </a:r>
          </a:p>
        </p:txBody>
      </p:sp>
      <p:sp>
        <p:nvSpPr>
          <p:cNvPr id="6" name="Text Box 5"/>
          <p:cNvSpPr txBox="1"/>
          <p:nvPr/>
        </p:nvSpPr>
        <p:spPr>
          <a:xfrm>
            <a:off x="8340090" y="2215515"/>
            <a:ext cx="4064000" cy="368300"/>
          </a:xfrm>
          <a:prstGeom prst="rect">
            <a:avLst/>
          </a:prstGeom>
          <a:noFill/>
        </p:spPr>
        <p:txBody>
          <a:bodyPr wrap="square" rtlCol="0">
            <a:spAutoFit/>
          </a:bodyPr>
          <a:lstStyle/>
          <a:p>
            <a:r>
              <a:rPr lang="en-US"/>
              <a:t>3 ways of concat</a:t>
            </a:r>
          </a:p>
        </p:txBody>
      </p:sp>
      <p:pic>
        <p:nvPicPr>
          <p:cNvPr id="7" name="Picture 6"/>
          <p:cNvPicPr>
            <a:picLocks noChangeAspect="1"/>
          </p:cNvPicPr>
          <p:nvPr/>
        </p:nvPicPr>
        <p:blipFill>
          <a:blip r:embed="rId3"/>
          <a:stretch>
            <a:fillRect/>
          </a:stretch>
        </p:blipFill>
        <p:spPr>
          <a:xfrm>
            <a:off x="899795" y="4775200"/>
            <a:ext cx="3276600" cy="9982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939800" y="684530"/>
            <a:ext cx="10732135" cy="645160"/>
          </a:xfrm>
          <a:prstGeom prst="rect">
            <a:avLst/>
          </a:prstGeom>
          <a:noFill/>
        </p:spPr>
        <p:txBody>
          <a:bodyPr wrap="square" rtlCol="0">
            <a:spAutoFit/>
          </a:bodyPr>
          <a:lstStyle/>
          <a:p>
            <a:r>
              <a:rPr lang="en-US">
                <a:highlight>
                  <a:srgbClr val="FFFF00"/>
                </a:highlight>
              </a:rPr>
              <a:t>Exercise</a:t>
            </a:r>
            <a:r>
              <a:rPr lang="en-US"/>
              <a:t>: Your task is to create a string,</a:t>
            </a:r>
            <a:r>
              <a:rPr lang="en-US" b="1"/>
              <a:t>  </a:t>
            </a:r>
            <a:r>
              <a:rPr lang="en-US" b="1" u="sng"/>
              <a:t>“I am, a student of the  Gachon University!</a:t>
            </a:r>
            <a:r>
              <a:rPr lang="en-US"/>
              <a:t>” find the length and concantinate it by using all 3 ways of concat with string, </a:t>
            </a:r>
            <a:r>
              <a:rPr lang="en-US" b="1" u="sng"/>
              <a:t>“and we are learning Java”</a:t>
            </a:r>
            <a:r>
              <a:rPr lang="en-US" u="sng"/>
              <a:t>.</a:t>
            </a:r>
          </a:p>
        </p:txBody>
      </p:sp>
      <p:sp>
        <p:nvSpPr>
          <p:cNvPr id="2" name="Text Box 1"/>
          <p:cNvSpPr txBox="1"/>
          <p:nvPr/>
        </p:nvSpPr>
        <p:spPr>
          <a:xfrm>
            <a:off x="2642235" y="2291715"/>
            <a:ext cx="4064000" cy="1476375"/>
          </a:xfrm>
          <a:prstGeom prst="rect">
            <a:avLst/>
          </a:prstGeom>
          <a:noFill/>
        </p:spPr>
        <p:txBody>
          <a:bodyPr wrap="square" rtlCol="0">
            <a:spAutoFit/>
          </a:bodyPr>
          <a:lstStyle/>
          <a:p>
            <a:r>
              <a:rPr lang="en-US"/>
              <a:t>PLEASE TAKE A SCREENSHOT OF EACH ASSIGNMENT at the ending of the class i will open one assignment and you will make ppt and include each picture of assignment with name of it and number.</a:t>
            </a:r>
          </a:p>
        </p:txBody>
      </p:sp>
      <p:sp>
        <p:nvSpPr>
          <p:cNvPr id="3" name="Text Box 2"/>
          <p:cNvSpPr txBox="1"/>
          <p:nvPr/>
        </p:nvSpPr>
        <p:spPr>
          <a:xfrm>
            <a:off x="4183380" y="1968500"/>
            <a:ext cx="4064000" cy="368300"/>
          </a:xfrm>
          <a:prstGeom prst="rect">
            <a:avLst/>
          </a:prstGeom>
          <a:noFill/>
        </p:spPr>
        <p:txBody>
          <a:bodyPr wrap="square" rtlCol="0">
            <a:spAutoFit/>
          </a:bodyPr>
          <a:lstStyle/>
          <a:p>
            <a:r>
              <a:rPr lang="en-US">
                <a:highlight>
                  <a:srgbClr val="FF0000"/>
                </a:highlight>
              </a:rPr>
              <a:t>Note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29285" y="730885"/>
            <a:ext cx="10949940" cy="3883025"/>
          </a:xfrm>
          <a:prstGeom prst="rect">
            <a:avLst/>
          </a:prstGeom>
        </p:spPr>
      </p:pic>
      <p:pic>
        <p:nvPicPr>
          <p:cNvPr id="5" name="Picture 4"/>
          <p:cNvPicPr>
            <a:picLocks noChangeAspect="1"/>
          </p:cNvPicPr>
          <p:nvPr/>
        </p:nvPicPr>
        <p:blipFill>
          <a:blip r:embed="rId3"/>
          <a:stretch>
            <a:fillRect/>
          </a:stretch>
        </p:blipFill>
        <p:spPr>
          <a:xfrm>
            <a:off x="744220" y="5074285"/>
            <a:ext cx="9451975" cy="127571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208280" y="332740"/>
            <a:ext cx="11823065" cy="583565"/>
          </a:xfrm>
          <a:prstGeom prst="rect">
            <a:avLst/>
          </a:prstGeom>
        </p:spPr>
        <p:txBody>
          <a:bodyPr wrap="square">
            <a:spAutoFit/>
          </a:bodyPr>
          <a:lstStyle/>
          <a:p>
            <a:pPr marL="0" indent="0" algn="l">
              <a:spcBef>
                <a:spcPct val="0"/>
              </a:spcBef>
              <a:spcAft>
                <a:spcPct val="0"/>
              </a:spcAft>
            </a:pPr>
            <a:r>
              <a:rPr sz="1600" b="1" i="0">
                <a:solidFill>
                  <a:srgbClr val="008000"/>
                </a:solidFill>
                <a:latin typeface="Verdana" panose="020B0604030504040204"/>
                <a:ea typeface="Verdana" panose="020B0604030504040204"/>
                <a:hlinkClick r:id="rId2"/>
              </a:rPr>
              <a:t>String toLowerCase()</a:t>
            </a:r>
          </a:p>
          <a:p>
            <a:pPr marL="0" indent="0" algn="l">
              <a:spcBef>
                <a:spcPct val="0"/>
              </a:spcBef>
              <a:spcAft>
                <a:spcPct val="0"/>
              </a:spcAft>
            </a:pPr>
            <a:r>
              <a:rPr sz="1600" b="0" i="0">
                <a:solidFill>
                  <a:srgbClr val="000000"/>
                </a:solidFill>
                <a:latin typeface="Verdana" panose="020B0604030504040204"/>
                <a:ea typeface="Verdana" panose="020B0604030504040204"/>
              </a:rPr>
              <a:t>This method converts all of the characters in this String to lower case using the rules of the default locale.</a:t>
            </a:r>
          </a:p>
        </p:txBody>
      </p:sp>
      <p:sp>
        <p:nvSpPr>
          <p:cNvPr id="6" name="Text Box 5"/>
          <p:cNvSpPr txBox="1"/>
          <p:nvPr/>
        </p:nvSpPr>
        <p:spPr>
          <a:xfrm>
            <a:off x="208280" y="1998027"/>
            <a:ext cx="5080000" cy="583565"/>
          </a:xfrm>
          <a:prstGeom prst="rect">
            <a:avLst/>
          </a:prstGeom>
        </p:spPr>
        <p:txBody>
          <a:bodyPr>
            <a:spAutoFit/>
          </a:bodyPr>
          <a:lstStyle/>
          <a:p>
            <a:pPr marL="0" indent="0" algn="l">
              <a:spcBef>
                <a:spcPct val="0"/>
              </a:spcBef>
              <a:spcAft>
                <a:spcPct val="0"/>
              </a:spcAft>
            </a:pPr>
            <a:r>
              <a:rPr sz="1600" b="1" i="0">
                <a:solidFill>
                  <a:srgbClr val="008000"/>
                </a:solidFill>
                <a:latin typeface="Verdana" panose="020B0604030504040204"/>
                <a:ea typeface="Verdana" panose="020B0604030504040204"/>
                <a:hlinkClick r:id="rId3"/>
              </a:rPr>
              <a:t>String toString()</a:t>
            </a:r>
          </a:p>
          <a:p>
            <a:pPr marL="0" indent="0" algn="l">
              <a:spcBef>
                <a:spcPct val="0"/>
              </a:spcBef>
              <a:spcAft>
                <a:spcPct val="0"/>
              </a:spcAft>
            </a:pPr>
            <a:r>
              <a:rPr sz="1600" b="0" i="0">
                <a:solidFill>
                  <a:srgbClr val="000000"/>
                </a:solidFill>
                <a:latin typeface="Verdana" panose="020B0604030504040204"/>
                <a:ea typeface="Verdana" panose="020B0604030504040204"/>
              </a:rPr>
              <a:t>This method returns the string itself.</a:t>
            </a:r>
          </a:p>
        </p:txBody>
      </p:sp>
      <p:sp>
        <p:nvSpPr>
          <p:cNvPr id="7" name="Text Box 6"/>
          <p:cNvSpPr txBox="1"/>
          <p:nvPr/>
        </p:nvSpPr>
        <p:spPr>
          <a:xfrm>
            <a:off x="208280" y="1042035"/>
            <a:ext cx="10862945" cy="829945"/>
          </a:xfrm>
          <a:prstGeom prst="rect">
            <a:avLst/>
          </a:prstGeom>
        </p:spPr>
        <p:txBody>
          <a:bodyPr wrap="square">
            <a:spAutoFit/>
          </a:bodyPr>
          <a:lstStyle/>
          <a:p>
            <a:pPr marL="0" indent="0" algn="l">
              <a:spcBef>
                <a:spcPct val="0"/>
              </a:spcBef>
              <a:spcAft>
                <a:spcPct val="0"/>
              </a:spcAft>
            </a:pPr>
            <a:r>
              <a:rPr sz="1600" b="1" i="0">
                <a:solidFill>
                  <a:srgbClr val="008000"/>
                </a:solidFill>
                <a:latin typeface="Verdana" panose="020B0604030504040204"/>
                <a:ea typeface="Verdana" panose="020B0604030504040204"/>
                <a:hlinkClick r:id="rId4"/>
              </a:rPr>
              <a:t>String toUpperCase()</a:t>
            </a:r>
          </a:p>
          <a:p>
            <a:pPr marL="0" indent="0" algn="l">
              <a:spcBef>
                <a:spcPct val="0"/>
              </a:spcBef>
              <a:spcAft>
                <a:spcPct val="0"/>
              </a:spcAft>
            </a:pPr>
            <a:r>
              <a:rPr sz="1600" b="0" i="0">
                <a:solidFill>
                  <a:srgbClr val="000000"/>
                </a:solidFill>
                <a:latin typeface="Verdana" panose="020B0604030504040204"/>
                <a:ea typeface="Verdana" panose="020B0604030504040204"/>
              </a:rPr>
              <a:t>This method converts all of the characters in this String to upper case using the rules of the default locale.</a:t>
            </a:r>
          </a:p>
        </p:txBody>
      </p:sp>
      <p:graphicFrame>
        <p:nvGraphicFramePr>
          <p:cNvPr id="9" name="Table 8"/>
          <p:cNvGraphicFramePr/>
          <p:nvPr/>
        </p:nvGraphicFramePr>
        <p:xfrm>
          <a:off x="208280" y="2707005"/>
          <a:ext cx="10485120" cy="366394"/>
        </p:xfrm>
        <a:graphic>
          <a:graphicData uri="http://schemas.openxmlformats.org/drawingml/2006/table">
            <a:tbl>
              <a:tblPr/>
              <a:tblGrid>
                <a:gridCol w="10485120">
                  <a:extLst>
                    <a:ext uri="{9D8B030D-6E8A-4147-A177-3AD203B41FA5}">
                      <a16:colId xmlns:a16="http://schemas.microsoft.com/office/drawing/2014/main" val="20000"/>
                    </a:ext>
                  </a:extLst>
                </a:gridCol>
              </a:tblGrid>
              <a:tr h="0">
                <a:tc>
                  <a:txBody>
                    <a:bodyPr/>
                    <a:lstStyle/>
                    <a:p>
                      <a:pPr marL="0" indent="0" algn="l">
                        <a:spcBef>
                          <a:spcPct val="0"/>
                        </a:spcBef>
                        <a:spcAft>
                          <a:spcPct val="0"/>
                        </a:spcAft>
                      </a:pPr>
                      <a:r>
                        <a:rPr sz="1600" b="1" i="0">
                          <a:solidFill>
                            <a:srgbClr val="008000"/>
                          </a:solidFill>
                          <a:latin typeface="Verdana" panose="020B0604030504040204"/>
                          <a:ea typeface="Verdana" panose="020B0604030504040204"/>
                          <a:hlinkClick r:id="rId5"/>
                        </a:rPr>
                        <a:t>String trim()</a:t>
                      </a:r>
                      <a:r>
                        <a:rPr sz="1600" b="0" i="0">
                          <a:solidFill>
                            <a:srgbClr val="000000"/>
                          </a:solidFill>
                          <a:latin typeface="Verdana" panose="020B0604030504040204"/>
                          <a:ea typeface="Verdana" panose="020B0604030504040204"/>
                        </a:rPr>
                        <a:t>This method returns a copy of the string, with leading and trailing whitespace omitted.</a:t>
                      </a:r>
                      <a:endParaRPr sz="1600" b="0" i="0">
                        <a:solidFill>
                          <a:srgbClr val="000000"/>
                        </a:solidFill>
                        <a:latin typeface="Verdana" panose="020B0604030504040204"/>
                        <a:ea typeface="Verdana" panose="020B0604030504040204"/>
                        <a:hlinkClick r:id="rId5"/>
                      </a:endParaRPr>
                    </a:p>
                  </a:txBody>
                  <a:tcPr marL="61277" marR="61277" marT="61277" marB="61277" anchor="ctr">
                    <a:lnL>
                      <a:noFill/>
                    </a:lnL>
                    <a:lnR>
                      <a:noFill/>
                    </a:lnR>
                    <a:lnT>
                      <a:noFill/>
                    </a:lnT>
                    <a:lnB>
                      <a:noFill/>
                    </a:lnB>
                    <a:noFill/>
                  </a:tcPr>
                </a:tc>
                <a:extLst>
                  <a:ext uri="{0D108BD9-81ED-4DB2-BD59-A6C34878D82A}">
                    <a16:rowId xmlns:a16="http://schemas.microsoft.com/office/drawing/2014/main" val="10000"/>
                  </a:ext>
                </a:extLst>
              </a:tr>
            </a:tbl>
          </a:graphicData>
        </a:graphic>
      </p:graphicFrame>
      <p:pic>
        <p:nvPicPr>
          <p:cNvPr id="12" name="Picture 11"/>
          <p:cNvPicPr>
            <a:picLocks noChangeAspect="1"/>
          </p:cNvPicPr>
          <p:nvPr/>
        </p:nvPicPr>
        <p:blipFill>
          <a:blip r:embed="rId6"/>
          <a:stretch>
            <a:fillRect/>
          </a:stretch>
        </p:blipFill>
        <p:spPr>
          <a:xfrm>
            <a:off x="208280" y="3366770"/>
            <a:ext cx="6059805" cy="2626360"/>
          </a:xfrm>
          <a:prstGeom prst="rect">
            <a:avLst/>
          </a:prstGeom>
        </p:spPr>
      </p:pic>
      <p:pic>
        <p:nvPicPr>
          <p:cNvPr id="13" name="Picture 12"/>
          <p:cNvPicPr>
            <a:picLocks noChangeAspect="1"/>
          </p:cNvPicPr>
          <p:nvPr/>
        </p:nvPicPr>
        <p:blipFill>
          <a:blip r:embed="rId7"/>
          <a:stretch>
            <a:fillRect/>
          </a:stretch>
        </p:blipFill>
        <p:spPr>
          <a:xfrm>
            <a:off x="6487160" y="4112895"/>
            <a:ext cx="4594225" cy="12090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502285" y="398780"/>
            <a:ext cx="4064000" cy="1661795"/>
          </a:xfrm>
          <a:prstGeom prst="rect">
            <a:avLst/>
          </a:prstGeom>
          <a:noFill/>
        </p:spPr>
        <p:txBody>
          <a:bodyPr wrap="square" rtlCol="0">
            <a:noAutofit/>
          </a:bodyPr>
          <a:lstStyle/>
          <a:p>
            <a:r>
              <a:rPr lang="en-US">
                <a:highlight>
                  <a:srgbClr val="FFFF00"/>
                </a:highlight>
              </a:rPr>
              <a:t>Exercise:</a:t>
            </a:r>
            <a:r>
              <a:rPr lang="en-US"/>
              <a:t> Your task is to use all methods for given string </a:t>
            </a:r>
            <a:r>
              <a:rPr lang="en-US" b="1" u="sng"/>
              <a:t>“Gachon     ”</a:t>
            </a:r>
            <a:r>
              <a:rPr lang="en-US"/>
              <a:t> :</a:t>
            </a:r>
          </a:p>
          <a:p>
            <a:r>
              <a:rPr b="1">
                <a:solidFill>
                  <a:srgbClr val="008000"/>
                </a:solidFill>
                <a:latin typeface="Verdana" panose="020B0604030504040204"/>
                <a:ea typeface="Verdana" panose="020B0604030504040204"/>
                <a:sym typeface="+mn-ea"/>
                <a:hlinkClick r:id="rId2"/>
              </a:rPr>
              <a:t>String toLowerCase()</a:t>
            </a:r>
          </a:p>
          <a:p>
            <a:r>
              <a:rPr b="1">
                <a:solidFill>
                  <a:srgbClr val="008000"/>
                </a:solidFill>
                <a:latin typeface="Verdana" panose="020B0604030504040204"/>
                <a:ea typeface="Verdana" panose="020B0604030504040204"/>
                <a:sym typeface="+mn-ea"/>
                <a:hlinkClick r:id="rId3"/>
              </a:rPr>
              <a:t>String toUpperCase()</a:t>
            </a:r>
          </a:p>
          <a:p>
            <a:r>
              <a:rPr b="1">
                <a:solidFill>
                  <a:srgbClr val="008000"/>
                </a:solidFill>
                <a:latin typeface="Verdana" panose="020B0604030504040204"/>
                <a:ea typeface="Verdana" panose="020B0604030504040204"/>
                <a:sym typeface="+mn-ea"/>
                <a:hlinkClick r:id="rId4"/>
              </a:rPr>
              <a:t>String trim()</a:t>
            </a:r>
            <a:endParaRPr b="1">
              <a:solidFill>
                <a:srgbClr val="008000"/>
              </a:solidFill>
              <a:latin typeface="Verdana" panose="020B0604030504040204"/>
              <a:ea typeface="Verdana" panose="020B0604030504040204"/>
              <a:sym typeface="+mn-ea"/>
              <a:hlinkClick r:id="rId3"/>
            </a:endParaRPr>
          </a:p>
          <a:p>
            <a:endParaRPr b="1" i="0">
              <a:solidFill>
                <a:srgbClr val="008000"/>
              </a:solidFill>
              <a:latin typeface="Verdana" panose="020B0604030504040204"/>
              <a:ea typeface="Verdana" panose="020B0604030504040204"/>
              <a:hlinkClick r:id="rId3"/>
            </a:endParaRPr>
          </a:p>
          <a:p>
            <a:endParaRPr b="1" i="0">
              <a:solidFill>
                <a:srgbClr val="008000"/>
              </a:solidFill>
              <a:latin typeface="Verdana" panose="020B0604030504040204"/>
              <a:ea typeface="Verdana" panose="020B0604030504040204"/>
              <a:hlinkClick r:id="rId3"/>
            </a:endParaRPr>
          </a:p>
          <a:p>
            <a:endParaRPr b="1" i="0">
              <a:solidFill>
                <a:srgbClr val="008000"/>
              </a:solidFill>
              <a:latin typeface="Verdana" panose="020B0604030504040204"/>
              <a:ea typeface="Verdana" panose="020B0604030504040204"/>
              <a:hlinkClick r:id="rId2"/>
            </a:endParaRPr>
          </a:p>
          <a:p>
            <a:r>
              <a:rPr lang="en-US"/>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198120" y="161925"/>
            <a:ext cx="11993880" cy="583565"/>
          </a:xfrm>
          <a:prstGeom prst="rect">
            <a:avLst/>
          </a:prstGeom>
        </p:spPr>
        <p:txBody>
          <a:bodyPr wrap="square">
            <a:spAutoFit/>
          </a:bodyPr>
          <a:lstStyle/>
          <a:p>
            <a:pPr marL="0" indent="0"/>
            <a:r>
              <a:rPr sz="1600" b="0" i="0">
                <a:solidFill>
                  <a:srgbClr val="000000"/>
                </a:solidFill>
                <a:latin typeface="Verdana" panose="020B0604030504040204"/>
                <a:ea typeface="Verdana" panose="020B0604030504040204"/>
              </a:rPr>
              <a:t>The </a:t>
            </a:r>
            <a:r>
              <a:rPr sz="1600" b="0" i="0">
                <a:solidFill>
                  <a:srgbClr val="DC143C"/>
                </a:solidFill>
                <a:latin typeface="Consolas" panose="020B0609020204030204"/>
                <a:ea typeface="Consolas" panose="020B0609020204030204"/>
              </a:rPr>
              <a:t>codePointAt(</a:t>
            </a:r>
            <a:r>
              <a:rPr lang="en-US" sz="1600" b="0" i="0">
                <a:solidFill>
                  <a:srgbClr val="DC143C"/>
                </a:solidFill>
                <a:latin typeface="Consolas" panose="020B0609020204030204"/>
                <a:ea typeface="Consolas" panose="020B0609020204030204"/>
              </a:rPr>
              <a:t>index</a:t>
            </a:r>
            <a:r>
              <a:rPr sz="1600" b="0" i="0">
                <a:solidFill>
                  <a:srgbClr val="DC143C"/>
                </a:solidFill>
                <a:latin typeface="Consolas" panose="020B0609020204030204"/>
                <a:ea typeface="Consolas" panose="020B0609020204030204"/>
              </a:rPr>
              <a:t>)</a:t>
            </a:r>
            <a:r>
              <a:rPr sz="1600" b="0" i="0">
                <a:solidFill>
                  <a:srgbClr val="000000"/>
                </a:solidFill>
                <a:latin typeface="Verdana" panose="020B0604030504040204"/>
                <a:ea typeface="Verdana" panose="020B0604030504040204"/>
              </a:rPr>
              <a:t> method returns the Unicode value of the character at the specified index in a string.</a:t>
            </a:r>
          </a:p>
          <a:p>
            <a:pPr marL="0" indent="0"/>
            <a:endParaRPr sz="1600" b="0" i="0">
              <a:solidFill>
                <a:srgbClr val="000000"/>
              </a:solidFill>
              <a:latin typeface="Verdana" panose="020B0604030504040204"/>
              <a:ea typeface="Verdana" panose="020B0604030504040204"/>
            </a:endParaRPr>
          </a:p>
        </p:txBody>
      </p:sp>
      <p:sp>
        <p:nvSpPr>
          <p:cNvPr id="5" name="Text Box 4"/>
          <p:cNvSpPr txBox="1"/>
          <p:nvPr/>
        </p:nvSpPr>
        <p:spPr>
          <a:xfrm>
            <a:off x="198120" y="499110"/>
            <a:ext cx="12250420" cy="337185"/>
          </a:xfrm>
          <a:prstGeom prst="rect">
            <a:avLst/>
          </a:prstGeom>
        </p:spPr>
        <p:txBody>
          <a:bodyPr wrap="square">
            <a:spAutoFit/>
          </a:bodyPr>
          <a:lstStyle/>
          <a:p>
            <a:pPr marL="0" indent="0"/>
            <a:r>
              <a:rPr sz="1600" b="0" i="0">
                <a:solidFill>
                  <a:srgbClr val="000000"/>
                </a:solidFill>
                <a:latin typeface="Verdana" panose="020B0604030504040204"/>
                <a:ea typeface="Verdana" panose="020B0604030504040204"/>
              </a:rPr>
              <a:t>The </a:t>
            </a:r>
            <a:r>
              <a:rPr sz="1600" b="0" i="0">
                <a:solidFill>
                  <a:srgbClr val="DC143C"/>
                </a:solidFill>
                <a:latin typeface="Consolas" panose="020B0609020204030204"/>
                <a:ea typeface="Consolas" panose="020B0609020204030204"/>
              </a:rPr>
              <a:t>codePointBefore(</a:t>
            </a:r>
            <a:r>
              <a:rPr lang="en-US" sz="1600" b="0" i="0">
                <a:solidFill>
                  <a:srgbClr val="DC143C"/>
                </a:solidFill>
                <a:latin typeface="Consolas" panose="020B0609020204030204"/>
                <a:ea typeface="Consolas" panose="020B0609020204030204"/>
              </a:rPr>
              <a:t>index</a:t>
            </a:r>
            <a:r>
              <a:rPr sz="1600" b="0" i="0">
                <a:solidFill>
                  <a:srgbClr val="DC143C"/>
                </a:solidFill>
                <a:latin typeface="Consolas" panose="020B0609020204030204"/>
                <a:ea typeface="Consolas" panose="020B0609020204030204"/>
              </a:rPr>
              <a:t>)</a:t>
            </a:r>
            <a:r>
              <a:rPr sz="1600" b="0" i="0">
                <a:solidFill>
                  <a:srgbClr val="000000"/>
                </a:solidFill>
                <a:latin typeface="Verdana" panose="020B0604030504040204"/>
                <a:ea typeface="Verdana" panose="020B0604030504040204"/>
              </a:rPr>
              <a:t> method returns the Unicode value of the character before the specified index in a string.</a:t>
            </a:r>
          </a:p>
        </p:txBody>
      </p:sp>
      <p:sp>
        <p:nvSpPr>
          <p:cNvPr id="7" name="Text Box 6"/>
          <p:cNvSpPr txBox="1"/>
          <p:nvPr/>
        </p:nvSpPr>
        <p:spPr>
          <a:xfrm>
            <a:off x="198120" y="836295"/>
            <a:ext cx="11565255" cy="583565"/>
          </a:xfrm>
          <a:prstGeom prst="rect">
            <a:avLst/>
          </a:prstGeom>
        </p:spPr>
        <p:txBody>
          <a:bodyPr wrap="square">
            <a:spAutoFit/>
          </a:bodyPr>
          <a:lstStyle/>
          <a:p>
            <a:pPr marL="0" indent="0">
              <a:spcBef>
                <a:spcPts val="1200"/>
              </a:spcBef>
              <a:spcAft>
                <a:spcPts val="1200"/>
              </a:spcAft>
            </a:pPr>
            <a:r>
              <a:rPr sz="1600" b="0" i="0">
                <a:solidFill>
                  <a:srgbClr val="000000"/>
                </a:solidFill>
                <a:latin typeface="Verdana" panose="020B0604030504040204"/>
                <a:ea typeface="Verdana" panose="020B0604030504040204"/>
              </a:rPr>
              <a:t>The </a:t>
            </a:r>
            <a:r>
              <a:rPr sz="1600" b="0" i="0">
                <a:solidFill>
                  <a:srgbClr val="DC143C"/>
                </a:solidFill>
                <a:latin typeface="Consolas" panose="020B0609020204030204"/>
                <a:ea typeface="Consolas" panose="020B0609020204030204"/>
              </a:rPr>
              <a:t>contains(</a:t>
            </a:r>
            <a:r>
              <a:rPr lang="en-US" sz="1600" b="0" i="0">
                <a:solidFill>
                  <a:srgbClr val="DC143C"/>
                </a:solidFill>
                <a:latin typeface="Consolas" panose="020B0609020204030204"/>
                <a:ea typeface="Consolas" panose="020B0609020204030204"/>
              </a:rPr>
              <a:t>“characters”</a:t>
            </a:r>
            <a:r>
              <a:rPr sz="1600" b="0" i="0">
                <a:solidFill>
                  <a:srgbClr val="DC143C"/>
                </a:solidFill>
                <a:latin typeface="Consolas" panose="020B0609020204030204"/>
                <a:ea typeface="Consolas" panose="020B0609020204030204"/>
              </a:rPr>
              <a:t>)</a:t>
            </a:r>
            <a:r>
              <a:rPr sz="1600" b="0" i="0">
                <a:solidFill>
                  <a:srgbClr val="000000"/>
                </a:solidFill>
                <a:latin typeface="Verdana" panose="020B0604030504040204"/>
                <a:ea typeface="Verdana" panose="020B0604030504040204"/>
              </a:rPr>
              <a:t> method checks whether a string contains a sequence of characters.</a:t>
            </a:r>
            <a:r>
              <a:rPr lang="en-US" sz="1600" b="0" i="0">
                <a:solidFill>
                  <a:srgbClr val="000000"/>
                </a:solidFill>
                <a:latin typeface="Verdana" panose="020B0604030504040204"/>
                <a:ea typeface="Verdana" panose="020B0604030504040204"/>
              </a:rPr>
              <a:t> </a:t>
            </a:r>
            <a:r>
              <a:rPr sz="1600" b="0" i="0">
                <a:solidFill>
                  <a:srgbClr val="000000"/>
                </a:solidFill>
                <a:latin typeface="Verdana" panose="020B0604030504040204"/>
                <a:ea typeface="Verdana" panose="020B0604030504040204"/>
              </a:rPr>
              <a:t>Returns </a:t>
            </a:r>
            <a:r>
              <a:rPr sz="1600" b="0" i="0">
                <a:solidFill>
                  <a:srgbClr val="DC143C"/>
                </a:solidFill>
                <a:latin typeface="Consolas" panose="020B0609020204030204"/>
                <a:ea typeface="Consolas" panose="020B0609020204030204"/>
              </a:rPr>
              <a:t>true</a:t>
            </a:r>
            <a:r>
              <a:rPr sz="1600" b="0" i="0">
                <a:solidFill>
                  <a:srgbClr val="000000"/>
                </a:solidFill>
                <a:latin typeface="Verdana" panose="020B0604030504040204"/>
                <a:ea typeface="Verdana" panose="020B0604030504040204"/>
              </a:rPr>
              <a:t> if the characters exist and </a:t>
            </a:r>
            <a:r>
              <a:rPr sz="1600" b="0" i="0">
                <a:solidFill>
                  <a:srgbClr val="DC143C"/>
                </a:solidFill>
                <a:latin typeface="Consolas" panose="020B0609020204030204"/>
                <a:ea typeface="Consolas" panose="020B0609020204030204"/>
              </a:rPr>
              <a:t>false</a:t>
            </a:r>
            <a:r>
              <a:rPr sz="1600" b="0" i="0">
                <a:solidFill>
                  <a:srgbClr val="000000"/>
                </a:solidFill>
                <a:latin typeface="Verdana" panose="020B0604030504040204"/>
                <a:ea typeface="Verdana" panose="020B0604030504040204"/>
              </a:rPr>
              <a:t> if not.</a:t>
            </a:r>
          </a:p>
        </p:txBody>
      </p:sp>
      <p:sp>
        <p:nvSpPr>
          <p:cNvPr id="9" name="Text Box 8"/>
          <p:cNvSpPr txBox="1"/>
          <p:nvPr/>
        </p:nvSpPr>
        <p:spPr>
          <a:xfrm>
            <a:off x="198120" y="1419860"/>
            <a:ext cx="11680825" cy="337185"/>
          </a:xfrm>
          <a:prstGeom prst="rect">
            <a:avLst/>
          </a:prstGeom>
        </p:spPr>
        <p:txBody>
          <a:bodyPr wrap="square">
            <a:spAutoFit/>
          </a:bodyPr>
          <a:lstStyle/>
          <a:p>
            <a:pPr marL="0" indent="0"/>
            <a:r>
              <a:rPr sz="1600" b="0" i="0">
                <a:solidFill>
                  <a:srgbClr val="000000"/>
                </a:solidFill>
                <a:latin typeface="Verdana" panose="020B0604030504040204"/>
                <a:ea typeface="Verdana" panose="020B0604030504040204"/>
              </a:rPr>
              <a:t>The </a:t>
            </a:r>
            <a:r>
              <a:rPr sz="1600" b="0" i="0">
                <a:solidFill>
                  <a:srgbClr val="DC143C"/>
                </a:solidFill>
                <a:latin typeface="Consolas" panose="020B0609020204030204"/>
                <a:ea typeface="Consolas" panose="020B0609020204030204"/>
              </a:rPr>
              <a:t>endsWith(</a:t>
            </a:r>
            <a:r>
              <a:rPr lang="en-US" sz="1600" b="0" i="0">
                <a:solidFill>
                  <a:srgbClr val="DC143C"/>
                </a:solidFill>
                <a:latin typeface="Consolas" panose="020B0609020204030204"/>
                <a:ea typeface="Consolas" panose="020B0609020204030204"/>
              </a:rPr>
              <a:t>“char”</a:t>
            </a:r>
            <a:r>
              <a:rPr sz="1600" b="0" i="0">
                <a:solidFill>
                  <a:srgbClr val="DC143C"/>
                </a:solidFill>
                <a:latin typeface="Consolas" panose="020B0609020204030204"/>
                <a:ea typeface="Consolas" panose="020B0609020204030204"/>
              </a:rPr>
              <a:t>)</a:t>
            </a:r>
            <a:r>
              <a:rPr sz="1600" b="0" i="0">
                <a:solidFill>
                  <a:srgbClr val="000000"/>
                </a:solidFill>
                <a:latin typeface="Verdana" panose="020B0604030504040204"/>
                <a:ea typeface="Verdana" panose="020B0604030504040204"/>
              </a:rPr>
              <a:t> method checks whether a string ends with the specified character(s).</a:t>
            </a:r>
          </a:p>
        </p:txBody>
      </p:sp>
      <p:sp>
        <p:nvSpPr>
          <p:cNvPr id="10" name="Text Box 9"/>
          <p:cNvSpPr txBox="1"/>
          <p:nvPr/>
        </p:nvSpPr>
        <p:spPr>
          <a:xfrm>
            <a:off x="198120" y="1842770"/>
            <a:ext cx="11642725" cy="583565"/>
          </a:xfrm>
          <a:prstGeom prst="rect">
            <a:avLst/>
          </a:prstGeom>
        </p:spPr>
        <p:txBody>
          <a:bodyPr wrap="square">
            <a:spAutoFit/>
          </a:bodyPr>
          <a:lstStyle/>
          <a:p>
            <a:pPr marL="0" indent="0">
              <a:spcBef>
                <a:spcPts val="1200"/>
              </a:spcBef>
              <a:spcAft>
                <a:spcPts val="1200"/>
              </a:spcAft>
            </a:pPr>
            <a:r>
              <a:rPr sz="1600" b="0" i="0">
                <a:solidFill>
                  <a:srgbClr val="000000"/>
                </a:solidFill>
                <a:latin typeface="Verdana" panose="020B0604030504040204"/>
                <a:ea typeface="Verdana" panose="020B0604030504040204"/>
              </a:rPr>
              <a:t>The </a:t>
            </a:r>
            <a:r>
              <a:rPr sz="1600" b="0" i="0">
                <a:solidFill>
                  <a:srgbClr val="DC143C"/>
                </a:solidFill>
                <a:latin typeface="Consolas" panose="020B0609020204030204"/>
                <a:ea typeface="Consolas" panose="020B0609020204030204"/>
              </a:rPr>
              <a:t>isEmpty()</a:t>
            </a:r>
            <a:r>
              <a:rPr sz="1600" b="0" i="0">
                <a:solidFill>
                  <a:srgbClr val="000000"/>
                </a:solidFill>
                <a:latin typeface="Verdana" panose="020B0604030504040204"/>
                <a:ea typeface="Verdana" panose="020B0604030504040204"/>
              </a:rPr>
              <a:t> method checks whether a string is empty or not.</a:t>
            </a:r>
            <a:r>
              <a:rPr lang="en-US" sz="1600" b="0" i="0">
                <a:solidFill>
                  <a:srgbClr val="000000"/>
                </a:solidFill>
                <a:latin typeface="Verdana" panose="020B0604030504040204"/>
                <a:ea typeface="Verdana" panose="020B0604030504040204"/>
              </a:rPr>
              <a:t> </a:t>
            </a:r>
            <a:r>
              <a:rPr sz="1600" b="0" i="0">
                <a:solidFill>
                  <a:srgbClr val="000000"/>
                </a:solidFill>
                <a:latin typeface="Verdana" panose="020B0604030504040204"/>
                <a:ea typeface="Verdana" panose="020B0604030504040204"/>
              </a:rPr>
              <a:t>This method returns true if the string is empty (</a:t>
            </a:r>
            <a:r>
              <a:rPr sz="1600" b="0" i="0">
                <a:solidFill>
                  <a:srgbClr val="000000"/>
                </a:solidFill>
                <a:latin typeface="Verdana" panose="020B0604030504040204"/>
                <a:ea typeface="Verdana" panose="020B0604030504040204"/>
                <a:hlinkClick r:id="rId2"/>
              </a:rPr>
              <a:t>length()</a:t>
            </a:r>
            <a:r>
              <a:rPr sz="1600" b="0" i="0">
                <a:solidFill>
                  <a:srgbClr val="000000"/>
                </a:solidFill>
                <a:latin typeface="Verdana" panose="020B0604030504040204"/>
                <a:ea typeface="Verdana" panose="020B0604030504040204"/>
              </a:rPr>
              <a:t> is 0), and false if not.</a:t>
            </a:r>
          </a:p>
        </p:txBody>
      </p:sp>
      <p:pic>
        <p:nvPicPr>
          <p:cNvPr id="11" name="Picture 10"/>
          <p:cNvPicPr>
            <a:picLocks noChangeAspect="1"/>
          </p:cNvPicPr>
          <p:nvPr/>
        </p:nvPicPr>
        <p:blipFill>
          <a:blip r:embed="rId3"/>
          <a:stretch>
            <a:fillRect/>
          </a:stretch>
        </p:blipFill>
        <p:spPr>
          <a:xfrm>
            <a:off x="289560" y="2512060"/>
            <a:ext cx="5753100" cy="4290060"/>
          </a:xfrm>
          <a:prstGeom prst="rect">
            <a:avLst/>
          </a:prstGeom>
        </p:spPr>
      </p:pic>
      <p:pic>
        <p:nvPicPr>
          <p:cNvPr id="12" name="Picture 11"/>
          <p:cNvPicPr>
            <a:picLocks noChangeAspect="1"/>
          </p:cNvPicPr>
          <p:nvPr/>
        </p:nvPicPr>
        <p:blipFill>
          <a:blip r:embed="rId4"/>
          <a:stretch>
            <a:fillRect/>
          </a:stretch>
        </p:blipFill>
        <p:spPr>
          <a:xfrm>
            <a:off x="6210300" y="3583940"/>
            <a:ext cx="5765800" cy="186753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241935" y="243205"/>
            <a:ext cx="11870055" cy="368300"/>
          </a:xfrm>
          <a:prstGeom prst="rect">
            <a:avLst/>
          </a:prstGeom>
          <a:noFill/>
        </p:spPr>
        <p:txBody>
          <a:bodyPr wrap="square" rtlCol="0" anchor="t">
            <a:spAutoFit/>
          </a:bodyPr>
          <a:lstStyle/>
          <a:p>
            <a:r>
              <a:rPr lang="en-US">
                <a:highlight>
                  <a:srgbClr val="FFFF00"/>
                </a:highlight>
                <a:sym typeface="+mn-ea"/>
              </a:rPr>
              <a:t>Exercise:</a:t>
            </a:r>
            <a:r>
              <a:rPr lang="en-US">
                <a:sym typeface="+mn-ea"/>
              </a:rPr>
              <a:t> Your task is to use all methods for given string </a:t>
            </a:r>
            <a:r>
              <a:rPr lang="en-US" b="1" u="sng">
                <a:sym typeface="+mn-ea"/>
              </a:rPr>
              <a:t>“Java is name of coffee    ”</a:t>
            </a:r>
            <a:r>
              <a:rPr lang="en-US">
                <a:sym typeface="+mn-ea"/>
              </a:rPr>
              <a:t> : as a index you can give any number </a:t>
            </a:r>
          </a:p>
        </p:txBody>
      </p:sp>
      <p:sp>
        <p:nvSpPr>
          <p:cNvPr id="5" name="Text Box 4"/>
          <p:cNvSpPr txBox="1"/>
          <p:nvPr/>
        </p:nvSpPr>
        <p:spPr>
          <a:xfrm>
            <a:off x="327660" y="701040"/>
            <a:ext cx="6096000" cy="337185"/>
          </a:xfrm>
          <a:prstGeom prst="rect">
            <a:avLst/>
          </a:prstGeom>
          <a:noFill/>
        </p:spPr>
        <p:txBody>
          <a:bodyPr wrap="square" rtlCol="0" anchor="t">
            <a:spAutoFit/>
          </a:bodyPr>
          <a:lstStyle/>
          <a:p>
            <a:r>
              <a:rPr sz="1600">
                <a:solidFill>
                  <a:srgbClr val="DC143C"/>
                </a:solidFill>
                <a:latin typeface="Consolas" panose="020B0609020204030204"/>
                <a:ea typeface="Consolas" panose="020B0609020204030204"/>
                <a:sym typeface="+mn-ea"/>
              </a:rPr>
              <a:t>codePointAt()</a:t>
            </a:r>
            <a:r>
              <a:rPr sz="1600">
                <a:solidFill>
                  <a:srgbClr val="000000"/>
                </a:solidFill>
                <a:latin typeface="Verdana" panose="020B0604030504040204"/>
                <a:ea typeface="Verdana" panose="020B0604030504040204"/>
                <a:sym typeface="+mn-ea"/>
              </a:rPr>
              <a:t> </a:t>
            </a:r>
            <a:endParaRPr lang="en-US" sz="1600">
              <a:solidFill>
                <a:srgbClr val="000000"/>
              </a:solidFill>
              <a:latin typeface="Verdana" panose="020B0604030504040204"/>
              <a:ea typeface="Verdana" panose="020B0604030504040204"/>
              <a:sym typeface="+mn-ea"/>
            </a:endParaRPr>
          </a:p>
        </p:txBody>
      </p:sp>
      <p:sp>
        <p:nvSpPr>
          <p:cNvPr id="6" name="Text Box 5"/>
          <p:cNvSpPr txBox="1"/>
          <p:nvPr/>
        </p:nvSpPr>
        <p:spPr>
          <a:xfrm>
            <a:off x="327660" y="1038225"/>
            <a:ext cx="6096000" cy="337185"/>
          </a:xfrm>
          <a:prstGeom prst="rect">
            <a:avLst/>
          </a:prstGeom>
          <a:noFill/>
        </p:spPr>
        <p:txBody>
          <a:bodyPr wrap="square" rtlCol="0" anchor="t">
            <a:spAutoFit/>
          </a:bodyPr>
          <a:lstStyle/>
          <a:p>
            <a:r>
              <a:rPr sz="1600">
                <a:solidFill>
                  <a:srgbClr val="DC143C"/>
                </a:solidFill>
                <a:latin typeface="Consolas" panose="020B0609020204030204"/>
                <a:ea typeface="Consolas" panose="020B0609020204030204"/>
                <a:sym typeface="+mn-ea"/>
              </a:rPr>
              <a:t>codePointBefore()</a:t>
            </a:r>
            <a:endParaRPr lang="en-US" sz="1600">
              <a:solidFill>
                <a:srgbClr val="DC143C"/>
              </a:solidFill>
              <a:latin typeface="Consolas" panose="020B0609020204030204"/>
              <a:ea typeface="Consolas" panose="020B0609020204030204"/>
              <a:sym typeface="+mn-ea"/>
            </a:endParaRPr>
          </a:p>
        </p:txBody>
      </p:sp>
      <p:sp>
        <p:nvSpPr>
          <p:cNvPr id="7" name="Text Box 6"/>
          <p:cNvSpPr txBox="1"/>
          <p:nvPr/>
        </p:nvSpPr>
        <p:spPr>
          <a:xfrm>
            <a:off x="327660" y="1375410"/>
            <a:ext cx="6096000" cy="337185"/>
          </a:xfrm>
          <a:prstGeom prst="rect">
            <a:avLst/>
          </a:prstGeom>
          <a:noFill/>
        </p:spPr>
        <p:txBody>
          <a:bodyPr wrap="square" rtlCol="0" anchor="t">
            <a:spAutoFit/>
          </a:bodyPr>
          <a:lstStyle/>
          <a:p>
            <a:r>
              <a:rPr sz="1600">
                <a:solidFill>
                  <a:srgbClr val="DC143C"/>
                </a:solidFill>
                <a:latin typeface="Consolas" panose="020B0609020204030204"/>
                <a:ea typeface="Consolas" panose="020B0609020204030204"/>
                <a:sym typeface="+mn-ea"/>
              </a:rPr>
              <a:t>contains()</a:t>
            </a:r>
            <a:endParaRPr lang="en-US" sz="1600">
              <a:solidFill>
                <a:srgbClr val="DC143C"/>
              </a:solidFill>
              <a:latin typeface="Consolas" panose="020B0609020204030204"/>
              <a:ea typeface="Consolas" panose="020B0609020204030204"/>
              <a:sym typeface="+mn-ea"/>
            </a:endParaRPr>
          </a:p>
        </p:txBody>
      </p:sp>
      <p:sp>
        <p:nvSpPr>
          <p:cNvPr id="8" name="Text Box 7"/>
          <p:cNvSpPr txBox="1"/>
          <p:nvPr/>
        </p:nvSpPr>
        <p:spPr>
          <a:xfrm>
            <a:off x="327660" y="1748155"/>
            <a:ext cx="6096000" cy="337185"/>
          </a:xfrm>
          <a:prstGeom prst="rect">
            <a:avLst/>
          </a:prstGeom>
          <a:noFill/>
        </p:spPr>
        <p:txBody>
          <a:bodyPr wrap="square" rtlCol="0" anchor="t">
            <a:spAutoFit/>
          </a:bodyPr>
          <a:lstStyle/>
          <a:p>
            <a:r>
              <a:rPr sz="1600">
                <a:solidFill>
                  <a:srgbClr val="DC143C"/>
                </a:solidFill>
                <a:latin typeface="Consolas" panose="020B0609020204030204"/>
                <a:ea typeface="Consolas" panose="020B0609020204030204"/>
                <a:sym typeface="+mn-ea"/>
              </a:rPr>
              <a:t>endsWith()</a:t>
            </a:r>
            <a:endParaRPr lang="en-US" sz="1600">
              <a:solidFill>
                <a:srgbClr val="DC143C"/>
              </a:solidFill>
              <a:latin typeface="Consolas" panose="020B0609020204030204"/>
              <a:ea typeface="Consolas" panose="020B0609020204030204"/>
              <a:sym typeface="+mn-ea"/>
            </a:endParaRPr>
          </a:p>
        </p:txBody>
      </p:sp>
      <p:sp>
        <p:nvSpPr>
          <p:cNvPr id="9" name="Text Box 8"/>
          <p:cNvSpPr txBox="1"/>
          <p:nvPr/>
        </p:nvSpPr>
        <p:spPr>
          <a:xfrm>
            <a:off x="327660" y="2120900"/>
            <a:ext cx="6096000" cy="337185"/>
          </a:xfrm>
          <a:prstGeom prst="rect">
            <a:avLst/>
          </a:prstGeom>
          <a:noFill/>
        </p:spPr>
        <p:txBody>
          <a:bodyPr wrap="square" rtlCol="0" anchor="t">
            <a:spAutoFit/>
          </a:bodyPr>
          <a:lstStyle/>
          <a:p>
            <a:r>
              <a:rPr sz="1600">
                <a:solidFill>
                  <a:srgbClr val="DC143C"/>
                </a:solidFill>
                <a:latin typeface="Consolas" panose="020B0609020204030204"/>
                <a:ea typeface="Consolas" panose="020B0609020204030204"/>
                <a:sym typeface="+mn-ea"/>
              </a:rPr>
              <a:t>isEmpty()</a:t>
            </a:r>
            <a:endParaRPr lang="en-US" sz="1600">
              <a:solidFill>
                <a:srgbClr val="DC143C"/>
              </a:solidFill>
              <a:latin typeface="Consolas" panose="020B0609020204030204"/>
              <a:ea typeface="Consolas" panose="020B0609020204030204"/>
              <a:sym typeface="+mn-ea"/>
            </a:endParaRPr>
          </a:p>
        </p:txBody>
      </p:sp>
      <p:sp>
        <p:nvSpPr>
          <p:cNvPr id="2" name="Text Box 1"/>
          <p:cNvSpPr txBox="1"/>
          <p:nvPr/>
        </p:nvSpPr>
        <p:spPr>
          <a:xfrm>
            <a:off x="683260" y="3252470"/>
            <a:ext cx="4064000" cy="368300"/>
          </a:xfrm>
          <a:prstGeom prst="rect">
            <a:avLst/>
          </a:prstGeom>
          <a:noFill/>
        </p:spPr>
        <p:txBody>
          <a:bodyPr wrap="square" rtlCol="0">
            <a:spAutoFit/>
          </a:bodyPr>
          <a:lstStyle/>
          <a:p>
            <a:r>
              <a:rPr lang="en-US"/>
              <a:t>dont forget the screenshot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113030" y="207645"/>
            <a:ext cx="10539095" cy="583565"/>
          </a:xfrm>
          <a:prstGeom prst="rect">
            <a:avLst/>
          </a:prstGeom>
        </p:spPr>
        <p:txBody>
          <a:bodyPr wrap="square">
            <a:spAutoFit/>
          </a:bodyPr>
          <a:lstStyle/>
          <a:p>
            <a:pPr marL="0" indent="0" algn="l">
              <a:spcBef>
                <a:spcPct val="0"/>
              </a:spcBef>
              <a:spcAft>
                <a:spcPct val="0"/>
              </a:spcAft>
            </a:pPr>
            <a:r>
              <a:rPr sz="1600" b="1" i="0">
                <a:solidFill>
                  <a:srgbClr val="008000"/>
                </a:solidFill>
                <a:latin typeface="Verdana" panose="020B0604030504040204"/>
                <a:ea typeface="Verdana" panose="020B0604030504040204"/>
                <a:hlinkClick r:id="rId2"/>
              </a:rPr>
              <a:t>char charAt(int index)</a:t>
            </a:r>
          </a:p>
          <a:p>
            <a:pPr marL="0" indent="0" algn="l">
              <a:spcBef>
                <a:spcPct val="0"/>
              </a:spcBef>
              <a:spcAft>
                <a:spcPct val="0"/>
              </a:spcAft>
            </a:pPr>
            <a:r>
              <a:rPr sz="1600" b="0" i="0">
                <a:solidFill>
                  <a:srgbClr val="000000"/>
                </a:solidFill>
                <a:latin typeface="Verdana" panose="020B0604030504040204"/>
                <a:ea typeface="Verdana" panose="020B0604030504040204"/>
              </a:rPr>
              <a:t>This method returns the char value at the specified index.</a:t>
            </a:r>
          </a:p>
        </p:txBody>
      </p:sp>
      <p:sp>
        <p:nvSpPr>
          <p:cNvPr id="5" name="Text Box 4"/>
          <p:cNvSpPr txBox="1"/>
          <p:nvPr/>
        </p:nvSpPr>
        <p:spPr>
          <a:xfrm>
            <a:off x="113030" y="894715"/>
            <a:ext cx="11374120" cy="645160"/>
          </a:xfrm>
          <a:prstGeom prst="rect">
            <a:avLst/>
          </a:prstGeom>
          <a:noFill/>
        </p:spPr>
        <p:txBody>
          <a:bodyPr wrap="square" rtlCol="0" anchor="t">
            <a:spAutoFit/>
          </a:bodyPr>
          <a:lstStyle/>
          <a:p>
            <a:r>
              <a:rPr lang="en-US" altLang="en-US" b="1"/>
              <a:t>.substring(index(beginning,ending) </a:t>
            </a:r>
            <a:r>
              <a:rPr lang="en-US" altLang="en-US"/>
              <a:t>method of String class returns a substring from the given string. This method is most useful when you deal with text manipulation, parsing, or data extraction.</a:t>
            </a:r>
            <a:endParaRPr lang="en-US"/>
          </a:p>
        </p:txBody>
      </p:sp>
      <p:sp>
        <p:nvSpPr>
          <p:cNvPr id="6" name="Text Box 5"/>
          <p:cNvSpPr txBox="1"/>
          <p:nvPr/>
        </p:nvSpPr>
        <p:spPr>
          <a:xfrm>
            <a:off x="185420" y="1621790"/>
            <a:ext cx="11301730" cy="645160"/>
          </a:xfrm>
          <a:prstGeom prst="rect">
            <a:avLst/>
          </a:prstGeom>
          <a:noFill/>
        </p:spPr>
        <p:txBody>
          <a:bodyPr wrap="square" rtlCol="0" anchor="t">
            <a:spAutoFit/>
          </a:bodyPr>
          <a:lstStyle/>
          <a:p>
            <a:r>
              <a:rPr lang="en-US" altLang="en-US" b="1"/>
              <a:t>String indexOf(‘char’)</a:t>
            </a:r>
            <a:r>
              <a:rPr lang="en-US" altLang="en-US"/>
              <a:t> method returns the position of the first occurrence of the specified character or string in a specified string. </a:t>
            </a:r>
            <a:endParaRPr lang="en-US"/>
          </a:p>
        </p:txBody>
      </p:sp>
      <p:pic>
        <p:nvPicPr>
          <p:cNvPr id="7" name="Picture 6"/>
          <p:cNvPicPr>
            <a:picLocks noChangeAspect="1"/>
          </p:cNvPicPr>
          <p:nvPr/>
        </p:nvPicPr>
        <p:blipFill>
          <a:blip r:embed="rId3"/>
          <a:stretch>
            <a:fillRect/>
          </a:stretch>
        </p:blipFill>
        <p:spPr>
          <a:xfrm>
            <a:off x="113030" y="2520315"/>
            <a:ext cx="7170420" cy="3947160"/>
          </a:xfrm>
          <a:prstGeom prst="rect">
            <a:avLst/>
          </a:prstGeom>
        </p:spPr>
      </p:pic>
      <p:pic>
        <p:nvPicPr>
          <p:cNvPr id="8" name="Picture 7"/>
          <p:cNvPicPr>
            <a:picLocks noChangeAspect="1"/>
          </p:cNvPicPr>
          <p:nvPr/>
        </p:nvPicPr>
        <p:blipFill>
          <a:blip r:embed="rId4"/>
          <a:stretch>
            <a:fillRect/>
          </a:stretch>
        </p:blipFill>
        <p:spPr>
          <a:xfrm>
            <a:off x="7646035" y="3719195"/>
            <a:ext cx="4122420" cy="1074420"/>
          </a:xfrm>
          <a:prstGeom prst="rect">
            <a:avLst/>
          </a:prstGeom>
        </p:spPr>
      </p:pic>
      <p:sp>
        <p:nvSpPr>
          <p:cNvPr id="9" name="Rectangles 8"/>
          <p:cNvSpPr/>
          <p:nvPr/>
        </p:nvSpPr>
        <p:spPr>
          <a:xfrm>
            <a:off x="808990" y="3571240"/>
            <a:ext cx="5170805" cy="268605"/>
          </a:xfrm>
          <a:prstGeom prst="rect">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a:p>
        </p:txBody>
      </p:sp>
      <p:sp>
        <p:nvSpPr>
          <p:cNvPr id="10" name="Rectangles 9"/>
          <p:cNvSpPr/>
          <p:nvPr/>
        </p:nvSpPr>
        <p:spPr>
          <a:xfrm>
            <a:off x="808990" y="4232275"/>
            <a:ext cx="6473825" cy="457835"/>
          </a:xfrm>
          <a:prstGeom prst="rect">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a:p>
        </p:txBody>
      </p:sp>
      <p:sp>
        <p:nvSpPr>
          <p:cNvPr id="11" name="Rectangles 10"/>
          <p:cNvSpPr/>
          <p:nvPr/>
        </p:nvSpPr>
        <p:spPr>
          <a:xfrm>
            <a:off x="808990" y="5082540"/>
            <a:ext cx="5170805" cy="268605"/>
          </a:xfrm>
          <a:prstGeom prst="rect">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1272540" y="589280"/>
            <a:ext cx="9856470" cy="2306955"/>
          </a:xfrm>
          <a:prstGeom prst="rect">
            <a:avLst/>
          </a:prstGeom>
          <a:noFill/>
        </p:spPr>
        <p:txBody>
          <a:bodyPr wrap="square" rtlCol="0">
            <a:spAutoFit/>
          </a:bodyPr>
          <a:lstStyle/>
          <a:p>
            <a:r>
              <a:rPr lang="en-US"/>
              <a:t>Exercise: Your task is to use all methods for string </a:t>
            </a:r>
            <a:r>
              <a:rPr lang="en-US" b="1" u="sng"/>
              <a:t>“</a:t>
            </a:r>
            <a:r>
              <a:rPr lang="en-US" altLang="en-US" b="1" u="sng"/>
              <a:t>Education is the most powerful weapon which you can use to change the world</a:t>
            </a:r>
            <a:r>
              <a:rPr lang="en-US" b="1" u="sng"/>
              <a:t>”  </a:t>
            </a:r>
            <a:r>
              <a:rPr lang="en-US"/>
              <a:t>find </a:t>
            </a:r>
            <a:r>
              <a:rPr lang="en-US" b="1"/>
              <a:t>idx=12, substring = [4;14] and char=’p’.</a:t>
            </a:r>
            <a:endParaRPr lang="en-US" b="1" u="sng"/>
          </a:p>
          <a:p>
            <a:endParaRPr lang="en-US" b="1" u="sng"/>
          </a:p>
          <a:p>
            <a:endParaRPr lang="en-US" b="1" u="sng"/>
          </a:p>
          <a:p>
            <a:r>
              <a:rPr b="1">
                <a:solidFill>
                  <a:srgbClr val="008000"/>
                </a:solidFill>
                <a:latin typeface="Verdana" panose="020B0604030504040204"/>
                <a:ea typeface="Verdana" panose="020B0604030504040204"/>
                <a:sym typeface="+mn-ea"/>
                <a:hlinkClick r:id="rId2"/>
              </a:rPr>
              <a:t>char charAt(int index)</a:t>
            </a:r>
          </a:p>
          <a:p>
            <a:r>
              <a:rPr lang="en-US" altLang="en-US" b="1">
                <a:sym typeface="+mn-ea"/>
              </a:rPr>
              <a:t>.substring()</a:t>
            </a:r>
          </a:p>
          <a:p>
            <a:r>
              <a:rPr lang="en-US" altLang="en-US" b="1">
                <a:sym typeface="+mn-ea"/>
              </a:rPr>
              <a:t>String indexOf()</a:t>
            </a:r>
            <a:endParaRPr b="1" i="0">
              <a:solidFill>
                <a:srgbClr val="008000"/>
              </a:solidFill>
              <a:latin typeface="Verdana" panose="020B0604030504040204"/>
              <a:ea typeface="Verdana" panose="020B0604030504040204"/>
              <a:hlinkClick r:id="rId2"/>
            </a:endParaRPr>
          </a:p>
          <a:p>
            <a:r>
              <a:rPr lang="en-US"/>
              <a:t> </a:t>
            </a:r>
          </a:p>
        </p:txBody>
      </p:sp>
      <p:sp>
        <p:nvSpPr>
          <p:cNvPr id="2" name="Text Box 1"/>
          <p:cNvSpPr txBox="1"/>
          <p:nvPr/>
        </p:nvSpPr>
        <p:spPr>
          <a:xfrm>
            <a:off x="1393190" y="3130550"/>
            <a:ext cx="6096000" cy="368300"/>
          </a:xfrm>
          <a:prstGeom prst="rect">
            <a:avLst/>
          </a:prstGeom>
          <a:noFill/>
        </p:spPr>
        <p:txBody>
          <a:bodyPr wrap="square" rtlCol="0" anchor="t">
            <a:spAutoFit/>
          </a:bodyPr>
          <a:lstStyle/>
          <a:p>
            <a:r>
              <a:rPr lang="en-US">
                <a:sym typeface="+mn-ea"/>
              </a:rPr>
              <a:t>dont forget the screenshot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2743835" y="286385"/>
            <a:ext cx="6096000" cy="460375"/>
          </a:xfrm>
          <a:prstGeom prst="rect">
            <a:avLst/>
          </a:prstGeom>
          <a:noFill/>
        </p:spPr>
        <p:txBody>
          <a:bodyPr wrap="square" rtlCol="0" anchor="t">
            <a:spAutoFit/>
          </a:bodyPr>
          <a:lstStyle/>
          <a:p>
            <a:pPr algn="ctr"/>
            <a:r>
              <a:rPr lang="en-US" altLang="en-US" sz="2400"/>
              <a:t>User Input in Java</a:t>
            </a:r>
          </a:p>
        </p:txBody>
      </p:sp>
      <p:sp>
        <p:nvSpPr>
          <p:cNvPr id="6" name="Text Box 5"/>
          <p:cNvSpPr txBox="1"/>
          <p:nvPr/>
        </p:nvSpPr>
        <p:spPr>
          <a:xfrm>
            <a:off x="241935" y="911860"/>
            <a:ext cx="11707495" cy="645160"/>
          </a:xfrm>
          <a:prstGeom prst="rect">
            <a:avLst/>
          </a:prstGeom>
          <a:noFill/>
        </p:spPr>
        <p:txBody>
          <a:bodyPr wrap="square" rtlCol="0" anchor="t">
            <a:spAutoFit/>
          </a:bodyPr>
          <a:lstStyle/>
          <a:p>
            <a:r>
              <a:rPr lang="en-US" altLang="en-US"/>
              <a:t>To take input from the user in Java, the Scanner class is used. The Scanner class a built-in class of java.util package. Java </a:t>
            </a:r>
            <a:r>
              <a:rPr lang="en-US" altLang="en-US">
                <a:highlight>
                  <a:srgbClr val="00FF00"/>
                </a:highlight>
              </a:rPr>
              <a:t>Scanner class </a:t>
            </a:r>
            <a:r>
              <a:rPr lang="en-US" altLang="en-US"/>
              <a:t>provides many built-in methods to take different types of user inputs from the users.</a:t>
            </a:r>
            <a:endParaRPr lang="en-US"/>
          </a:p>
        </p:txBody>
      </p:sp>
      <p:sp>
        <p:nvSpPr>
          <p:cNvPr id="8" name="Text Box 7"/>
          <p:cNvSpPr txBox="1"/>
          <p:nvPr/>
        </p:nvSpPr>
        <p:spPr>
          <a:xfrm>
            <a:off x="3234055" y="1557020"/>
            <a:ext cx="6096000" cy="368300"/>
          </a:xfrm>
          <a:prstGeom prst="rect">
            <a:avLst/>
          </a:prstGeom>
          <a:noFill/>
        </p:spPr>
        <p:txBody>
          <a:bodyPr wrap="square" rtlCol="0" anchor="t">
            <a:spAutoFit/>
          </a:bodyPr>
          <a:lstStyle/>
          <a:p>
            <a:r>
              <a:rPr lang="en-US" altLang="en-US" b="1"/>
              <a:t>How to Use Scanner Class to Take User Input?</a:t>
            </a:r>
            <a:endParaRPr lang="en-US" b="1"/>
          </a:p>
        </p:txBody>
      </p:sp>
      <p:pic>
        <p:nvPicPr>
          <p:cNvPr id="2" name="Picture 1"/>
          <p:cNvPicPr>
            <a:picLocks noChangeAspect="1"/>
          </p:cNvPicPr>
          <p:nvPr/>
        </p:nvPicPr>
        <p:blipFill>
          <a:blip r:embed="rId2"/>
          <a:stretch>
            <a:fillRect/>
          </a:stretch>
        </p:blipFill>
        <p:spPr>
          <a:xfrm>
            <a:off x="362585" y="2943225"/>
            <a:ext cx="5885180" cy="485775"/>
          </a:xfrm>
          <a:prstGeom prst="rect">
            <a:avLst/>
          </a:prstGeom>
        </p:spPr>
      </p:pic>
      <p:sp>
        <p:nvSpPr>
          <p:cNvPr id="3" name="Text Box 2"/>
          <p:cNvSpPr txBox="1"/>
          <p:nvPr/>
        </p:nvSpPr>
        <p:spPr>
          <a:xfrm>
            <a:off x="372110" y="2165350"/>
            <a:ext cx="11819890" cy="645160"/>
          </a:xfrm>
          <a:prstGeom prst="rect">
            <a:avLst/>
          </a:prstGeom>
          <a:noFill/>
        </p:spPr>
        <p:txBody>
          <a:bodyPr wrap="square" rtlCol="0" anchor="t">
            <a:spAutoFit/>
          </a:bodyPr>
          <a:lstStyle/>
          <a:p>
            <a:r>
              <a:rPr lang="en-US" altLang="en-US"/>
              <a:t>Step 1: Import Scanner Class</a:t>
            </a:r>
          </a:p>
          <a:p>
            <a:r>
              <a:rPr lang="en-US" altLang="en-US"/>
              <a:t>Fist you need to import the Scanner class to use its methods. To import the Scanner class, use the following import statement </a:t>
            </a:r>
            <a:endParaRPr lang="en-US"/>
          </a:p>
        </p:txBody>
      </p:sp>
      <p:sp>
        <p:nvSpPr>
          <p:cNvPr id="4" name="Text Box 3"/>
          <p:cNvSpPr txBox="1"/>
          <p:nvPr/>
        </p:nvSpPr>
        <p:spPr>
          <a:xfrm>
            <a:off x="362585" y="3561715"/>
            <a:ext cx="11697970" cy="922020"/>
          </a:xfrm>
          <a:prstGeom prst="rect">
            <a:avLst/>
          </a:prstGeom>
          <a:noFill/>
        </p:spPr>
        <p:txBody>
          <a:bodyPr wrap="square" rtlCol="0" anchor="t">
            <a:spAutoFit/>
          </a:bodyPr>
          <a:lstStyle/>
          <a:p>
            <a:r>
              <a:rPr lang="en-US" altLang="en-US"/>
              <a:t>Step 2: Create Scanner Class's Object</a:t>
            </a:r>
          </a:p>
          <a:p>
            <a:r>
              <a:rPr lang="en-US" altLang="en-US"/>
              <a:t>After importing the Scanner class, you need to create its object to use its methods. To create an object of the Scanner class, invoke Scanner() constructor. Below is the statement to create an object of Scanner class −</a:t>
            </a:r>
            <a:endParaRPr lang="en-US"/>
          </a:p>
        </p:txBody>
      </p:sp>
      <p:pic>
        <p:nvPicPr>
          <p:cNvPr id="7" name="Picture 6"/>
          <p:cNvPicPr>
            <a:picLocks noChangeAspect="1"/>
          </p:cNvPicPr>
          <p:nvPr/>
        </p:nvPicPr>
        <p:blipFill>
          <a:blip r:embed="rId3"/>
          <a:stretch>
            <a:fillRect/>
          </a:stretch>
        </p:blipFill>
        <p:spPr>
          <a:xfrm>
            <a:off x="372110" y="4560570"/>
            <a:ext cx="7976870" cy="563880"/>
          </a:xfrm>
          <a:prstGeom prst="rect">
            <a:avLst/>
          </a:prstGeom>
        </p:spPr>
      </p:pic>
      <p:sp>
        <p:nvSpPr>
          <p:cNvPr id="9" name="Text Box 8"/>
          <p:cNvSpPr txBox="1"/>
          <p:nvPr/>
        </p:nvSpPr>
        <p:spPr>
          <a:xfrm>
            <a:off x="356870" y="5234940"/>
            <a:ext cx="11592560" cy="922020"/>
          </a:xfrm>
          <a:prstGeom prst="rect">
            <a:avLst/>
          </a:prstGeom>
          <a:noFill/>
        </p:spPr>
        <p:txBody>
          <a:bodyPr wrap="square" rtlCol="0" anchor="t">
            <a:spAutoFit/>
          </a:bodyPr>
          <a:lstStyle/>
          <a:p>
            <a:r>
              <a:rPr lang="en-US" altLang="en-US"/>
              <a:t>Step 3: Take User Input</a:t>
            </a:r>
          </a:p>
          <a:p>
            <a:r>
              <a:rPr lang="en-US" altLang="en-US"/>
              <a:t>Scanner class provides a variety of methods which are useful to take user input of different types. For example, if you want to input an integer value, use nextInt() method.</a:t>
            </a:r>
            <a:endParaRPr lang="en-US"/>
          </a:p>
        </p:txBody>
      </p:sp>
      <p:pic>
        <p:nvPicPr>
          <p:cNvPr id="10" name="Picture 9"/>
          <p:cNvPicPr>
            <a:picLocks noChangeAspect="1"/>
          </p:cNvPicPr>
          <p:nvPr/>
        </p:nvPicPr>
        <p:blipFill>
          <a:blip r:embed="rId4"/>
          <a:stretch>
            <a:fillRect/>
          </a:stretch>
        </p:blipFill>
        <p:spPr>
          <a:xfrm>
            <a:off x="372110" y="6156960"/>
            <a:ext cx="7157720" cy="42418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rcRect l="16559" t="8414" r="30316" b="24715"/>
          <a:stretch>
            <a:fillRect/>
          </a:stretch>
        </p:blipFill>
        <p:spPr>
          <a:xfrm>
            <a:off x="0" y="0"/>
            <a:ext cx="7521575" cy="5325745"/>
          </a:xfrm>
          <a:prstGeom prst="rect">
            <a:avLst/>
          </a:prstGeom>
        </p:spPr>
      </p:pic>
      <p:sp>
        <p:nvSpPr>
          <p:cNvPr id="9" name="Rectangles 8"/>
          <p:cNvSpPr/>
          <p:nvPr/>
        </p:nvSpPr>
        <p:spPr>
          <a:xfrm>
            <a:off x="2717165" y="2598420"/>
            <a:ext cx="2859405" cy="2564130"/>
          </a:xfrm>
          <a:prstGeom prst="rect">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a:p>
        </p:txBody>
      </p:sp>
      <p:sp>
        <p:nvSpPr>
          <p:cNvPr id="5" name="Rectangles 4"/>
          <p:cNvSpPr/>
          <p:nvPr/>
        </p:nvSpPr>
        <p:spPr>
          <a:xfrm>
            <a:off x="6708140" y="2598420"/>
            <a:ext cx="658495" cy="2564130"/>
          </a:xfrm>
          <a:prstGeom prst="rect">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a:p>
        </p:txBody>
      </p:sp>
      <p:sp>
        <p:nvSpPr>
          <p:cNvPr id="6" name="Down Arrow 5"/>
          <p:cNvSpPr/>
          <p:nvPr/>
        </p:nvSpPr>
        <p:spPr>
          <a:xfrm rot="3000000">
            <a:off x="8030845" y="2390140"/>
            <a:ext cx="1160780" cy="159829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31445" y="1584325"/>
            <a:ext cx="7368540" cy="4144010"/>
          </a:xfrm>
          <a:prstGeom prst="rect">
            <a:avLst/>
          </a:prstGeom>
        </p:spPr>
      </p:pic>
      <p:sp>
        <p:nvSpPr>
          <p:cNvPr id="5" name="Text Box 4"/>
          <p:cNvSpPr txBox="1"/>
          <p:nvPr/>
        </p:nvSpPr>
        <p:spPr>
          <a:xfrm>
            <a:off x="664210" y="341630"/>
            <a:ext cx="4064000" cy="368300"/>
          </a:xfrm>
          <a:prstGeom prst="rect">
            <a:avLst/>
          </a:prstGeom>
          <a:noFill/>
        </p:spPr>
        <p:txBody>
          <a:bodyPr wrap="square" rtlCol="0">
            <a:spAutoFit/>
          </a:bodyPr>
          <a:lstStyle/>
          <a:p>
            <a:r>
              <a:rPr lang="en-US"/>
              <a:t>Example : </a:t>
            </a:r>
          </a:p>
        </p:txBody>
      </p:sp>
      <p:pic>
        <p:nvPicPr>
          <p:cNvPr id="6" name="Picture 5"/>
          <p:cNvPicPr>
            <a:picLocks noChangeAspect="1"/>
          </p:cNvPicPr>
          <p:nvPr/>
        </p:nvPicPr>
        <p:blipFill>
          <a:blip r:embed="rId3"/>
          <a:srcRect r="5998"/>
          <a:stretch>
            <a:fillRect/>
          </a:stretch>
        </p:blipFill>
        <p:spPr>
          <a:xfrm>
            <a:off x="7597140" y="2058035"/>
            <a:ext cx="4319270" cy="1295400"/>
          </a:xfrm>
          <a:prstGeom prst="rect">
            <a:avLst/>
          </a:prstGeom>
        </p:spPr>
      </p:pic>
      <p:sp>
        <p:nvSpPr>
          <p:cNvPr id="7" name="Text Box 6"/>
          <p:cNvSpPr txBox="1"/>
          <p:nvPr/>
        </p:nvSpPr>
        <p:spPr>
          <a:xfrm>
            <a:off x="131445" y="939165"/>
            <a:ext cx="7368540" cy="645160"/>
          </a:xfrm>
          <a:prstGeom prst="rect">
            <a:avLst/>
          </a:prstGeom>
          <a:noFill/>
        </p:spPr>
        <p:txBody>
          <a:bodyPr wrap="square" rtlCol="0">
            <a:spAutoFit/>
          </a:bodyPr>
          <a:lstStyle/>
          <a:p>
            <a:r>
              <a:rPr lang="en-US">
                <a:highlight>
                  <a:srgbClr val="FFFF00"/>
                </a:highlight>
              </a:rPr>
              <a:t>Input:</a:t>
            </a:r>
            <a:r>
              <a:rPr lang="en-US"/>
              <a:t> The program takes two input numbers from the user and then shows the summary of them.</a:t>
            </a:r>
          </a:p>
        </p:txBody>
      </p:sp>
      <p:sp>
        <p:nvSpPr>
          <p:cNvPr id="8" name="Text Box 7"/>
          <p:cNvSpPr txBox="1"/>
          <p:nvPr/>
        </p:nvSpPr>
        <p:spPr>
          <a:xfrm>
            <a:off x="7597140" y="1689735"/>
            <a:ext cx="4064000" cy="368300"/>
          </a:xfrm>
          <a:prstGeom prst="rect">
            <a:avLst/>
          </a:prstGeom>
          <a:noFill/>
        </p:spPr>
        <p:txBody>
          <a:bodyPr wrap="square" rtlCol="0">
            <a:spAutoFit/>
          </a:bodyPr>
          <a:lstStyle/>
          <a:p>
            <a:r>
              <a:rPr lang="en-US">
                <a:highlight>
                  <a:srgbClr val="FFFF00"/>
                </a:highlight>
              </a:rPr>
              <a:t>Output: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147320" y="86995"/>
            <a:ext cx="10347325" cy="521970"/>
          </a:xfrm>
          <a:prstGeom prst="rect">
            <a:avLst/>
          </a:prstGeom>
          <a:noFill/>
        </p:spPr>
        <p:txBody>
          <a:bodyPr wrap="square" rtlCol="0" anchor="t">
            <a:spAutoFit/>
          </a:bodyPr>
          <a:lstStyle/>
          <a:p>
            <a:r>
              <a:rPr lang="en-US" altLang="en-US" sz="2800"/>
              <a:t>Methods for Different Types of User Inputs</a:t>
            </a:r>
          </a:p>
        </p:txBody>
      </p:sp>
      <p:sp>
        <p:nvSpPr>
          <p:cNvPr id="6" name="Text Box 5"/>
          <p:cNvSpPr txBox="1"/>
          <p:nvPr/>
        </p:nvSpPr>
        <p:spPr>
          <a:xfrm>
            <a:off x="147320" y="608965"/>
            <a:ext cx="11927205" cy="645160"/>
          </a:xfrm>
          <a:prstGeom prst="rect">
            <a:avLst/>
          </a:prstGeom>
          <a:noFill/>
        </p:spPr>
        <p:txBody>
          <a:bodyPr wrap="square" rtlCol="0" anchor="t">
            <a:spAutoFit/>
          </a:bodyPr>
          <a:lstStyle/>
          <a:p>
            <a:r>
              <a:rPr lang="en-US" altLang="en-US"/>
              <a:t>The Scanner class provides different methods for the different types of User inputs. To explore all methods for different user inputs, look at the table below −</a:t>
            </a:r>
            <a:endParaRPr lang="en-US"/>
          </a:p>
        </p:txBody>
      </p:sp>
      <p:pic>
        <p:nvPicPr>
          <p:cNvPr id="7" name="Picture 6"/>
          <p:cNvPicPr>
            <a:picLocks noChangeAspect="1"/>
          </p:cNvPicPr>
          <p:nvPr/>
        </p:nvPicPr>
        <p:blipFill>
          <a:blip r:embed="rId2"/>
          <a:stretch>
            <a:fillRect/>
          </a:stretch>
        </p:blipFill>
        <p:spPr>
          <a:xfrm>
            <a:off x="0" y="1254125"/>
            <a:ext cx="5694045" cy="4253230"/>
          </a:xfrm>
          <a:prstGeom prst="rect">
            <a:avLst/>
          </a:prstGeom>
        </p:spPr>
      </p:pic>
      <p:pic>
        <p:nvPicPr>
          <p:cNvPr id="8" name="Picture 7"/>
          <p:cNvPicPr>
            <a:picLocks noChangeAspect="1"/>
          </p:cNvPicPr>
          <p:nvPr/>
        </p:nvPicPr>
        <p:blipFill>
          <a:blip r:embed="rId3"/>
          <a:stretch>
            <a:fillRect/>
          </a:stretch>
        </p:blipFill>
        <p:spPr>
          <a:xfrm>
            <a:off x="5694045" y="1254125"/>
            <a:ext cx="5533390" cy="3236595"/>
          </a:xfrm>
          <a:prstGeom prst="rect">
            <a:avLst/>
          </a:prstGeom>
        </p:spPr>
      </p:pic>
      <p:sp>
        <p:nvSpPr>
          <p:cNvPr id="9" name="Rectangles 8"/>
          <p:cNvSpPr/>
          <p:nvPr/>
        </p:nvSpPr>
        <p:spPr>
          <a:xfrm>
            <a:off x="532130" y="2778125"/>
            <a:ext cx="3719195" cy="363855"/>
          </a:xfrm>
          <a:prstGeom prst="rect">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a:p>
        </p:txBody>
      </p:sp>
      <p:sp>
        <p:nvSpPr>
          <p:cNvPr id="10" name="Text Box 9"/>
          <p:cNvSpPr txBox="1"/>
          <p:nvPr/>
        </p:nvSpPr>
        <p:spPr>
          <a:xfrm>
            <a:off x="6846570" y="5810885"/>
            <a:ext cx="4064000" cy="368300"/>
          </a:xfrm>
          <a:prstGeom prst="rect">
            <a:avLst/>
          </a:prstGeom>
          <a:noFill/>
        </p:spPr>
        <p:txBody>
          <a:bodyPr wrap="square" rtlCol="0">
            <a:spAutoFit/>
          </a:bodyPr>
          <a:lstStyle/>
          <a:p>
            <a:r>
              <a:rPr lang="en-US"/>
              <a:t>We already see the nextInt()</a:t>
            </a:r>
          </a:p>
        </p:txBody>
      </p:sp>
      <p:sp>
        <p:nvSpPr>
          <p:cNvPr id="12" name="Rectangles 11"/>
          <p:cNvSpPr/>
          <p:nvPr/>
        </p:nvSpPr>
        <p:spPr>
          <a:xfrm>
            <a:off x="497205" y="2126615"/>
            <a:ext cx="3719195" cy="363855"/>
          </a:xfrm>
          <a:prstGeom prst="rect">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2040255" y="940435"/>
            <a:ext cx="8236585" cy="4129405"/>
          </a:xfrm>
          <a:prstGeom prst="rect">
            <a:avLst/>
          </a:prstGeom>
        </p:spPr>
      </p:pic>
      <p:sp>
        <p:nvSpPr>
          <p:cNvPr id="6" name="Rectangles 5"/>
          <p:cNvSpPr/>
          <p:nvPr/>
        </p:nvSpPr>
        <p:spPr>
          <a:xfrm>
            <a:off x="7854950" y="3025140"/>
            <a:ext cx="2207895" cy="51752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t>obj.next()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568960" y="465455"/>
            <a:ext cx="11196955" cy="2818765"/>
          </a:xfrm>
          <a:prstGeom prst="rect">
            <a:avLst/>
          </a:prstGeom>
          <a:noFill/>
        </p:spPr>
        <p:txBody>
          <a:bodyPr wrap="square" rtlCol="0">
            <a:noAutofit/>
          </a:bodyPr>
          <a:lstStyle/>
          <a:p>
            <a:r>
              <a:rPr lang="en-US">
                <a:highlight>
                  <a:srgbClr val="FFFF00"/>
                </a:highlight>
              </a:rPr>
              <a:t>Task:</a:t>
            </a:r>
            <a:r>
              <a:rPr lang="en-US"/>
              <a:t> Your task is to make a programm which intakes all data types and print them with name of the data type :</a:t>
            </a:r>
          </a:p>
          <a:p>
            <a:r>
              <a:rPr lang="en-US">
                <a:sym typeface="+mn-ea"/>
              </a:rPr>
              <a:t>dont forget the screenshot</a:t>
            </a:r>
            <a:endParaRPr lang="en-US"/>
          </a:p>
          <a:p>
            <a:endParaRPr lang="en-US"/>
          </a:p>
          <a:p>
            <a:r>
              <a:rPr lang="en-US"/>
              <a:t>Input:</a:t>
            </a:r>
          </a:p>
          <a:p>
            <a:endParaRPr lang="en-US"/>
          </a:p>
          <a:p>
            <a:r>
              <a:rPr lang="en-US"/>
              <a:t>int = 24</a:t>
            </a:r>
          </a:p>
          <a:p>
            <a:r>
              <a:rPr lang="en-US"/>
              <a:t>short = 1</a:t>
            </a:r>
          </a:p>
          <a:p>
            <a:r>
              <a:rPr lang="en-US"/>
              <a:t>double = 2.3</a:t>
            </a:r>
          </a:p>
          <a:p>
            <a:r>
              <a:rPr lang="en-US"/>
              <a:t>float = 3.56</a:t>
            </a:r>
          </a:p>
          <a:p>
            <a:r>
              <a:rPr lang="en-US"/>
              <a:t>string = ‘java’</a:t>
            </a:r>
          </a:p>
          <a:p>
            <a:r>
              <a:rPr lang="en-US"/>
              <a:t>long = 12344444567890</a:t>
            </a:r>
          </a:p>
          <a:p>
            <a:endParaRPr lang="en-US"/>
          </a:p>
          <a:p>
            <a:endParaRPr lang="en-US"/>
          </a:p>
          <a:p>
            <a:r>
              <a:rPr lang="en-US"/>
              <a:t>					</a:t>
            </a:r>
          </a:p>
          <a:p>
            <a:endParaRPr lang="en-US"/>
          </a:p>
        </p:txBody>
      </p:sp>
      <p:sp>
        <p:nvSpPr>
          <p:cNvPr id="7" name="Text Box 6"/>
          <p:cNvSpPr txBox="1"/>
          <p:nvPr/>
        </p:nvSpPr>
        <p:spPr>
          <a:xfrm>
            <a:off x="568960" y="5142865"/>
            <a:ext cx="4064000" cy="368300"/>
          </a:xfrm>
          <a:prstGeom prst="rect">
            <a:avLst/>
          </a:prstGeom>
          <a:noFill/>
        </p:spPr>
        <p:txBody>
          <a:bodyPr wrap="square" rtlCol="0">
            <a:spAutoFit/>
          </a:bodyPr>
          <a:lstStyle/>
          <a:p>
            <a:r>
              <a:rPr lang="en-US"/>
              <a:t>print() output:</a:t>
            </a:r>
          </a:p>
        </p:txBody>
      </p:sp>
      <p:sp>
        <p:nvSpPr>
          <p:cNvPr id="9" name="Text Box 8"/>
          <p:cNvSpPr txBox="1"/>
          <p:nvPr/>
        </p:nvSpPr>
        <p:spPr>
          <a:xfrm>
            <a:off x="7033260" y="5120005"/>
            <a:ext cx="4064000" cy="368300"/>
          </a:xfrm>
          <a:prstGeom prst="rect">
            <a:avLst/>
          </a:prstGeom>
          <a:noFill/>
        </p:spPr>
        <p:txBody>
          <a:bodyPr wrap="square" rtlCol="0">
            <a:spAutoFit/>
          </a:bodyPr>
          <a:lstStyle/>
          <a:p>
            <a:r>
              <a:rPr lang="en-US"/>
              <a:t>println() output </a:t>
            </a:r>
          </a:p>
        </p:txBody>
      </p:sp>
      <p:pic>
        <p:nvPicPr>
          <p:cNvPr id="2" name="Picture 1"/>
          <p:cNvPicPr>
            <a:picLocks noChangeAspect="1"/>
          </p:cNvPicPr>
          <p:nvPr/>
        </p:nvPicPr>
        <p:blipFill>
          <a:blip r:embed="rId2"/>
          <a:stretch>
            <a:fillRect/>
          </a:stretch>
        </p:blipFill>
        <p:spPr>
          <a:xfrm>
            <a:off x="568960" y="3671570"/>
            <a:ext cx="6332220" cy="1471295"/>
          </a:xfrm>
          <a:prstGeom prst="rect">
            <a:avLst/>
          </a:prstGeom>
        </p:spPr>
      </p:pic>
      <p:pic>
        <p:nvPicPr>
          <p:cNvPr id="3" name="Picture 2"/>
          <p:cNvPicPr>
            <a:picLocks noChangeAspect="1"/>
          </p:cNvPicPr>
          <p:nvPr/>
        </p:nvPicPr>
        <p:blipFill>
          <a:blip r:embed="rId3"/>
          <a:stretch>
            <a:fillRect/>
          </a:stretch>
        </p:blipFill>
        <p:spPr>
          <a:xfrm>
            <a:off x="7033260" y="3934460"/>
            <a:ext cx="4328795" cy="786130"/>
          </a:xfrm>
          <a:prstGeom prst="rect">
            <a:avLst/>
          </a:prstGeom>
        </p:spPr>
      </p:pic>
      <p:pic>
        <p:nvPicPr>
          <p:cNvPr id="10" name="Picture 9"/>
          <p:cNvPicPr>
            <a:picLocks noChangeAspect="1"/>
          </p:cNvPicPr>
          <p:nvPr/>
        </p:nvPicPr>
        <p:blipFill>
          <a:blip r:embed="rId4"/>
          <a:stretch>
            <a:fillRect/>
          </a:stretch>
        </p:blipFill>
        <p:spPr>
          <a:xfrm>
            <a:off x="664845" y="5738495"/>
            <a:ext cx="3968115" cy="433705"/>
          </a:xfrm>
          <a:prstGeom prst="rect">
            <a:avLst/>
          </a:prstGeom>
        </p:spPr>
      </p:pic>
      <p:pic>
        <p:nvPicPr>
          <p:cNvPr id="11" name="Picture 10"/>
          <p:cNvPicPr>
            <a:picLocks noChangeAspect="1"/>
          </p:cNvPicPr>
          <p:nvPr/>
        </p:nvPicPr>
        <p:blipFill>
          <a:blip r:embed="rId5"/>
          <a:stretch>
            <a:fillRect/>
          </a:stretch>
        </p:blipFill>
        <p:spPr>
          <a:xfrm>
            <a:off x="7033260" y="5662295"/>
            <a:ext cx="2806700" cy="50927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741795" y="1360805"/>
            <a:ext cx="4476750" cy="3965575"/>
          </a:xfrm>
          <a:prstGeom prst="rect">
            <a:avLst/>
          </a:prstGeom>
        </p:spPr>
      </p:pic>
      <p:pic>
        <p:nvPicPr>
          <p:cNvPr id="3" name="Picture 2"/>
          <p:cNvPicPr>
            <a:picLocks noChangeAspect="1"/>
          </p:cNvPicPr>
          <p:nvPr/>
        </p:nvPicPr>
        <p:blipFill>
          <a:blip r:embed="rId3"/>
          <a:stretch>
            <a:fillRect/>
          </a:stretch>
        </p:blipFill>
        <p:spPr>
          <a:xfrm>
            <a:off x="84455" y="74930"/>
            <a:ext cx="5854065" cy="6660515"/>
          </a:xfrm>
          <a:prstGeom prst="rect">
            <a:avLst/>
          </a:prstGeom>
        </p:spPr>
      </p:pic>
      <p:sp>
        <p:nvSpPr>
          <p:cNvPr id="4" name="Text Box 3"/>
          <p:cNvSpPr txBox="1"/>
          <p:nvPr/>
        </p:nvSpPr>
        <p:spPr>
          <a:xfrm>
            <a:off x="6532880" y="532130"/>
            <a:ext cx="4064000" cy="368300"/>
          </a:xfrm>
          <a:prstGeom prst="rect">
            <a:avLst/>
          </a:prstGeom>
          <a:noFill/>
        </p:spPr>
        <p:txBody>
          <a:bodyPr wrap="square" rtlCol="0">
            <a:spAutoFit/>
          </a:bodyP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654685" y="494030"/>
            <a:ext cx="10341610" cy="3138170"/>
          </a:xfrm>
          <a:prstGeom prst="rect">
            <a:avLst/>
          </a:prstGeom>
          <a:noFill/>
        </p:spPr>
        <p:txBody>
          <a:bodyPr wrap="square" rtlCol="0">
            <a:spAutoFit/>
          </a:bodyPr>
          <a:lstStyle/>
          <a:p>
            <a:r>
              <a:rPr lang="en-US" altLang="en-US">
                <a:highlight>
                  <a:srgbClr val="FFFF00"/>
                </a:highlight>
              </a:rPr>
              <a:t>Task: </a:t>
            </a:r>
          </a:p>
          <a:p>
            <a:r>
              <a:rPr lang="en-US" altLang="en-US"/>
              <a:t>You are given the program that receives ;</a:t>
            </a:r>
          </a:p>
          <a:p>
            <a:endParaRPr lang="en-US" altLang="en-US"/>
          </a:p>
          <a:p>
            <a:r>
              <a:rPr lang="en-US" altLang="en-US"/>
              <a:t>a string - person’s name, </a:t>
            </a:r>
          </a:p>
          <a:p>
            <a:r>
              <a:rPr lang="en-US" altLang="en-US"/>
              <a:t>integer - work experience. </a:t>
            </a:r>
          </a:p>
          <a:p>
            <a:endParaRPr lang="en-US" altLang="en-US"/>
          </a:p>
          <a:p>
            <a:r>
              <a:rPr lang="en-US" altLang="en-US"/>
              <a:t>You need to output a short summary of the entered data in the format: </a:t>
            </a:r>
          </a:p>
          <a:p>
            <a:r>
              <a:rPr lang="en-US" altLang="en-US"/>
              <a:t>"Hi, my name is </a:t>
            </a:r>
            <a:r>
              <a:rPr lang="en-US" altLang="en-US" b="1"/>
              <a:t>[your given name]</a:t>
            </a:r>
            <a:r>
              <a:rPr lang="en-US" altLang="en-US"/>
              <a:t>. I’ve been working as a programmer for </a:t>
            </a:r>
            <a:r>
              <a:rPr lang="en-US" altLang="en-US" b="1"/>
              <a:t>[your given work experience] </a:t>
            </a:r>
            <a:r>
              <a:rPr lang="en-US" altLang="en-US"/>
              <a:t>years."</a:t>
            </a:r>
          </a:p>
          <a:p>
            <a:endParaRPr lang="en-US" altLang="en-US"/>
          </a:p>
          <a:p>
            <a:endParaRPr lang="en-US"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26415" y="525780"/>
            <a:ext cx="10378440" cy="2590800"/>
          </a:xfrm>
          <a:prstGeom prst="rect">
            <a:avLst/>
          </a:prstGeom>
        </p:spPr>
      </p:pic>
      <p:pic>
        <p:nvPicPr>
          <p:cNvPr id="5" name="Picture 4"/>
          <p:cNvPicPr>
            <a:picLocks noChangeAspect="1"/>
          </p:cNvPicPr>
          <p:nvPr/>
        </p:nvPicPr>
        <p:blipFill>
          <a:blip r:embed="rId3"/>
          <a:stretch>
            <a:fillRect/>
          </a:stretch>
        </p:blipFill>
        <p:spPr>
          <a:xfrm>
            <a:off x="526415" y="3713480"/>
            <a:ext cx="8235950" cy="132524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365760" y="309880"/>
            <a:ext cx="11384280" cy="2584450"/>
          </a:xfrm>
          <a:prstGeom prst="rect">
            <a:avLst/>
          </a:prstGeom>
          <a:noFill/>
        </p:spPr>
        <p:txBody>
          <a:bodyPr wrap="square" rtlCol="0" anchor="t">
            <a:spAutoFit/>
          </a:bodyPr>
          <a:lstStyle/>
          <a:p>
            <a:r>
              <a:rPr lang="en-US" altLang="en-US" b="1"/>
              <a:t>Task:</a:t>
            </a:r>
            <a:r>
              <a:rPr lang="en-US" altLang="en-US"/>
              <a:t> The entry is a string. You need to extract this string in uppercase.</a:t>
            </a:r>
          </a:p>
          <a:p>
            <a:r>
              <a:rPr lang="en-US" altLang="en-US"/>
              <a:t>Sample input:</a:t>
            </a:r>
          </a:p>
          <a:p>
            <a:r>
              <a:rPr lang="en-US" altLang="en-US"/>
              <a:t>Java is fun!</a:t>
            </a:r>
          </a:p>
          <a:p>
            <a:r>
              <a:rPr lang="en-US" altLang="en-US"/>
              <a:t>Output:</a:t>
            </a:r>
          </a:p>
          <a:p>
            <a:r>
              <a:rPr lang="en-US" altLang="en-US"/>
              <a:t>JAVA IS FUN! </a:t>
            </a:r>
          </a:p>
          <a:p>
            <a:endParaRPr lang="en-US" altLang="en-US"/>
          </a:p>
          <a:p>
            <a:r>
              <a:rPr lang="en-US" altLang="en-US"/>
              <a:t>hint : use here nextLine() not next()</a:t>
            </a:r>
          </a:p>
          <a:p>
            <a:endParaRPr lang="en-US" altLang="en-US"/>
          </a:p>
          <a:p>
            <a:endParaRPr lang="en-US"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08915" y="1736725"/>
            <a:ext cx="6622415" cy="2533650"/>
          </a:xfrm>
          <a:prstGeom prst="rect">
            <a:avLst/>
          </a:prstGeom>
        </p:spPr>
      </p:pic>
      <p:pic>
        <p:nvPicPr>
          <p:cNvPr id="5" name="Picture 4"/>
          <p:cNvPicPr>
            <a:picLocks noChangeAspect="1"/>
          </p:cNvPicPr>
          <p:nvPr/>
        </p:nvPicPr>
        <p:blipFill>
          <a:blip r:embed="rId3"/>
          <a:stretch>
            <a:fillRect/>
          </a:stretch>
        </p:blipFill>
        <p:spPr>
          <a:xfrm>
            <a:off x="7432675" y="1517015"/>
            <a:ext cx="3909060" cy="800100"/>
          </a:xfrm>
          <a:prstGeom prst="rect">
            <a:avLst/>
          </a:prstGeom>
        </p:spPr>
      </p:pic>
      <p:sp>
        <p:nvSpPr>
          <p:cNvPr id="6" name="Text Box 5"/>
          <p:cNvSpPr txBox="1"/>
          <p:nvPr/>
        </p:nvSpPr>
        <p:spPr>
          <a:xfrm>
            <a:off x="7521575" y="1122045"/>
            <a:ext cx="4064000" cy="368300"/>
          </a:xfrm>
          <a:prstGeom prst="rect">
            <a:avLst/>
          </a:prstGeom>
          <a:noFill/>
        </p:spPr>
        <p:txBody>
          <a:bodyPr wrap="square" rtlCol="0">
            <a:spAutoFit/>
          </a:bodyPr>
          <a:lstStyle/>
          <a:p>
            <a:r>
              <a:rPr lang="en-US"/>
              <a:t>with nextLine()</a:t>
            </a:r>
          </a:p>
        </p:txBody>
      </p:sp>
      <p:pic>
        <p:nvPicPr>
          <p:cNvPr id="7" name="Picture 6"/>
          <p:cNvPicPr>
            <a:picLocks noChangeAspect="1"/>
          </p:cNvPicPr>
          <p:nvPr/>
        </p:nvPicPr>
        <p:blipFill>
          <a:blip r:embed="rId4"/>
          <a:stretch>
            <a:fillRect/>
          </a:stretch>
        </p:blipFill>
        <p:spPr>
          <a:xfrm>
            <a:off x="7432675" y="4478655"/>
            <a:ext cx="4035425" cy="878205"/>
          </a:xfrm>
          <a:prstGeom prst="rect">
            <a:avLst/>
          </a:prstGeom>
        </p:spPr>
      </p:pic>
      <p:sp>
        <p:nvSpPr>
          <p:cNvPr id="8" name="Text Box 7"/>
          <p:cNvSpPr txBox="1"/>
          <p:nvPr/>
        </p:nvSpPr>
        <p:spPr>
          <a:xfrm>
            <a:off x="7432675" y="4110355"/>
            <a:ext cx="4064000" cy="368300"/>
          </a:xfrm>
          <a:prstGeom prst="rect">
            <a:avLst/>
          </a:prstGeom>
          <a:noFill/>
        </p:spPr>
        <p:txBody>
          <a:bodyPr wrap="square" rtlCol="0">
            <a:spAutoFit/>
          </a:bodyPr>
          <a:lstStyle/>
          <a:p>
            <a:r>
              <a:rPr lang="en-US"/>
              <a:t>with next()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4364355" y="2976245"/>
            <a:ext cx="4064000" cy="368300"/>
          </a:xfrm>
          <a:prstGeom prst="rect">
            <a:avLst/>
          </a:prstGeom>
          <a:noFill/>
        </p:spPr>
        <p:txBody>
          <a:bodyPr wrap="square" rtlCol="0">
            <a:spAutoFit/>
          </a:bodyPr>
          <a:lstStyle/>
          <a:p>
            <a:r>
              <a:rPr lang="en-US"/>
              <a:t>Thanks for your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1199</Words>
  <Application>Microsoft Macintosh PowerPoint</Application>
  <PresentationFormat>Widescreen</PresentationFormat>
  <Paragraphs>128</Paragraphs>
  <Slides>28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Arial</vt:lpstr>
      <vt:lpstr>Calibri</vt:lpstr>
      <vt:lpstr>Calibri Light</vt:lpstr>
      <vt:lpstr>Consolas</vt:lpstr>
      <vt:lpstr>Times New Roman</vt:lpstr>
      <vt:lpstr>Verdana</vt:lpstr>
      <vt:lpstr>Office Theme</vt:lpstr>
      <vt:lpstr>Mobile programming </vt:lpstr>
      <vt:lpstr>Recall!</vt:lpstr>
      <vt:lpstr>Recall!</vt:lpstr>
      <vt:lpstr>Java - Strings Class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Mobile programming </dc:title>
  <dc:creator>Sevara</dc:creator>
  <cp:lastModifiedBy>Shakhnoza Muksimova</cp:lastModifiedBy>
  <cp:revision>14</cp:revision>
  <dcterms:created xsi:type="dcterms:W3CDTF">2025-02-22T09:28:00Z</dcterms:created>
  <dcterms:modified xsi:type="dcterms:W3CDTF">2026-03-25T02:44:47Z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13AA6B6EA8674349A4212A500F535E4A_12</vt:lpwstr>
  </property>
  <property fmtid="{D5CDD505-2E9C-101B-9397-08002B2CF9AE}" pid="3" name="KSOProductBuildVer">
    <vt:lpwstr>1033-12.2.0.20782</vt:lpwstr>
  </property>
</Properties>
</file>