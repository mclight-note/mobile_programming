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82" r:id="rId9"/>
    <p:sldId id="283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Programming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877820" y="325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/>
              <a:t>Nested if-else Statement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60985" y="949960"/>
            <a:ext cx="116224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en-US"/>
              <a:t>The nested if else statement is used for better decision-making when other conditions are to be checked when a given condition is true. In the nested if else statement, you can have an if-else statement block the another if (or, else) block.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60985" y="172720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Syntax</a:t>
            </a:r>
          </a:p>
          <a:p>
            <a:r>
              <a:rPr lang="en-US" altLang="en-US"/>
              <a:t>Below is the syntax of nested if else statement: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750820"/>
            <a:ext cx="5766435" cy="2069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94945" y="304165"/>
            <a:ext cx="118960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Example of Nested if else Statement</a:t>
            </a:r>
          </a:p>
          <a:p>
            <a:endParaRPr lang="en-US" altLang="en-US"/>
          </a:p>
          <a:p>
            <a:r>
              <a:rPr lang="en-US" altLang="en-US"/>
              <a:t>The following examples finds the largest number among three using nested if..else statement. The same problem we solved in our last class.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390" y="1689735"/>
            <a:ext cx="7423150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57480" y="161925"/>
            <a:ext cx="117265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Use Cases of Java if-else Statement</a:t>
            </a:r>
          </a:p>
          <a:p>
            <a:r>
              <a:rPr lang="en-US" altLang="en-US"/>
              <a:t>The if-else statement in Java is useful for making decisions based on conditions. Below are some common use cases: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36980"/>
            <a:ext cx="10330180" cy="482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42570" y="209550"/>
            <a:ext cx="11593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Rules for Using if-else Conditions</a:t>
            </a:r>
          </a:p>
          <a:p>
            <a:r>
              <a:rPr lang="en-US" altLang="en-US"/>
              <a:t>The if-else statement in Java follows specific rules to ensure proper execution. Below are the key rules: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20" y="1371600"/>
            <a:ext cx="9025255" cy="4676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450850" y="165735"/>
            <a:ext cx="115277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>
                <a:highlight>
                  <a:srgbClr val="FFFF00"/>
                </a:highlight>
              </a:rPr>
              <a:t>Task 1: </a:t>
            </a:r>
            <a:endParaRPr lang="en-US" altLang="en-US"/>
          </a:p>
          <a:p>
            <a:endParaRPr lang="en-US" altLang="en-US"/>
          </a:p>
          <a:p>
            <a:r>
              <a:rPr lang="en-US"/>
              <a:t>Your task is to make code which checks your user input is it divisible to 7 and 5 or not. If it is, you have to print out the text</a:t>
            </a:r>
            <a:r>
              <a:rPr lang="en-US" b="1"/>
              <a:t> “number is divisble to 7”</a:t>
            </a:r>
            <a:r>
              <a:rPr lang="en-US"/>
              <a:t> if it is 5 your text has to look like</a:t>
            </a:r>
            <a:r>
              <a:rPr lang="en-US" b="1"/>
              <a:t> “number is dividsible to 5”,</a:t>
            </a:r>
            <a:r>
              <a:rPr lang="en-US"/>
              <a:t> If number is divisible to both numbers print </a:t>
            </a:r>
            <a:r>
              <a:rPr lang="en-US" b="1"/>
              <a:t>“number is divisible to both numbers”</a:t>
            </a:r>
            <a:r>
              <a:rPr lang="en-US"/>
              <a:t> otherwise </a:t>
            </a:r>
            <a:r>
              <a:rPr lang="en-US" b="1"/>
              <a:t>“None divisible number”</a:t>
            </a:r>
          </a:p>
          <a:p>
            <a:endParaRPr lang="en-US" b="1"/>
          </a:p>
          <a:p>
            <a:r>
              <a:rPr lang="en-US" b="1"/>
              <a:t>Check for all conditions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"/>
            <a:ext cx="8376285" cy="4255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265" y="2522855"/>
            <a:ext cx="3368040" cy="861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335" y="3739515"/>
            <a:ext cx="3669665" cy="9315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447800"/>
            <a:ext cx="3209925" cy="9220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rcRect b="41087"/>
          <a:stretch>
            <a:fillRect/>
          </a:stretch>
        </p:blipFill>
        <p:spPr>
          <a:xfrm>
            <a:off x="8610600" y="298450"/>
            <a:ext cx="3322320" cy="1032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8585" y="217170"/>
            <a:ext cx="1142174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highlight>
                  <a:srgbClr val="FFFF00"/>
                </a:highlight>
              </a:rPr>
              <a:t>Task 2: </a:t>
            </a:r>
            <a:r>
              <a:rPr lang="en-US" altLang="en-US"/>
              <a:t>You are given inputs ,they are the inputs for your calculator. </a:t>
            </a:r>
          </a:p>
          <a:p>
            <a:r>
              <a:rPr lang="en-US" altLang="en-US"/>
              <a:t>num1 = 10</a:t>
            </a:r>
          </a:p>
          <a:p>
            <a:r>
              <a:rPr lang="en-US" altLang="en-US"/>
              <a:t>num2 = 15</a:t>
            </a:r>
          </a:p>
          <a:p>
            <a:r>
              <a:rPr lang="en-US" altLang="en-US"/>
              <a:t>char operator = </a:t>
            </a:r>
            <a:r>
              <a:rPr lang="en-US" altLang="en-US">
                <a:sym typeface="+mn-ea"/>
              </a:rPr>
              <a:t>(+, -, *, /)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num1 and num2 are the numbers to operate on.</a:t>
            </a:r>
          </a:p>
          <a:p>
            <a:r>
              <a:rPr lang="en-US" altLang="en-US"/>
              <a:t>operator is the operation you want to perform (+, -, *, /). You have to check for all operators. As the default you have to give </a:t>
            </a:r>
            <a:r>
              <a:rPr lang="en-US" altLang="en-US" b="1"/>
              <a:t>“Invalid operator”.</a:t>
            </a:r>
          </a:p>
          <a:p>
            <a:endParaRPr lang="en-US"/>
          </a:p>
          <a:p>
            <a:r>
              <a:rPr lang="en-US"/>
              <a:t>Your task is to make small calculator.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example: </a:t>
            </a:r>
          </a:p>
          <a:p>
            <a:r>
              <a:rPr lang="en-US"/>
              <a:t>if the char operator = ‘+’ , your answer 10+5=15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7398385" y="292925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output:</a:t>
            </a:r>
          </a:p>
          <a:p>
            <a:r>
              <a:rPr lang="en-US"/>
              <a:t>15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303530"/>
            <a:ext cx="5936615" cy="6078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97510" y="113665"/>
            <a:ext cx="112623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Task 3 </a:t>
            </a:r>
          </a:p>
          <a:p>
            <a:endParaRPr lang="en-US">
              <a:highlight>
                <a:srgbClr val="FFFF00"/>
              </a:highlight>
            </a:endParaRPr>
          </a:p>
          <a:p>
            <a:endParaRPr lang="en-US">
              <a:highlight>
                <a:srgbClr val="FFFF00"/>
              </a:highlight>
            </a:endParaRPr>
          </a:p>
          <a:p>
            <a:r>
              <a:rPr lang="en-US"/>
              <a:t>Your task is to check the user input nuber into is number divisible to 2 and 3. If number is divisible to 2 print “Fizz” if into 3 print “Buzz” if the number is divisble to  both of the numbers print (“FizzBuzz”), itherwise print (“out of FizzBuzz”).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3825"/>
            <a:ext cx="5943600" cy="51892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425" y="123825"/>
            <a:ext cx="3474720" cy="8458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425" y="1282700"/>
            <a:ext cx="3352800" cy="792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425" y="2388235"/>
            <a:ext cx="3390900" cy="7924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340" y="3559810"/>
            <a:ext cx="3840480" cy="708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48000" y="3067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sz="2400" b="1"/>
              <a:t>Java - switch statement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67005" y="886460"/>
            <a:ext cx="117538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en-US" b="1"/>
              <a:t>Java switch </a:t>
            </a:r>
            <a:r>
              <a:rPr lang="en-US" altLang="en-US"/>
              <a:t>statement allows a variable to be tested for equality against a list of values. Each value is called a case, and the variable being switched on is checked for each case. The switch statement can be used when multiple if-else statements are required. It can have multiple code blocks along with the case values and execute one of many code blocks based on the matched case value.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" y="2498090"/>
            <a:ext cx="9863455" cy="3904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29540" y="2063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Rules for Using switch Statement</a:t>
            </a:r>
          </a:p>
          <a:p>
            <a:r>
              <a:rPr lang="en-US" altLang="en-US"/>
              <a:t>The following rules apply to a switch statement −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55" y="1470660"/>
            <a:ext cx="9382125" cy="45916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75" y="807085"/>
            <a:ext cx="8843645" cy="5701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28905" y="108585"/>
            <a:ext cx="1197991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switch Statement Examples</a:t>
            </a:r>
          </a:p>
          <a:p>
            <a:r>
              <a:rPr lang="en-US" altLang="en-US" b="1"/>
              <a:t>Example 1</a:t>
            </a:r>
          </a:p>
          <a:p>
            <a:endParaRPr lang="en-US" altLang="en-US" b="1"/>
          </a:p>
          <a:p>
            <a:r>
              <a:rPr lang="en-US" altLang="en-US"/>
              <a:t>In this example, we're showing use of switch statement where cases are based on a char. We've created a variable grade. Based on value of grade, each case is checked. if a case is satisfied and break statement is present then following cases are not checked.  </a:t>
            </a:r>
            <a:r>
              <a:rPr lang="en-US" altLang="en-US">
                <a:highlight>
                  <a:srgbClr val="FFFF00"/>
                </a:highlight>
              </a:rPr>
              <a:t>this example for char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1876425"/>
            <a:ext cx="5908675" cy="4981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10" y="3272155"/>
            <a:ext cx="2078990" cy="9785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45400" y="2843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10490" y="133985"/>
            <a:ext cx="119049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Example 2</a:t>
            </a:r>
          </a:p>
          <a:p>
            <a:r>
              <a:rPr lang="en-US" altLang="en-US"/>
              <a:t>In this example, we're showing use of switch statement where cases are based on a int. We've created a variable grade. Based on value of grade, each case is checked. if a case is satisfied and break statement is present then following cases are not checked. </a:t>
            </a:r>
            <a:r>
              <a:rPr lang="en-US" altLang="en-US">
                <a:highlight>
                  <a:srgbClr val="FFFF00"/>
                </a:highlight>
              </a:rPr>
              <a:t>this example for int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b="3966"/>
          <a:stretch>
            <a:fillRect/>
          </a:stretch>
        </p:blipFill>
        <p:spPr>
          <a:xfrm>
            <a:off x="317500" y="1456690"/>
            <a:ext cx="5729605" cy="5305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145" y="2832100"/>
            <a:ext cx="1684020" cy="7086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84770" y="2985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86055" y="196850"/>
            <a:ext cx="116973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Example 3</a:t>
            </a:r>
          </a:p>
          <a:p>
            <a:r>
              <a:rPr lang="en-US" altLang="en-US"/>
              <a:t>In this example, we're showing use of switch statement where cases are based on a String. We've created a variable grade. Based on value of grade, each case is checked. if a case is satisfied and break statement is present then following cases are not checked. </a:t>
            </a:r>
            <a:r>
              <a:rPr lang="en-US" altLang="en-US">
                <a:highlight>
                  <a:srgbClr val="FFFF00"/>
                </a:highlight>
              </a:rPr>
              <a:t>this example for string</a:t>
            </a:r>
          </a:p>
          <a:p>
            <a:endParaRPr lang="en-US" altLang="en-US">
              <a:highlight>
                <a:srgbClr val="FFFF00"/>
              </a:highlight>
            </a:endParaRPr>
          </a:p>
          <a:p>
            <a:endParaRPr lang="en-US" altLang="en-US">
              <a:highlight>
                <a:srgbClr val="FFFF00"/>
              </a:highligh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" y="1464945"/>
            <a:ext cx="5637530" cy="5335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10" y="3272155"/>
            <a:ext cx="2078990" cy="9785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864475" y="277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67005" y="130810"/>
            <a:ext cx="1180147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Using default Keyword With switch Statement</a:t>
            </a:r>
          </a:p>
          <a:p>
            <a:r>
              <a:rPr lang="en-US" altLang="en-US"/>
              <a:t>The default keyword is used to specify a code block when no case value is matched. The default keyword is optional, but it should be used in the switch case statement.</a:t>
            </a:r>
          </a:p>
          <a:p>
            <a:endParaRPr lang="en-US" altLang="en-US"/>
          </a:p>
          <a:p>
            <a:r>
              <a:rPr lang="en-US" altLang="en-US">
                <a:highlight>
                  <a:srgbClr val="FFFF00"/>
                </a:highlight>
              </a:rPr>
              <a:t>Example:</a:t>
            </a:r>
            <a:r>
              <a:rPr lang="en-US" altLang="en-US"/>
              <a:t> With the default Keyword</a:t>
            </a:r>
          </a:p>
          <a:p>
            <a:r>
              <a:rPr lang="en-US" altLang="en-US"/>
              <a:t>The following example demonstrates the use of the default keyword with a switch statement: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1884045"/>
            <a:ext cx="4580890" cy="4893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380" y="3429000"/>
            <a:ext cx="1638300" cy="3886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957060" y="342868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>
              <a:spcAft>
                <a:spcPct val="60000"/>
              </a:spcAft>
            </a:pPr>
            <a:r>
              <a:rPr sz="1600" b="0" i="0">
                <a:latin typeface="Verdana" panose="020B0604030504040204"/>
                <a:ea typeface="Verdana" panose="020B0604030504040204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28905" y="86995"/>
            <a:ext cx="117640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Example: Without the default Keyword</a:t>
            </a:r>
          </a:p>
          <a:p>
            <a:r>
              <a:rPr lang="en-US" altLang="en-US"/>
              <a:t>The following example demonstrates the use of the default keyword with a switch statement: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812165"/>
            <a:ext cx="6055360" cy="5803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1843405"/>
            <a:ext cx="2400300" cy="4191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410450" y="1843405"/>
            <a:ext cx="47078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Output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79780" y="608965"/>
            <a:ext cx="107892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Task 3: </a:t>
            </a:r>
          </a:p>
          <a:p>
            <a:endParaRPr lang="en-US"/>
          </a:p>
          <a:p>
            <a:r>
              <a:rPr lang="en-US"/>
              <a:t>You are given fruit ‘apple’ you have to check fruit to type with fruits for case [‘banana’, ‘peach’, ‘lemon’, ‘apple’] , if the given fruit matches with any of them print “this fruit is [name]” otherwise print “unknown fruit”.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30" y="238760"/>
            <a:ext cx="7096125" cy="60559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225550" y="398780"/>
            <a:ext cx="75304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Task 4:</a:t>
            </a:r>
            <a:r>
              <a:rPr lang="en-US"/>
              <a:t> </a:t>
            </a:r>
            <a:r>
              <a:rPr lang="en-US" altLang="en-US"/>
              <a:t>Game Menu</a:t>
            </a:r>
          </a:p>
          <a:p>
            <a:endParaRPr lang="en-US" altLang="en-US"/>
          </a:p>
          <a:p>
            <a:r>
              <a:rPr lang="en-US" altLang="en-US"/>
              <a:t>You’re given menu of the game and your task to make user input code.</a:t>
            </a:r>
          </a:p>
          <a:p>
            <a:r>
              <a:rPr lang="en-US" altLang="en-US"/>
              <a:t> </a:t>
            </a:r>
          </a:p>
          <a:p>
            <a:r>
              <a:rPr lang="en-US" altLang="en-US"/>
              <a:t>1 -&gt; "Start Game"</a:t>
            </a:r>
          </a:p>
          <a:p>
            <a:r>
              <a:rPr lang="en-US" altLang="en-US"/>
              <a:t>2 -&gt; "Load Game"</a:t>
            </a:r>
          </a:p>
          <a:p>
            <a:r>
              <a:rPr lang="en-US" altLang="en-US"/>
              <a:t>3 -&gt; "Exit"</a:t>
            </a:r>
          </a:p>
          <a:p>
            <a:r>
              <a:rPr lang="en-US" altLang="en-US"/>
              <a:t>default -&gt; “Invalid option”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5" y="250190"/>
            <a:ext cx="5387975" cy="5796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2430"/>
            <a:ext cx="3121025" cy="879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90700"/>
            <a:ext cx="3077845" cy="84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56585"/>
            <a:ext cx="3050540" cy="7626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438015"/>
            <a:ext cx="310896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46075" y="212090"/>
            <a:ext cx="991171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>
                <a:highlight>
                  <a:srgbClr val="FFFF00"/>
                </a:highlight>
              </a:rPr>
              <a:t>Task 5: </a:t>
            </a:r>
            <a:r>
              <a:rPr lang="en-US" altLang="en-US"/>
              <a:t>Food ordering using String</a:t>
            </a:r>
          </a:p>
          <a:p>
            <a:endParaRPr lang="en-US"/>
          </a:p>
          <a:p>
            <a:r>
              <a:rPr lang="en-US"/>
              <a:t>In this task you’re given menu of cafeteria and your task is to make code for this menu, [‘Burger’, ‘Salad’, ‘Pizza’, ‘Coffee’, ‘Ice cream’] for each of them your task is to print </a:t>
            </a:r>
            <a:r>
              <a:rPr lang="en-US" altLang="en-US"/>
              <a:t>"You ordered a </a:t>
            </a:r>
            <a:r>
              <a:rPr lang="en-US" altLang="en-US" b="1"/>
              <a:t>[name]</a:t>
            </a:r>
            <a:r>
              <a:rPr lang="en-US" altLang="en-US"/>
              <a:t>." for Default mode print "We don't have that."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295" y="426720"/>
            <a:ext cx="2583180" cy="3474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295" y="4330065"/>
            <a:ext cx="2834640" cy="861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55" y="335915"/>
            <a:ext cx="5661660" cy="50825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7060" y="389255"/>
            <a:ext cx="10189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Task 6:</a:t>
            </a:r>
            <a:r>
              <a:rPr lang="en-US"/>
              <a:t> </a:t>
            </a:r>
            <a:r>
              <a:rPr lang="en-US" altLang="en-US"/>
              <a:t>Day of the Week</a:t>
            </a:r>
          </a:p>
          <a:p>
            <a:r>
              <a:rPr lang="en-US" altLang="en-US"/>
              <a:t>Your task is to make a programm which will give the gay of the week according to the</a:t>
            </a:r>
            <a:r>
              <a:rPr lang="en-US" altLang="en-US" b="1"/>
              <a:t> USER INPUT</a:t>
            </a:r>
            <a:r>
              <a:rPr lang="en-US" altLang="en-US"/>
              <a:t> number from [1..7] as the default assign “The number exceeds the limit”!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02310" y="1720850"/>
            <a:ext cx="8981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example:</a:t>
            </a:r>
          </a:p>
          <a:p>
            <a:r>
              <a:rPr lang="en-US"/>
              <a:t>if user input is 5 your answer must be “Friday”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3181"/>
          <a:stretch>
            <a:fillRect/>
          </a:stretch>
        </p:blipFill>
        <p:spPr>
          <a:xfrm>
            <a:off x="586105" y="388620"/>
            <a:ext cx="4504055" cy="60883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56680" y="20066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output: </a:t>
            </a:r>
          </a:p>
          <a:p>
            <a:r>
              <a:rPr lang="en-US"/>
              <a:t>“Wednesday”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975</Words>
  <Application>Microsoft Macintosh PowerPoint</Application>
  <PresentationFormat>Widescreen</PresentationFormat>
  <Paragraphs>81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Verdana</vt:lpstr>
      <vt:lpstr>Office Theme</vt:lpstr>
      <vt:lpstr>Mobile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Programming </dc:title>
  <dc:creator>Sevara</dc:creator>
  <cp:lastModifiedBy>Shakhnoza Muksimova</cp:lastModifiedBy>
  <cp:revision>10</cp:revision>
  <dcterms:created xsi:type="dcterms:W3CDTF">2025-04-24T08:12:00Z</dcterms:created>
  <dcterms:modified xsi:type="dcterms:W3CDTF">2026-05-12T00:02:32Z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5DEA774607474563B115031442216B40_12</vt:lpwstr>
  </property>
  <property fmtid="{D5CDD505-2E9C-101B-9397-08002B2CF9AE}" pid="3" name="KSOProductBuildVer">
    <vt:lpwstr>1033-12.2.0.20795</vt:lpwstr>
  </property>
</Properties>
</file>