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79" r:id="rId5"/>
    <p:sldId id="260" r:id="rId6"/>
    <p:sldId id="261" r:id="rId7"/>
    <p:sldId id="266" r:id="rId8"/>
    <p:sldId id="267" r:id="rId9"/>
    <p:sldId id="285" r:id="rId10"/>
    <p:sldId id="268" r:id="rId11"/>
    <p:sldId id="269" r:id="rId12"/>
    <p:sldId id="262" r:id="rId13"/>
    <p:sldId id="263" r:id="rId14"/>
    <p:sldId id="264" r:id="rId15"/>
    <p:sldId id="265" r:id="rId16"/>
    <p:sldId id="270" r:id="rId17"/>
    <p:sldId id="271" r:id="rId18"/>
    <p:sldId id="272" r:id="rId19"/>
    <p:sldId id="273" r:id="rId20"/>
    <p:sldId id="286" r:id="rId21"/>
    <p:sldId id="274" r:id="rId22"/>
    <p:sldId id="275" r:id="rId23"/>
    <p:sldId id="276" r:id="rId24"/>
    <p:sldId id="280" r:id="rId25"/>
    <p:sldId id="278" r:id="rId26"/>
    <p:sldId id="281" r:id="rId27"/>
    <p:sldId id="282" r:id="rId28"/>
    <p:sldId id="284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Mobile programming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Lecture 5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015" y="14738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+mn-ea"/>
              </a:rPr>
              <a:t>Java - Strings Class</a:t>
            </a:r>
            <a:endParaRPr lang="en-US" altLang="en-US" sz="2400"/>
          </a:p>
          <a:p>
            <a:endParaRPr lang="en-US" alt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4865"/>
            <a:ext cx="5352415" cy="16217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5" y="4516755"/>
            <a:ext cx="6494145" cy="4508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71830" y="40532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>
                <a:sym typeface="+mn-ea"/>
              </a:rPr>
              <a:t>Concatenating Strings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5" y="5109845"/>
            <a:ext cx="6494145" cy="581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15" y="5742940"/>
            <a:ext cx="7174230" cy="464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56260" y="3067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US" sz="2400">
                <a:sym typeface="+mn-ea"/>
              </a:rPr>
              <a:t>User Input in Java. Scanner class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" y="879475"/>
            <a:ext cx="5885180" cy="485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" y="1477645"/>
            <a:ext cx="7359650" cy="5200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" y="2110105"/>
            <a:ext cx="7157720" cy="4241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65" y="2930525"/>
            <a:ext cx="8823960" cy="3375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" y="4076700"/>
            <a:ext cx="5158740" cy="14338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5" y="1224915"/>
            <a:ext cx="5044440" cy="13163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560" y="1323975"/>
            <a:ext cx="2781300" cy="93726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02285" y="28435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Here we just used the method for vision but not changed the myStr itself.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560" y="4356735"/>
            <a:ext cx="2957195" cy="87376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07035" y="60585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But here changed the myStr by giving new value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31190" y="541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Java String replace()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(pre-increment ,pre-decrement)</a:t>
            </a:r>
            <a:r>
              <a:rPr lang="en-US" altLang="en-US" sz="2800" b="1"/>
              <a:t> and</a:t>
            </a:r>
            <a:r>
              <a:rPr lang="en-US" altLang="en-US" sz="2800"/>
              <a:t> (</a:t>
            </a:r>
            <a:r>
              <a:rPr lang="en-US" altLang="en-US" sz="2800">
                <a:sym typeface="+mn-ea"/>
              </a:rPr>
              <a:t>post-increment ,post-decrement)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46710" y="186817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>
                <a:highlight>
                  <a:srgbClr val="FFFF00"/>
                </a:highlight>
              </a:rPr>
              <a:t>++n, --n </a:t>
            </a:r>
            <a:r>
              <a:rPr lang="en-US" altLang="en-US"/>
              <a:t>- </a:t>
            </a:r>
            <a:r>
              <a:rPr lang="en-US" altLang="en-US">
                <a:sym typeface="+mn-ea"/>
              </a:rPr>
              <a:t>pre-increment  and pre-decrement</a:t>
            </a:r>
            <a:endParaRPr lang="en-US" altLang="en-US"/>
          </a:p>
          <a:p>
            <a:r>
              <a:rPr lang="en-US" altLang="en-US" sz="2000" b="1">
                <a:highlight>
                  <a:srgbClr val="FFFF00"/>
                </a:highlight>
              </a:rPr>
              <a:t>n++, n-- </a:t>
            </a:r>
            <a:r>
              <a:rPr lang="en-US" altLang="en-US"/>
              <a:t>- </a:t>
            </a:r>
            <a:r>
              <a:rPr lang="en-US" altLang="en-US">
                <a:sym typeface="+mn-ea"/>
              </a:rPr>
              <a:t>post-increment  and post-decrement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3059430"/>
            <a:ext cx="5818505" cy="8337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4282440"/>
            <a:ext cx="5157470" cy="8128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381115" y="3291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add then comes num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390005" y="4631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num comes and then add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885" y="-283210"/>
            <a:ext cx="10515600" cy="1325563"/>
          </a:xfrm>
        </p:spPr>
        <p:txBody>
          <a:bodyPr/>
          <a:lstStyle/>
          <a:p>
            <a:r>
              <a:rPr lang="en-US" sz="2800"/>
              <a:t>Math library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19735" y="665480"/>
            <a:ext cx="11226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dont need to import the Math library,   we can write like this:</a:t>
            </a:r>
          </a:p>
          <a:p>
            <a:endParaRPr lang="en-US"/>
          </a:p>
          <a:p>
            <a:r>
              <a:rPr lang="en-US" i="1"/>
              <a:t>[library name].[method name]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76885" y="15887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Let's look at the most popular methods: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19735" y="2047875"/>
            <a:ext cx="972947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>
                <a:highlight>
                  <a:srgbClr val="FFFF00"/>
                </a:highlight>
              </a:rPr>
              <a:t>abs(a) </a:t>
            </a:r>
            <a:r>
              <a:rPr lang="en-US" altLang="en-US"/>
              <a:t>- returns the absolute value (by module) a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min(a, b), max(a, b)</a:t>
            </a:r>
            <a:r>
              <a:rPr lang="en-US" altLang="en-US"/>
              <a:t>- returns a minimum and maximum of two numbers respectively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sin(a), cos(a), tan(a), asin(a), acos(a), atan(a)</a:t>
            </a:r>
            <a:r>
              <a:rPr lang="en-US" altLang="en-US"/>
              <a:t>- trigonometric and inverse trigonometric functions from a </a:t>
            </a:r>
          </a:p>
          <a:p>
            <a:r>
              <a:rPr lang="en-US" altLang="en-US" b="1">
                <a:highlight>
                  <a:srgbClr val="FFFF00"/>
                </a:highlight>
              </a:rPr>
              <a:t>toDegrees(a), toRadians(a)</a:t>
            </a:r>
            <a:r>
              <a:rPr lang="en-US" altLang="en-US"/>
              <a:t> - translation from radiant to degrees and vice versa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pow(a, b)</a:t>
            </a:r>
            <a:r>
              <a:rPr lang="en-US" altLang="en-US"/>
              <a:t> - Set the number a to b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sqrt(a), cbrt(a)</a:t>
            </a:r>
            <a:r>
              <a:rPr lang="en-US" altLang="en-US"/>
              <a:t> - extraction of the square and cubic root from a 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round(a)</a:t>
            </a:r>
            <a:r>
              <a:rPr lang="en-US" altLang="en-US"/>
              <a:t> - rounding of the real number by mathematical rounding</a:t>
            </a:r>
          </a:p>
          <a:p>
            <a:endParaRPr lang="en-US" altLang="en-US"/>
          </a:p>
          <a:p>
            <a:r>
              <a:rPr lang="en-US" altLang="en-US" b="1">
                <a:highlight>
                  <a:srgbClr val="FFFF00"/>
                </a:highlight>
              </a:rPr>
              <a:t>floor(a), ceil(a) </a:t>
            </a:r>
            <a:r>
              <a:rPr lang="en-US" altLang="en-US"/>
              <a:t>- Rounding the actual number down and up 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" y="144145"/>
            <a:ext cx="7039610" cy="26314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015" y="967105"/>
            <a:ext cx="4442460" cy="652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" y="3535680"/>
            <a:ext cx="7082790" cy="30873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015" y="4309745"/>
            <a:ext cx="4684395" cy="8267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737475" y="5318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automatically convertes the </a:t>
            </a:r>
            <a:r>
              <a:rPr lang="en-US" i="1"/>
              <a:t>a</a:t>
            </a:r>
            <a:r>
              <a:rPr lang="en-US"/>
              <a:t> into double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9029065" cy="46221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48200" y="5250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Please, Type the code and see the results!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42494" b="53614"/>
          <a:stretch>
            <a:fillRect/>
          </a:stretch>
        </p:blipFill>
        <p:spPr>
          <a:xfrm>
            <a:off x="3485515" y="1778635"/>
            <a:ext cx="4489450" cy="16503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803015" y="6934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Check the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91683" r="42494"/>
          <a:stretch>
            <a:fillRect/>
          </a:stretch>
        </p:blipFill>
        <p:spPr>
          <a:xfrm>
            <a:off x="3485515" y="3429000"/>
            <a:ext cx="4489450" cy="295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16535"/>
            <a:ext cx="6344920" cy="23914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860" y="1414145"/>
            <a:ext cx="2095500" cy="358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3429000"/>
            <a:ext cx="6329045" cy="2025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185" y="4370070"/>
            <a:ext cx="36118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" y="260350"/>
            <a:ext cx="6826885" cy="2266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85" y="887095"/>
            <a:ext cx="3299460" cy="4800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15" y="3161030"/>
            <a:ext cx="6812915" cy="27235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475" y="4194810"/>
            <a:ext cx="3535680" cy="655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22885" y="882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>
                <a:solidFill>
                  <a:srgbClr val="000000"/>
                </a:solidFill>
                <a:latin typeface="Calibri" panose="020F0502020204030204" charset="0"/>
                <a:ea typeface="var(--ff-lato)"/>
                <a:cs typeface="Calibri" panose="020F0502020204030204" charset="0"/>
                <a:sym typeface="+mn-ea"/>
              </a:rPr>
              <a:t> Type Casting</a:t>
            </a:r>
            <a:endParaRPr lang="en-US" sz="2400">
              <a:solidFill>
                <a:srgbClr val="000000"/>
              </a:solidFill>
              <a:latin typeface="Calibri" panose="020F0502020204030204" charset="0"/>
              <a:ea typeface="var(--ff-lato)"/>
              <a:cs typeface="Calibri" panose="020F05020202040302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2885" y="938530"/>
            <a:ext cx="83616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Here is the hierarchy of widening type casting in Java: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" y="2052955"/>
            <a:ext cx="7907020" cy="49847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1239520" y="1827530"/>
            <a:ext cx="3129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1016000" y="3290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automatically: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872230"/>
            <a:ext cx="4754880" cy="20802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830" y="4758690"/>
            <a:ext cx="334518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97535" y="608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2. Manually: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976630"/>
            <a:ext cx="5262245" cy="2744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3715" t="19825" r="15652" b="51726"/>
          <a:stretch>
            <a:fillRect/>
          </a:stretch>
        </p:blipFill>
        <p:spPr>
          <a:xfrm>
            <a:off x="597535" y="3879850"/>
            <a:ext cx="9582785" cy="252920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3023235" y="5145405"/>
            <a:ext cx="7019290" cy="6559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188835" y="19494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 cant convert higher data types into smaller 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40970" y="1045845"/>
            <a:ext cx="1162558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To change the variable into another one, we write on the right side of the variable the name of the data type:</a:t>
            </a:r>
          </a:p>
          <a:p>
            <a:endParaRPr lang="en-US"/>
          </a:p>
          <a:p>
            <a:r>
              <a:rPr lang="en-US"/>
              <a:t>(int)num;</a:t>
            </a:r>
          </a:p>
          <a:p>
            <a:r>
              <a:rPr lang="en-US"/>
              <a:t>(short)num;</a:t>
            </a:r>
          </a:p>
          <a:p>
            <a:r>
              <a:rPr lang="en-US"/>
              <a:t>(long)num;</a:t>
            </a:r>
          </a:p>
          <a:p>
            <a:r>
              <a:rPr lang="en-US"/>
              <a:t>(double)num;</a:t>
            </a:r>
          </a:p>
          <a:p>
            <a:r>
              <a:rPr lang="en-US"/>
              <a:t>(float)num;</a:t>
            </a:r>
          </a:p>
          <a:p>
            <a:r>
              <a:rPr lang="en-US"/>
              <a:t>(long)num; 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6695" y="6775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DONT FORGET!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49885" y="474980"/>
            <a:ext cx="11160125" cy="168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Task:  cube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Write a program that calculates the cube’s volume and area of its full surface by the input value of the rib length.</a:t>
            </a:r>
          </a:p>
          <a:p>
            <a:r>
              <a:rPr lang="en-US" altLang="en-US"/>
              <a:t>a = 25</a:t>
            </a:r>
          </a:p>
          <a:p>
            <a:endParaRPr lang="en-US" altLang="en-US"/>
          </a:p>
          <a:p>
            <a:r>
              <a:rPr lang="en-US" altLang="en-US" b="1"/>
              <a:t>Note:</a:t>
            </a:r>
            <a:r>
              <a:rPr lang="en-US" altLang="en-US"/>
              <a:t> The cube volume and area of the complete surface can be calculated by the formulas V = a**3,   S = 6 * a**2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" y="535305"/>
            <a:ext cx="6590665" cy="37604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60" y="4965700"/>
            <a:ext cx="5508625" cy="9315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86410" y="75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Check the 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55675" y="376555"/>
            <a:ext cx="835914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highlight>
                  <a:srgbClr val="FFFF00"/>
                </a:highlight>
              </a:rPr>
              <a:t>Task:</a:t>
            </a:r>
            <a:r>
              <a:rPr lang="en-US" altLang="en-US"/>
              <a:t> Last digit</a:t>
            </a:r>
          </a:p>
          <a:p>
            <a:r>
              <a:rPr lang="en-US" altLang="en-US"/>
              <a:t>The integer n is given. Enter its last digit. </a:t>
            </a:r>
          </a:p>
          <a:p>
            <a:r>
              <a:rPr lang="en-US" altLang="en-US"/>
              <a:t>n = 2103801</a:t>
            </a:r>
          </a:p>
          <a:p>
            <a:r>
              <a:rPr lang="en-US" altLang="en-US"/>
              <a:t>answer: 1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hint: you need to change your number </a:t>
            </a:r>
            <a:r>
              <a:rPr lang="en-US" altLang="en-US">
                <a:highlight>
                  <a:srgbClr val="FFFF00"/>
                </a:highlight>
              </a:rPr>
              <a:t>into string</a:t>
            </a:r>
            <a:r>
              <a:rPr lang="en-US" altLang="en-US"/>
              <a:t> and use charAt().</a:t>
            </a:r>
          </a:p>
          <a:p>
            <a:r>
              <a:rPr lang="en-US" altLang="en-US" u="sng"/>
              <a:t>String stringNum = String.valueOf(num);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060" y="108585"/>
            <a:ext cx="10515600" cy="393700"/>
          </a:xfrm>
        </p:spPr>
        <p:txBody>
          <a:bodyPr>
            <a:normAutofit fontScale="90000"/>
          </a:bodyPr>
          <a:lstStyle/>
          <a:p>
            <a:r>
              <a:rPr lang="en-US"/>
              <a:t>Check!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" y="1130935"/>
            <a:ext cx="6752590" cy="27870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190" y="4294505"/>
            <a:ext cx="5720715" cy="6229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9535"/>
            <a:ext cx="6797040" cy="2910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5727065"/>
            <a:ext cx="4224655" cy="5143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1920" y="414655"/>
            <a:ext cx="9177020" cy="654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Way of the solve :</a:t>
            </a:r>
          </a:p>
          <a:p>
            <a:r>
              <a:rPr lang="en-US" altLang="en-US"/>
              <a:t>The sum of three digits. Given a three-digit number N. Find the sum of its digits.</a:t>
            </a:r>
          </a:p>
          <a:p>
            <a:r>
              <a:rPr lang="en-US" altLang="en-US"/>
              <a:t>N = 378</a:t>
            </a:r>
          </a:p>
          <a:p>
            <a:r>
              <a:rPr lang="en-US" altLang="en-US"/>
              <a:t>1. Approach:</a:t>
            </a:r>
          </a:p>
          <a:p>
            <a:r>
              <a:rPr lang="en-US" altLang="en-US"/>
              <a:t>by using </a:t>
            </a:r>
            <a:r>
              <a:rPr lang="en-US" altLang="en-US">
                <a:highlight>
                  <a:srgbClr val="FFFF00"/>
                </a:highlight>
              </a:rPr>
              <a:t>String.valueOf()</a:t>
            </a:r>
            <a:r>
              <a:rPr lang="en-US" altLang="en-US"/>
              <a:t> convert number into string and starting the getting the numbers of each index by using new method </a:t>
            </a:r>
            <a:r>
              <a:rPr lang="en-US" altLang="en-US">
                <a:highlight>
                  <a:srgbClr val="FFFF00"/>
                </a:highlight>
              </a:rPr>
              <a:t>char - ‘0’.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390" y="2629535"/>
            <a:ext cx="4373880" cy="18440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298940" y="7981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PLease first try this method</a:t>
            </a:r>
            <a:r>
              <a:rPr lang="en-US"/>
              <a:t> </a:t>
            </a:r>
          </a:p>
          <a:p>
            <a:r>
              <a:rPr lang="en-US"/>
              <a:t>and tell me the answer !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9695815" y="1606550"/>
            <a:ext cx="713740" cy="647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789045" y="2178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Now try this one </a:t>
            </a:r>
            <a:r>
              <a:rPr lang="en-US"/>
              <a:t>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396990" cy="1089025"/>
          </a:xfrm>
        </p:spPr>
        <p:txBody>
          <a:bodyPr/>
          <a:lstStyle/>
          <a:p>
            <a:r>
              <a:rPr lang="en-US"/>
              <a:t>lets analyse first error!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38200" y="1551305"/>
            <a:ext cx="9957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This line converts the character '3' to its ASCII value, which is 51, not the numeric 3 you want. The same happens for '7' → 55, and '8' → 56. So the total is: </a:t>
            </a:r>
            <a:r>
              <a:rPr lang="en-US" altLang="en-US">
                <a:highlight>
                  <a:srgbClr val="FFFF00"/>
                </a:highlight>
              </a:rPr>
              <a:t>one type of the Unicode:  </a:t>
            </a:r>
            <a:r>
              <a:rPr lang="en-US" altLang="en-US">
                <a:highlight>
                  <a:srgbClr val="FFFF00"/>
                </a:highlight>
                <a:sym typeface="+mn-ea"/>
              </a:rPr>
              <a:t>ASCII for USA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95" y="2672715"/>
            <a:ext cx="5090160" cy="6553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25195" y="3804285"/>
            <a:ext cx="86544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Why does char - '0' work?</a:t>
            </a:r>
          </a:p>
          <a:p>
            <a:r>
              <a:rPr lang="en-US" altLang="en-US"/>
              <a:t>Because characters like '0', '1', ..., '9' are stored as sequential values in ASCII. '3' - '0' gives 3 because '0' is ASCII 48 and '3' is 51 → 51 - 48 = 3.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" y="1656715"/>
            <a:ext cx="6057900" cy="3924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795" y="5937885"/>
            <a:ext cx="4299585" cy="6038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87985" y="474980"/>
            <a:ext cx="1011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2. Approach is use new methos </a:t>
            </a:r>
            <a:r>
              <a:rPr lang="en-US">
                <a:highlight>
                  <a:srgbClr val="FFFF00"/>
                </a:highlight>
              </a:rPr>
              <a:t>Character.getNumericalValue() </a:t>
            </a:r>
            <a:r>
              <a:rPr lang="en-US"/>
              <a:t>and follow the same flow as approach 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892810" y="481965"/>
            <a:ext cx="1068197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en-US" sz="1600" b="0" i="0">
                <a:solidFill>
                  <a:srgbClr val="222222"/>
                </a:solidFill>
                <a:highlight>
                  <a:srgbClr val="FFFF00"/>
                </a:highlight>
                <a:latin typeface="Roboto"/>
                <a:ea typeface="Roboto"/>
              </a:rPr>
              <a:t>Task:</a:t>
            </a:r>
            <a:r>
              <a:rPr lang="en-US" altLang="en-US" sz="1600" b="0" i="0">
                <a:solidFill>
                  <a:srgbClr val="222222"/>
                </a:solidFill>
                <a:latin typeface="Roboto"/>
                <a:ea typeface="Roboto"/>
              </a:rPr>
              <a:t> You are given the positive valid number X is given. Print out its fractional part.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en-US" sz="1600" b="0" i="0">
                <a:solidFill>
                  <a:srgbClr val="222222"/>
                </a:solidFill>
                <a:latin typeface="Roboto"/>
                <a:ea typeface="Roboto"/>
              </a:rPr>
              <a:t>X = 3.73001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en-US" sz="1600" b="0" i="0">
                <a:solidFill>
                  <a:srgbClr val="222222"/>
                </a:solidFill>
                <a:latin typeface="Roboto"/>
                <a:ea typeface="Roboto"/>
              </a:rPr>
              <a:t>answer = 0.73001 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en-US" sz="1600" b="0" i="0">
                <a:solidFill>
                  <a:srgbClr val="222222"/>
                </a:solidFill>
                <a:latin typeface="Roboto"/>
                <a:ea typeface="Roboto"/>
              </a:rPr>
              <a:t>Note: dont use 3.73001 - 0.73001 this answer will not be accapted. Find out another way.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endParaRPr lang="en-US" altLang="en-US" sz="1600" b="0" i="0">
              <a:solidFill>
                <a:srgbClr val="222222"/>
              </a:solidFill>
              <a:latin typeface="Roboto"/>
              <a:ea typeface="Roboto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endParaRPr lang="en-US" altLang="en-US" sz="1600" b="0" i="0">
              <a:solidFill>
                <a:srgbClr val="222222"/>
              </a:solidFill>
              <a:latin typeface="Roboto"/>
              <a:ea typeface="Roboto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endParaRPr lang="en-US" altLang="en-US" sz="1600" b="0" i="0">
              <a:solidFill>
                <a:srgbClr val="222222"/>
              </a:solidFill>
              <a:latin typeface="Roboto"/>
              <a:ea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2750"/>
          </a:xfrm>
        </p:spPr>
        <p:txBody>
          <a:bodyPr>
            <a:normAutofit fontScale="90000"/>
          </a:bodyPr>
          <a:lstStyle/>
          <a:p>
            <a:r>
              <a:rPr lang="en-US"/>
              <a:t>Check!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" y="1165860"/>
            <a:ext cx="6263005" cy="29667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4520565"/>
            <a:ext cx="4160520" cy="6026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t="12197" b="14756"/>
          <a:stretch>
            <a:fillRect/>
          </a:stretch>
        </p:blipFill>
        <p:spPr>
          <a:xfrm>
            <a:off x="724535" y="1330960"/>
            <a:ext cx="2807335" cy="44418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976120" y="3519170"/>
            <a:ext cx="304165" cy="28575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76120" y="4363720"/>
            <a:ext cx="304165" cy="28575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258435" y="182562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on 16 April is our mid term it’s gonna be online , from lectures [1-6] will be taken questions. The mid term will hold like test there are will be 20 question with 3 options. Likely there can be  </a:t>
            </a:r>
            <a:r>
              <a:rPr lang="en-US" altLang="en-US"/>
              <a:t>Pseudocode questions either, please prepare well!</a:t>
            </a:r>
            <a:r>
              <a:rPr lang="en-US"/>
              <a:t> </a:t>
            </a:r>
          </a:p>
        </p:txBody>
      </p:sp>
      <p:cxnSp>
        <p:nvCxnSpPr>
          <p:cNvPr id="8" name="Straight Arrow Connector 7"/>
          <p:cNvCxnSpPr>
            <a:stCxn id="4" idx="6"/>
          </p:cNvCxnSpPr>
          <p:nvPr/>
        </p:nvCxnSpPr>
        <p:spPr>
          <a:xfrm flipV="1">
            <a:off x="2280285" y="2595880"/>
            <a:ext cx="2606675" cy="10661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133600" y="4542790"/>
            <a:ext cx="2856865" cy="106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346700" y="4363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Mortage calculator project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516120" y="3987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highlight>
                  <a:srgbClr val="FF0000"/>
                </a:highlight>
              </a:rPr>
              <a:t>ONLINE NOT OFFLINE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591560" y="365760"/>
            <a:ext cx="4763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0000"/>
                </a:highlight>
              </a:rPr>
              <a:t>PROJECT </a:t>
            </a:r>
            <a:r>
              <a:rPr lang="en-US"/>
              <a:t>Explanation: The Mortage calculator for payments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941445" y="12573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is </a:t>
            </a:r>
            <a:r>
              <a:rPr lang="en-US">
                <a:sym typeface="+mn-ea"/>
              </a:rPr>
              <a:t>Mortage and</a:t>
            </a:r>
            <a:r>
              <a:rPr lang="en-US"/>
              <a:t> Mortage Calculator?</a:t>
            </a:r>
          </a:p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44830" y="1969770"/>
            <a:ext cx="11386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A </a:t>
            </a:r>
            <a:r>
              <a:rPr lang="en-US" altLang="en-US" b="1"/>
              <a:t>mortgage</a:t>
            </a:r>
            <a:r>
              <a:rPr lang="en-US" altLang="en-US"/>
              <a:t> is a type of loan used to buy property, like a house or apartment. Instead of paying the full price upfront, you borrow money from a bank or lender, and then pay it back over time (usually 15 to 30 years) with interest.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190240" y="331406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Every month, you pay a mortgage payment, which usually includes:</a:t>
            </a:r>
          </a:p>
          <a:p>
            <a:endParaRPr lang="en-US" altLang="en-US"/>
          </a:p>
          <a:p>
            <a:r>
              <a:rPr lang="en-US" altLang="en-US" b="1"/>
              <a:t>Principal </a:t>
            </a:r>
            <a:r>
              <a:rPr lang="en-US" altLang="en-US"/>
              <a:t>(the actual money you borrowed)</a:t>
            </a:r>
          </a:p>
          <a:p>
            <a:endParaRPr lang="en-US" altLang="en-US"/>
          </a:p>
          <a:p>
            <a:r>
              <a:rPr lang="en-US" altLang="en-US" b="1"/>
              <a:t>Interest</a:t>
            </a:r>
            <a:r>
              <a:rPr lang="en-US" altLang="en-US"/>
              <a:t> (the cost of borrowing that money)</a:t>
            </a:r>
          </a:p>
          <a:p>
            <a:endParaRPr lang="en-US" altLang="en-US"/>
          </a:p>
          <a:p>
            <a:r>
              <a:rPr lang="en-US" altLang="en-US"/>
              <a:t>Sometimes also property taxes and insurance</a:t>
            </a:r>
            <a:endParaRPr lang="en-US"/>
          </a:p>
        </p:txBody>
      </p:sp>
      <p:sp>
        <p:nvSpPr>
          <p:cNvPr id="11" name="Left Arrow 10"/>
          <p:cNvSpPr/>
          <p:nvPr/>
        </p:nvSpPr>
        <p:spPr>
          <a:xfrm>
            <a:off x="7590155" y="4308475"/>
            <a:ext cx="1084580" cy="123190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7590155" y="4747260"/>
            <a:ext cx="1084580" cy="123190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291840" y="479425"/>
            <a:ext cx="5080000" cy="3632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200" b="1"/>
              <a:t>What is a Mortgage Calculator?</a:t>
            </a:r>
          </a:p>
          <a:p>
            <a:r>
              <a:rPr sz="1600"/>
              <a:t>A mortgage calculator is a tool that helps you estimate your monthly mortgage payment based on:</a:t>
            </a:r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 b="1"/>
              <a:t>Loan amoun</a:t>
            </a:r>
            <a:r>
              <a:rPr sz="1600"/>
              <a:t>t (how much you borrow)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 b="1"/>
              <a:t>Down payment</a:t>
            </a:r>
            <a:r>
              <a:rPr sz="1600"/>
              <a:t> (how much you pay upfront)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 b="1"/>
              <a:t>Interest rate </a:t>
            </a:r>
            <a:r>
              <a:rPr sz="1600"/>
              <a:t>(e.g. 6.5%)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 b="1"/>
              <a:t>Loan term</a:t>
            </a:r>
            <a:r>
              <a:rPr sz="1600"/>
              <a:t> (e.g. 30 years)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Sometimes property tax and insurance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72415" y="300037"/>
            <a:ext cx="5080000" cy="28930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200" b="1"/>
              <a:t>What Is Pseudocode?</a:t>
            </a:r>
          </a:p>
          <a:p>
            <a:pPr>
              <a:buFont typeface="Arial" panose="020B0604020202020204"/>
              <a:buChar char="•"/>
            </a:pPr>
            <a:r>
              <a:rPr sz="1600"/>
              <a:t>"Pseudo" means "false," so pseudocode = "false code."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It’s not meant to run on a computer.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It focuses on logic and structure, not implementation details.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It uses simple keywords like IF, ELSE, WHILE, FOR, PRINT, etc.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" y="3895725"/>
            <a:ext cx="5623560" cy="20726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28105" y="168592"/>
            <a:ext cx="5080000" cy="28930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200" b="1"/>
              <a:t> How It Fits in Algorithm Design</a:t>
            </a:r>
          </a:p>
          <a:p>
            <a:pPr>
              <a:buAutoNum type="arabicPeriod"/>
            </a:pPr>
            <a:r>
              <a:rPr sz="1600"/>
              <a:t>Define the problem</a:t>
            </a:r>
          </a:p>
          <a:p>
            <a:pPr>
              <a:buAutoNum type="arabicPeriod"/>
            </a:pPr>
            <a:endParaRPr sz="1600"/>
          </a:p>
          <a:p>
            <a:pPr>
              <a:buAutoNum type="arabicPeriod"/>
            </a:pPr>
            <a:r>
              <a:rPr sz="1600"/>
              <a:t>Break it into steps</a:t>
            </a:r>
          </a:p>
          <a:p>
            <a:pPr>
              <a:buAutoNum type="arabicPeriod"/>
            </a:pPr>
            <a:endParaRPr sz="1600"/>
          </a:p>
          <a:p>
            <a:pPr>
              <a:buAutoNum type="arabicPeriod"/>
            </a:pPr>
            <a:r>
              <a:rPr sz="1600"/>
              <a:t>Write pseudocode to outline those steps</a:t>
            </a:r>
          </a:p>
          <a:p>
            <a:pPr>
              <a:buAutoNum type="arabicPeriod"/>
            </a:pPr>
            <a:endParaRPr sz="1600"/>
          </a:p>
          <a:p>
            <a:pPr>
              <a:buAutoNum type="arabicPeriod"/>
            </a:pPr>
            <a:r>
              <a:rPr sz="1600"/>
              <a:t>Convert pseudocode into real code</a:t>
            </a:r>
          </a:p>
          <a:p>
            <a:pPr>
              <a:buAutoNum type="arabicPeriod"/>
            </a:pPr>
            <a:endParaRPr sz="1600"/>
          </a:p>
          <a:p>
            <a:pPr>
              <a:buAutoNum type="arabicPeriod"/>
            </a:pPr>
            <a:r>
              <a:rPr sz="1600"/>
              <a:t>Test and refine the code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225" y="3674745"/>
            <a:ext cx="34137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48000" y="1167130"/>
            <a:ext cx="6096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</a:t>
            </a:r>
            <a:r>
              <a:rPr lang="en-US" altLang="en-US" b="1"/>
              <a:t>Why Use Pseudocode in Algorithm Design?</a:t>
            </a:r>
            <a:endParaRPr lang="en-US" altLang="en-US"/>
          </a:p>
          <a:p>
            <a:r>
              <a:rPr lang="en-US" altLang="en-US"/>
              <a:t>Clarity: Helps you understand and design the steps of a solution clearly.</a:t>
            </a:r>
          </a:p>
          <a:p>
            <a:endParaRPr lang="en-US" altLang="en-US"/>
          </a:p>
          <a:p>
            <a:r>
              <a:rPr lang="en-US" altLang="en-US"/>
              <a:t>Language-Independent: You don’t have to worry about syntax errors or language-specific rules.</a:t>
            </a:r>
          </a:p>
          <a:p>
            <a:endParaRPr lang="en-US" altLang="en-US"/>
          </a:p>
          <a:p>
            <a:r>
              <a:rPr lang="en-US" altLang="en-US"/>
              <a:t>Communication: Makes it easier to share and discuss with others, even non-programmers.</a:t>
            </a:r>
          </a:p>
          <a:p>
            <a:endParaRPr lang="en-US" altLang="en-US"/>
          </a:p>
          <a:p>
            <a:r>
              <a:rPr lang="en-US" altLang="en-US"/>
              <a:t>Planning Tool: Acts like a blueprint before you write actual code.</a:t>
            </a:r>
          </a:p>
          <a:p>
            <a:endParaRPr lang="en-US" altLang="en-US"/>
          </a:p>
          <a:p>
            <a:r>
              <a:rPr lang="en-US" altLang="en-US"/>
              <a:t>Debugging Logic: You can spot logical errors early before diving into code.</a:t>
            </a:r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767840" y="2147570"/>
            <a:ext cx="7275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0000"/>
                </a:highlight>
              </a:rPr>
              <a:t>Note</a:t>
            </a:r>
            <a:r>
              <a:rPr lang="en-US"/>
              <a:t>: Your task is find the mortage and write </a:t>
            </a:r>
            <a:r>
              <a:rPr lang="en-US" altLang="en-US"/>
              <a:t>Pseudocode</a:t>
            </a:r>
          </a:p>
          <a:p>
            <a:r>
              <a:rPr lang="en-US" altLang="en-US"/>
              <a:t>ALL INFO in pdf format I WILL UPLOAD ON 23 RD APRIL BEFORE the deadline starts AND YOU WLL BE GIVEN 1:30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Macintosh PowerPoint</Application>
  <PresentationFormat>Widescreen</PresentationFormat>
  <Paragraphs>140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Roboto</vt:lpstr>
      <vt:lpstr>Times New Roman</vt:lpstr>
      <vt:lpstr>Verdana</vt:lpstr>
      <vt:lpstr>Office Theme</vt:lpstr>
      <vt:lpstr>Mobile programming </vt:lpstr>
      <vt:lpstr>Recall!</vt:lpstr>
      <vt:lpstr>PowerPoint Presentation</vt:lpstr>
      <vt:lpstr>PowerPoint Presentation</vt:lpstr>
      <vt:lpstr>(pre-increment ,pre-decrement) and (post-increment ,post-decrement)</vt:lpstr>
      <vt:lpstr>Math library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Check!</vt:lpstr>
      <vt:lpstr>PowerPoint Presentation</vt:lpstr>
      <vt:lpstr>lets analyse first error!</vt:lpstr>
      <vt:lpstr>PowerPoint Presentation</vt:lpstr>
      <vt:lpstr>PowerPoint Presentation</vt:lpstr>
      <vt:lpstr>Check!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programming </dc:title>
  <dc:creator>Sevara</dc:creator>
  <cp:lastModifiedBy>Shakhnoza Muksimova</cp:lastModifiedBy>
  <cp:revision>12</cp:revision>
  <dcterms:created xsi:type="dcterms:W3CDTF">2025-03-10T06:47:00Z</dcterms:created>
  <dcterms:modified xsi:type="dcterms:W3CDTF">2026-03-31T00:26:12Z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BE89323969EB482281D217F037E4EAC4_12</vt:lpwstr>
  </property>
  <property fmtid="{D5CDD505-2E9C-101B-9397-08002B2CF9AE}" pid="3" name="KSOProductBuildVer">
    <vt:lpwstr>1033-12.2.0.20782</vt:lpwstr>
  </property>
</Properties>
</file>